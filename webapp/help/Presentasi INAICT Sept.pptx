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jpeg"/>
  <Default Extension="emf" ContentType="image/x-emf"/>
  <Default Extension="rels" ContentType="application/vnd.openxmlformats-package.relationships+xml"/>
  <Default Extension="gif" ContentType="image/gif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76" r:id="rId7"/>
    <p:sldId id="261" r:id="rId8"/>
    <p:sldId id="263" r:id="rId9"/>
    <p:sldId id="283" r:id="rId10"/>
    <p:sldId id="266" r:id="rId11"/>
    <p:sldId id="267" r:id="rId12"/>
    <p:sldId id="273" r:id="rId13"/>
    <p:sldId id="274" r:id="rId14"/>
    <p:sldId id="270" r:id="rId15"/>
    <p:sldId id="271" r:id="rId16"/>
    <p:sldId id="275" r:id="rId17"/>
    <p:sldId id="286" r:id="rId18"/>
    <p:sldId id="282" r:id="rId19"/>
    <p:sldId id="281" r:id="rId20"/>
    <p:sldId id="284" r:id="rId21"/>
    <p:sldId id="285" r:id="rId2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6C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43" autoAdjust="0"/>
    <p:restoredTop sz="98786" autoAdjust="0"/>
  </p:normalViewPr>
  <p:slideViewPr>
    <p:cSldViewPr>
      <p:cViewPr>
        <p:scale>
          <a:sx n="94" d="100"/>
          <a:sy n="94" d="100"/>
        </p:scale>
        <p:origin x="-1776" y="-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interSettings" Target="printerSettings/printerSettings1.bin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Calibri" charset="0"/>
                <a:cs typeface="Arial" charset="0"/>
              </a:defRPr>
            </a:lvl1pPr>
          </a:lstStyle>
          <a:p>
            <a:pPr>
              <a:defRPr/>
            </a:pPr>
            <a:fld id="{D253C10C-BE5C-214B-B7C2-4D7212EE7446}" type="datetimeFigureOut">
              <a:rPr lang="en-US"/>
              <a:pPr>
                <a:defRPr/>
              </a:pPr>
              <a:t>8/24/12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Calibri" charset="0"/>
                <a:cs typeface="Arial" charset="0"/>
              </a:defRPr>
            </a:lvl1pPr>
          </a:lstStyle>
          <a:p>
            <a:pPr>
              <a:defRPr/>
            </a:pPr>
            <a:fld id="{DAC0AC99-1159-034A-BFCB-CC4DCDE2B6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46822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0" y="5970589"/>
            <a:ext cx="9144000" cy="887412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-9526" y="6053139"/>
            <a:ext cx="3590925" cy="712787"/>
          </a:xfrm>
          <a:prstGeom prst="rect">
            <a:avLst/>
          </a:prstGeom>
          <a:solidFill>
            <a:schemeClr val="accent5">
              <a:lumMod val="75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733800" y="6043614"/>
            <a:ext cx="5410202" cy="7143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733800" y="6050037"/>
            <a:ext cx="53340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9013"/>
            <a:ext cx="3429000" cy="685800"/>
          </a:xfrm>
        </p:spPr>
        <p:txBody>
          <a:bodyPr>
            <a:noAutofit/>
          </a:bodyPr>
          <a:lstStyle>
            <a:lvl1pPr algn="ctr">
              <a:defRPr sz="2000"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3999105C-B7E4-6542-B0CC-D6E8C0AC69EF}" type="datetimeFigureOut">
              <a:rPr lang="en-US"/>
              <a:pPr>
                <a:defRPr/>
              </a:pPr>
              <a:t>8/24/12</a:t>
            </a:fld>
            <a:endParaRPr lang="en-US" dirty="0"/>
          </a:p>
        </p:txBody>
      </p:sp>
      <p:sp>
        <p:nvSpPr>
          <p:cNvPr id="10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975" y="236539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FDCC1FC9-2E4E-6240-BA38-C0A3337DA2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1569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AE9C39-3870-9A43-B978-B0757A955B7A}" type="datetimeFigureOut">
              <a:rPr lang="en-US"/>
              <a:pPr>
                <a:defRPr/>
              </a:pPr>
              <a:t>8/24/12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DF6C03-6B40-8C4E-9739-3635EC719CF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3921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2" y="2743202"/>
            <a:ext cx="7123113" cy="167322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92E3BE6-DD19-3240-A436-8C31E1741B04}" type="datetimeFigureOut">
              <a:rPr lang="en-US"/>
              <a:pPr>
                <a:defRPr/>
              </a:pPr>
              <a:t>8/24/12</a:t>
            </a:fld>
            <a:endParaRPr lang="en-US"/>
          </a:p>
        </p:txBody>
      </p:sp>
      <p:sp>
        <p:nvSpPr>
          <p:cNvPr id="8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1"/>
            <a:ext cx="1295400" cy="701675"/>
          </a:xfrm>
        </p:spPr>
        <p:txBody>
          <a:bodyPr>
            <a:noAutofit/>
          </a:bodyPr>
          <a:lstStyle>
            <a:lvl1pPr>
              <a:defRPr sz="2400" smtClean="0"/>
            </a:lvl1pPr>
          </a:lstStyle>
          <a:p>
            <a:pPr>
              <a:defRPr/>
            </a:pPr>
            <a:fld id="{3A57EF4E-90AF-CE49-807E-1E6AA4CE33D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6536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2E5B76E-8F94-E24A-98E2-2AF38B291FF3}" type="datetimeFigureOut">
              <a:rPr lang="en-US"/>
              <a:pPr>
                <a:defRPr/>
              </a:pPr>
              <a:t>8/24/12</a:t>
            </a:fld>
            <a:endParaRPr lang="en-US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CA11AFE-363C-9547-8C48-1020600FE0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850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1"/>
            <a:ext cx="8153400" cy="869951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913B634-8C2C-874B-9B5D-45C2EC6EFFBA}" type="datetimeFigureOut">
              <a:rPr lang="en-US"/>
              <a:pPr>
                <a:defRPr/>
              </a:pPr>
              <a:t>8/24/12</a:t>
            </a:fld>
            <a:endParaRPr lang="en-US"/>
          </a:p>
        </p:txBody>
      </p:sp>
      <p:sp>
        <p:nvSpPr>
          <p:cNvPr id="8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2A8FEA1-00BF-114B-8AA4-B15C9D5C85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079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8D8C65-3A1D-6C40-855E-51D85993C9D1}" type="datetimeFigureOut">
              <a:rPr lang="en-US"/>
              <a:pPr>
                <a:defRPr/>
              </a:pPr>
              <a:t>8/24/12</a:t>
            </a:fld>
            <a:endParaRPr 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11009C-91BE-8549-9BD6-D8E38FDEE6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425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769C928-27D6-C248-BE9C-85E417389AD0}" type="datetimeFigureOut">
              <a:rPr lang="en-US"/>
              <a:pPr>
                <a:defRPr/>
              </a:pPr>
              <a:t>8/24/12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8B7977BE-45A8-F64B-8CEF-6C88C7FB7A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263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1"/>
            <a:ext cx="8077200" cy="869951"/>
          </a:xfrm>
        </p:spPr>
        <p:txBody>
          <a:bodyPr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5E6701-4179-9A4B-8988-84A7128418A5}" type="datetimeFigureOut">
              <a:rPr lang="en-US"/>
              <a:pPr>
                <a:defRPr/>
              </a:pPr>
              <a:t>8/24/12</a:t>
            </a:fld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83F978-FE35-2141-9651-543399AA98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189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white">
          <a:xfrm>
            <a:off x="-9525" y="4572000"/>
            <a:ext cx="9144000" cy="887413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-9524" y="4664075"/>
            <a:ext cx="1463675" cy="7127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544638" y="4654551"/>
            <a:ext cx="7599362" cy="71278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 bwMode="white">
          <a:xfrm>
            <a:off x="1447802" y="0"/>
            <a:ext cx="100013" cy="6867525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9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CE5069A-5792-8B4F-892A-CE0B2CF386B0}" type="datetimeFigureOut">
              <a:rPr lang="en-US"/>
              <a:pPr>
                <a:defRPr/>
              </a:pPr>
              <a:t>8/24/12</a:t>
            </a:fld>
            <a:endParaRPr lang="en-US"/>
          </a:p>
        </p:txBody>
      </p:sp>
      <p:sp>
        <p:nvSpPr>
          <p:cNvPr id="10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51"/>
            <a:ext cx="1447800" cy="663575"/>
          </a:xfrm>
        </p:spPr>
        <p:txBody>
          <a:bodyPr/>
          <a:lstStyle>
            <a:lvl1pPr>
              <a:defRPr sz="2800" smtClean="0"/>
            </a:lvl1pPr>
          </a:lstStyle>
          <a:p>
            <a:pPr>
              <a:defRPr/>
            </a:pPr>
            <a:fld id="{3BFBFC53-4FB1-3443-98A6-A4F1877C06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400"/>
            <a:ext cx="4572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0921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7C130D-545F-5A40-ABCE-03B4E84180EB}" type="datetimeFigureOut">
              <a:rPr lang="en-US"/>
              <a:pPr>
                <a:defRPr/>
              </a:pPr>
              <a:t>8/24/12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302CC7-E901-584F-83D2-FF207E478C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086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6096002" y="0"/>
            <a:ext cx="320675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1"/>
            <a:ext cx="2057400" cy="55165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2"/>
            <a:ext cx="5562600" cy="551656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209800" cy="3651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7A80B27-5FED-5F40-B4E9-16CB5820E19F}" type="datetimeFigureOut">
              <a:rPr lang="en-US"/>
              <a:pPr>
                <a:defRPr/>
              </a:pPr>
              <a:t>8/24/12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2" y="6248400"/>
            <a:ext cx="55737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4"/>
            <a:ext cx="533400" cy="24447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4C41AC8-9AA4-D941-AE64-A61636E175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4339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1"/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9144000" cy="1219200"/>
          </a:xfrm>
          <a:prstGeom prst="rect">
            <a:avLst/>
          </a:prstGeom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none"/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     CLICK TO EDIT MASTER TITLE STYLE</a:t>
            </a:r>
            <a:endParaRPr lang="en-US" dirty="0"/>
          </a:p>
        </p:txBody>
      </p: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612775" y="1295401"/>
            <a:ext cx="8153400" cy="4830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chemeClr val="tx2"/>
                </a:solidFill>
                <a:latin typeface="Tw Cen MT" charset="0"/>
                <a:cs typeface="Arial" charset="0"/>
              </a:defRPr>
            </a:lvl1pPr>
          </a:lstStyle>
          <a:p>
            <a:pPr>
              <a:defRPr/>
            </a:pPr>
            <a:fld id="{7F971CFD-DBF3-6D4B-8F5B-542B56834D24}" type="datetimeFigureOut">
              <a:rPr lang="en-US"/>
              <a:pPr>
                <a:defRPr/>
              </a:pPr>
              <a:t>8/24/12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2" y="6248400"/>
            <a:ext cx="5421313" cy="365125"/>
          </a:xfrm>
          <a:prstGeom prst="rect">
            <a:avLst/>
          </a:prstGeom>
        </p:spPr>
        <p:txBody>
          <a:bodyPr vert="horz" anchor="ctr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1279525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1589"/>
            <a:ext cx="533400" cy="244475"/>
          </a:xfrm>
          <a:prstGeom prst="rect">
            <a:avLst/>
          </a:prstGeom>
          <a:solidFill>
            <a:srgbClr val="0000FF"/>
          </a:solidFill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ctr">
              <a:defRPr sz="1400" b="1" smtClean="0">
                <a:solidFill>
                  <a:srgbClr val="FFFFFF"/>
                </a:solidFill>
                <a:latin typeface="Tw Cen MT" charset="0"/>
                <a:cs typeface="Arial" charset="0"/>
              </a:defRPr>
            </a:lvl1pPr>
          </a:lstStyle>
          <a:p>
            <a:pPr>
              <a:defRPr/>
            </a:pPr>
            <a:r>
              <a:rPr lang="en-US" dirty="0" smtClean="0"/>
              <a:t>LAKSANA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1" r:id="rId1"/>
    <p:sldLayoutId id="2147483817" r:id="rId2"/>
    <p:sldLayoutId id="2147483822" r:id="rId3"/>
    <p:sldLayoutId id="2147483823" r:id="rId4"/>
    <p:sldLayoutId id="2147483824" r:id="rId5"/>
    <p:sldLayoutId id="2147483818" r:id="rId6"/>
    <p:sldLayoutId id="2147483825" r:id="rId7"/>
    <p:sldLayoutId id="2147483819" r:id="rId8"/>
    <p:sldLayoutId id="2147483826" r:id="rId9"/>
    <p:sldLayoutId id="2147483820" r:id="rId10"/>
    <p:sldLayoutId id="214748382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kern="1200">
          <a:solidFill>
            <a:srgbClr val="000090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charset="0"/>
          <a:ea typeface="ＭＳ Ｐゴシック" charset="0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charset="0"/>
          <a:ea typeface="ＭＳ Ｐゴシック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charset="0"/>
          <a:ea typeface="ＭＳ Ｐゴシック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charset="0"/>
          <a:ea typeface="ＭＳ Ｐゴシック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charset="0"/>
          <a:ea typeface="ＭＳ Ｐゴシック" charset="0"/>
        </a:defRPr>
      </a:lvl9pPr>
    </p:titleStyle>
    <p:bodyStyle>
      <a:lvl1pPr marL="319088" indent="-319088" algn="l" rtl="0" eaLnBrk="0" fontAlgn="base" hangingPunct="0">
        <a:spcBef>
          <a:spcPts val="700"/>
        </a:spcBef>
        <a:spcAft>
          <a:spcPct val="0"/>
        </a:spcAft>
        <a:buClr>
          <a:schemeClr val="accent2"/>
        </a:buClr>
        <a:buSzPct val="60000"/>
        <a:buFont typeface="Wingdings" charset="0"/>
        <a:buChar char=""/>
        <a:defRPr sz="29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639763" indent="-273050" algn="l" rtl="0" eaLnBrk="0" fontAlgn="base" hangingPunct="0">
        <a:spcBef>
          <a:spcPts val="550"/>
        </a:spcBef>
        <a:spcAft>
          <a:spcPct val="0"/>
        </a:spcAft>
        <a:buClr>
          <a:schemeClr val="accent1"/>
        </a:buClr>
        <a:buSzPct val="70000"/>
        <a:buFont typeface="Wingdings 2" charset="0"/>
        <a:buChar char=""/>
        <a:defRPr sz="26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914400" indent="-22860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5000"/>
        <a:buFont typeface="Wingdings" charset="0"/>
        <a:buChar char=""/>
        <a:defRPr sz="23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371600" indent="-228600" algn="l" rtl="0" eaLnBrk="0" fontAlgn="base" hangingPunct="0">
        <a:spcBef>
          <a:spcPts val="400"/>
        </a:spcBef>
        <a:spcAft>
          <a:spcPct val="0"/>
        </a:spcAft>
        <a:buClr>
          <a:srgbClr val="A5AB81"/>
        </a:buClr>
        <a:buSzPct val="75000"/>
        <a:buFont typeface="Wingdings" charset="0"/>
        <a:buChar char="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1828800" indent="-228600" algn="l" rtl="0" eaLnBrk="0" fontAlgn="base" hangingPunct="0">
        <a:spcBef>
          <a:spcPts val="400"/>
        </a:spcBef>
        <a:spcAft>
          <a:spcPct val="0"/>
        </a:spcAft>
        <a:buClr>
          <a:srgbClr val="D8B25C"/>
        </a:buClr>
        <a:buSzPct val="65000"/>
        <a:buFont typeface="Wingdings" charset="0"/>
        <a:buChar char="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8.jpg"/><Relationship Id="rId5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gi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e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105"/>
            <a:ext cx="9144000" cy="5098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182563" y="2667000"/>
            <a:ext cx="3505200" cy="14128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657600" y="6019800"/>
            <a:ext cx="5410200" cy="762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600" dirty="0"/>
          </a:p>
        </p:txBody>
      </p:sp>
      <p:sp>
        <p:nvSpPr>
          <p:cNvPr id="4" name="TextBox 3"/>
          <p:cNvSpPr txBox="1"/>
          <p:nvPr/>
        </p:nvSpPr>
        <p:spPr>
          <a:xfrm>
            <a:off x="4114800" y="6073914"/>
            <a:ext cx="4419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/>
            <a:r>
              <a:rPr lang="en-US" sz="2000" b="1" dirty="0">
                <a:latin typeface="Abadi MT Condensed Extra Bold"/>
                <a:cs typeface="Abadi MT Condensed Extra Bold"/>
              </a:rPr>
              <a:t>FADHILAH </a:t>
            </a:r>
            <a:r>
              <a:rPr lang="en-US" sz="2000" b="1" dirty="0" smtClean="0">
                <a:latin typeface="Abadi MT Condensed Extra Bold"/>
                <a:cs typeface="Abadi MT Condensed Extra Bold"/>
              </a:rPr>
              <a:t>MATHAR - IMAM </a:t>
            </a:r>
            <a:r>
              <a:rPr lang="en-US" sz="2000" b="1" dirty="0">
                <a:latin typeface="Abadi MT Condensed Extra Bold"/>
                <a:cs typeface="Abadi MT Condensed Extra Bold"/>
              </a:rPr>
              <a:t>S. SHOFI</a:t>
            </a:r>
          </a:p>
          <a:p>
            <a:pPr algn="ctr" eaLnBrk="1" hangingPunct="1"/>
            <a:r>
              <a:rPr lang="en-US" sz="2000" b="1" dirty="0">
                <a:latin typeface="Abadi MT Condensed Extra Bold"/>
                <a:cs typeface="Abadi MT Condensed Extra Bold"/>
              </a:rPr>
              <a:t>M. FAUZI MURTADLO</a:t>
            </a:r>
            <a:endParaRPr lang="en-US" sz="2000" b="1" dirty="0">
              <a:latin typeface="Abadi MT Condensed Extra Bold"/>
              <a:cs typeface="Abadi MT Condensed Extra Bold"/>
            </a:endParaRPr>
          </a:p>
        </p:txBody>
      </p:sp>
      <p:pic>
        <p:nvPicPr>
          <p:cNvPr id="10" name="Picture 9" descr="Logo INAICTA.jp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4800"/>
            <a:ext cx="2667000" cy="12954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4953000"/>
            <a:ext cx="9144000" cy="954107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000090"/>
                </a:solidFill>
              </a:rPr>
              <a:t>APLIKASI PENGENDALIAN DAN PELAKSANAAN </a:t>
            </a:r>
            <a:r>
              <a:rPr lang="en-US" sz="2400" dirty="0" smtClean="0">
                <a:solidFill>
                  <a:srgbClr val="000090"/>
                </a:solidFill>
              </a:rPr>
              <a:t>KEGIATAN</a:t>
            </a:r>
            <a:endParaRPr lang="en-US" sz="2400" dirty="0">
              <a:solidFill>
                <a:srgbClr val="000090"/>
              </a:solidFill>
            </a:endParaRPr>
          </a:p>
          <a:p>
            <a:pPr algn="ctr">
              <a:defRPr/>
            </a:pPr>
            <a:r>
              <a:rPr lang="en-US" sz="3200" dirty="0" smtClean="0">
                <a:solidFill>
                  <a:srgbClr val="000090"/>
                </a:solidFill>
              </a:rPr>
              <a:t>(L A K S A N A)</a:t>
            </a:r>
            <a:endParaRPr lang="en-US" sz="3200" dirty="0">
              <a:solidFill>
                <a:srgbClr val="00009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-67560" y="5999983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sz="1600" i="1" dirty="0">
                <a:latin typeface="Gabriola"/>
                <a:cs typeface="Gabriola"/>
              </a:rPr>
              <a:t>DIPRESENTASIKAN DALAM RANGKA PENJURIAN </a:t>
            </a:r>
            <a:endParaRPr lang="en-US" sz="1600" i="1" dirty="0" smtClean="0">
              <a:latin typeface="Gabriola"/>
              <a:cs typeface="Gabriola"/>
            </a:endParaRPr>
          </a:p>
          <a:p>
            <a:pPr>
              <a:defRPr/>
            </a:pPr>
            <a:r>
              <a:rPr lang="en-US" sz="1600" i="1" dirty="0" smtClean="0">
                <a:latin typeface="Gabriola"/>
                <a:cs typeface="Gabriola"/>
              </a:rPr>
              <a:t>TAHAP </a:t>
            </a:r>
            <a:r>
              <a:rPr lang="en-US" sz="1600" i="1" dirty="0">
                <a:latin typeface="Gabriola"/>
                <a:cs typeface="Gabriola"/>
              </a:rPr>
              <a:t>II INAICTA 2012</a:t>
            </a:r>
          </a:p>
          <a:p>
            <a:pPr>
              <a:defRPr/>
            </a:pPr>
            <a:r>
              <a:rPr lang="en-US" sz="1600" i="1" dirty="0">
                <a:latin typeface="Gabriola"/>
                <a:cs typeface="Gabriola"/>
              </a:rPr>
              <a:t>KATEGORI E-GOVERNMENT</a:t>
            </a:r>
            <a:endParaRPr lang="en-US" sz="1600" i="1" dirty="0">
              <a:latin typeface="Gabriola"/>
              <a:cs typeface="Gabriola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ISI PRESENTASI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0090"/>
                </a:solidFill>
              </a:rPr>
              <a:t>PENGANTAR</a:t>
            </a:r>
          </a:p>
          <a:p>
            <a:r>
              <a:rPr lang="en-US" dirty="0" smtClean="0">
                <a:solidFill>
                  <a:srgbClr val="000090"/>
                </a:solidFill>
              </a:rPr>
              <a:t>PERMASALAHAN</a:t>
            </a:r>
          </a:p>
          <a:p>
            <a:r>
              <a:rPr lang="en-US" dirty="0" smtClean="0">
                <a:solidFill>
                  <a:srgbClr val="000090"/>
                </a:solidFill>
              </a:rPr>
              <a:t>ALUR PIKIR</a:t>
            </a:r>
          </a:p>
          <a:p>
            <a:r>
              <a:rPr lang="en-US" dirty="0" smtClean="0">
                <a:solidFill>
                  <a:srgbClr val="000090"/>
                </a:solidFill>
              </a:rPr>
              <a:t>METODOLOGI</a:t>
            </a:r>
          </a:p>
          <a:p>
            <a:r>
              <a:rPr lang="en-US" dirty="0" smtClean="0">
                <a:solidFill>
                  <a:srgbClr val="000090"/>
                </a:solidFill>
              </a:rPr>
              <a:t>KONTRIBUSI KARYA</a:t>
            </a:r>
          </a:p>
          <a:p>
            <a:r>
              <a:rPr lang="en-US" dirty="0" smtClean="0">
                <a:solidFill>
                  <a:srgbClr val="000090"/>
                </a:solidFill>
              </a:rPr>
              <a:t>USER ACCEPTANCE TEST</a:t>
            </a:r>
          </a:p>
          <a:p>
            <a:r>
              <a:rPr lang="en-US" dirty="0" smtClean="0">
                <a:solidFill>
                  <a:srgbClr val="000090"/>
                </a:solidFill>
              </a:rPr>
              <a:t>KEUNIKAN DAN INOVASI KARYA</a:t>
            </a:r>
          </a:p>
          <a:p>
            <a:r>
              <a:rPr lang="en-US" dirty="0" smtClean="0">
                <a:solidFill>
                  <a:srgbClr val="000090"/>
                </a:solidFill>
              </a:rPr>
              <a:t>APLIKASI</a:t>
            </a:r>
            <a:endParaRPr lang="en-US" dirty="0">
              <a:solidFill>
                <a:srgbClr val="00009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94972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PERENCANAAN PROGRAM DAN KEUANGAN</a:t>
            </a:r>
            <a:endParaRPr 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1447800"/>
            <a:ext cx="8153400" cy="5257800"/>
          </a:xfrm>
          <a:prstGeom prst="rect">
            <a:avLst/>
          </a:prstGeom>
          <a:noFill/>
          <a:ln w="9525">
            <a:solidFill>
              <a:srgbClr val="000090"/>
            </a:solidFill>
            <a:miter lim="800000"/>
            <a:headEnd/>
            <a:tailEnd/>
          </a:ln>
          <a:effectLst/>
        </p:spPr>
      </p:pic>
      <p:sp>
        <p:nvSpPr>
          <p:cNvPr id="5" name="Oval 4"/>
          <p:cNvSpPr/>
          <p:nvPr/>
        </p:nvSpPr>
        <p:spPr>
          <a:xfrm>
            <a:off x="7596720" y="5526090"/>
            <a:ext cx="861480" cy="646110"/>
          </a:xfrm>
          <a:prstGeom prst="ellipse">
            <a:avLst/>
          </a:prstGeom>
          <a:solidFill>
            <a:schemeClr val="bg1">
              <a:alpha val="0"/>
            </a:schemeClr>
          </a:solidFill>
          <a:ln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74966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PERMASALAHAN</a:t>
            </a:r>
            <a:endParaRPr lang="en-US" dirty="0"/>
          </a:p>
        </p:txBody>
      </p:sp>
      <p:sp>
        <p:nvSpPr>
          <p:cNvPr id="44" name="Text Box 2"/>
          <p:cNvSpPr txBox="1">
            <a:spLocks noChangeArrowheads="1"/>
          </p:cNvSpPr>
          <p:nvPr/>
        </p:nvSpPr>
        <p:spPr bwMode="auto">
          <a:xfrm>
            <a:off x="3765003" y="1770618"/>
            <a:ext cx="1787695" cy="338554"/>
          </a:xfrm>
          <a:prstGeom prst="rect">
            <a:avLst/>
          </a:prstGeom>
          <a:noFill/>
          <a:ln w="9525">
            <a:solidFill>
              <a:srgbClr val="00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600" b="1">
                <a:solidFill>
                  <a:srgbClr val="00FFFF"/>
                </a:solidFill>
                <a:latin typeface="Arial Narrow" charset="0"/>
                <a:cs typeface="Arial" charset="0"/>
              </a:rPr>
              <a:t>RENSTRA-KL</a:t>
            </a:r>
          </a:p>
        </p:txBody>
      </p:sp>
      <p:sp>
        <p:nvSpPr>
          <p:cNvPr id="45" name="Text Box 3"/>
          <p:cNvSpPr txBox="1">
            <a:spLocks noChangeArrowheads="1"/>
          </p:cNvSpPr>
          <p:nvPr/>
        </p:nvSpPr>
        <p:spPr bwMode="auto">
          <a:xfrm>
            <a:off x="3765003" y="2177948"/>
            <a:ext cx="1787695" cy="338554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600" b="1">
                <a:latin typeface="Arial Narrow" charset="0"/>
                <a:cs typeface="Arial" charset="0"/>
              </a:rPr>
              <a:t>PAGU INDIKATIF</a:t>
            </a:r>
          </a:p>
        </p:txBody>
      </p:sp>
      <p:sp>
        <p:nvSpPr>
          <p:cNvPr id="46" name="Text Box 4"/>
          <p:cNvSpPr txBox="1">
            <a:spLocks noChangeArrowheads="1"/>
          </p:cNvSpPr>
          <p:nvPr/>
        </p:nvSpPr>
        <p:spPr bwMode="auto">
          <a:xfrm>
            <a:off x="3765003" y="2585278"/>
            <a:ext cx="1787695" cy="338554"/>
          </a:xfrm>
          <a:prstGeom prst="rect">
            <a:avLst/>
          </a:prstGeom>
          <a:noFill/>
          <a:ln w="9525">
            <a:solidFill>
              <a:srgbClr val="00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600" b="1" dirty="0">
                <a:solidFill>
                  <a:srgbClr val="00FFFF"/>
                </a:solidFill>
                <a:latin typeface="Arial Narrow" charset="0"/>
                <a:cs typeface="Arial" charset="0"/>
              </a:rPr>
              <a:t>RENJA-KL</a:t>
            </a:r>
          </a:p>
        </p:txBody>
      </p:sp>
      <p:sp>
        <p:nvSpPr>
          <p:cNvPr id="47" name="Text Box 5"/>
          <p:cNvSpPr txBox="1">
            <a:spLocks noChangeArrowheads="1"/>
          </p:cNvSpPr>
          <p:nvPr/>
        </p:nvSpPr>
        <p:spPr bwMode="auto">
          <a:xfrm>
            <a:off x="3765003" y="3399938"/>
            <a:ext cx="1787695" cy="33855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600" b="1" dirty="0">
                <a:latin typeface="Arial Narrow" charset="0"/>
                <a:cs typeface="Arial" charset="0"/>
              </a:rPr>
              <a:t>PAGU SEMENTARA</a:t>
            </a:r>
          </a:p>
        </p:txBody>
      </p:sp>
      <p:sp>
        <p:nvSpPr>
          <p:cNvPr id="48" name="Text Box 6"/>
          <p:cNvSpPr txBox="1">
            <a:spLocks noChangeArrowheads="1"/>
          </p:cNvSpPr>
          <p:nvPr/>
        </p:nvSpPr>
        <p:spPr bwMode="auto">
          <a:xfrm>
            <a:off x="3765003" y="3807268"/>
            <a:ext cx="1787695" cy="338554"/>
          </a:xfrm>
          <a:prstGeom prst="rect">
            <a:avLst/>
          </a:prstGeom>
          <a:noFill/>
          <a:ln w="9525">
            <a:solidFill>
              <a:srgbClr val="00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600" b="1" dirty="0">
                <a:solidFill>
                  <a:srgbClr val="00FFFF"/>
                </a:solidFill>
                <a:latin typeface="Arial Narrow" charset="0"/>
                <a:cs typeface="Arial" charset="0"/>
              </a:rPr>
              <a:t>RKA-KL</a:t>
            </a:r>
          </a:p>
        </p:txBody>
      </p:sp>
      <p:sp>
        <p:nvSpPr>
          <p:cNvPr id="49" name="Text Box 7"/>
          <p:cNvSpPr txBox="1">
            <a:spLocks noChangeArrowheads="1"/>
          </p:cNvSpPr>
          <p:nvPr/>
        </p:nvSpPr>
        <p:spPr bwMode="auto">
          <a:xfrm>
            <a:off x="3765003" y="4214598"/>
            <a:ext cx="1787695" cy="33855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600" b="1" dirty="0">
                <a:latin typeface="Arial Narrow" charset="0"/>
                <a:cs typeface="Arial" charset="0"/>
              </a:rPr>
              <a:t>HIMPUNAN RKA-KL</a:t>
            </a:r>
          </a:p>
        </p:txBody>
      </p:sp>
      <p:sp>
        <p:nvSpPr>
          <p:cNvPr id="50" name="Text Box 8"/>
          <p:cNvSpPr txBox="1">
            <a:spLocks noChangeArrowheads="1"/>
          </p:cNvSpPr>
          <p:nvPr/>
        </p:nvSpPr>
        <p:spPr bwMode="auto">
          <a:xfrm>
            <a:off x="3765003" y="4621928"/>
            <a:ext cx="1787695" cy="57988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600" b="1">
                <a:latin typeface="Arial Narrow" charset="0"/>
                <a:cs typeface="Arial" charset="0"/>
              </a:rPr>
              <a:t>NOTA KEU &amp; RAPBN</a:t>
            </a:r>
          </a:p>
        </p:txBody>
      </p:sp>
      <p:sp>
        <p:nvSpPr>
          <p:cNvPr id="51" name="Text Box 9"/>
          <p:cNvSpPr txBox="1">
            <a:spLocks noChangeArrowheads="1"/>
          </p:cNvSpPr>
          <p:nvPr/>
        </p:nvSpPr>
        <p:spPr bwMode="auto">
          <a:xfrm>
            <a:off x="3765003" y="1363288"/>
            <a:ext cx="1787695" cy="338554"/>
          </a:xfrm>
          <a:prstGeom prst="rect">
            <a:avLst/>
          </a:prstGeom>
          <a:noFill/>
          <a:ln w="9525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600" b="1">
                <a:solidFill>
                  <a:srgbClr val="FFFF00"/>
                </a:solidFill>
                <a:latin typeface="Arial Narrow" charset="0"/>
                <a:cs typeface="Arial" charset="0"/>
              </a:rPr>
              <a:t>RPJM</a:t>
            </a:r>
          </a:p>
        </p:txBody>
      </p:sp>
      <p:sp>
        <p:nvSpPr>
          <p:cNvPr id="52" name="Text Box 10"/>
          <p:cNvSpPr txBox="1">
            <a:spLocks noChangeArrowheads="1"/>
          </p:cNvSpPr>
          <p:nvPr/>
        </p:nvSpPr>
        <p:spPr bwMode="auto">
          <a:xfrm>
            <a:off x="3765003" y="5300812"/>
            <a:ext cx="1787695" cy="338554"/>
          </a:xfrm>
          <a:prstGeom prst="rect">
            <a:avLst/>
          </a:prstGeom>
          <a:noFill/>
          <a:ln w="9525">
            <a:solidFill>
              <a:srgbClr val="00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600">
                <a:solidFill>
                  <a:srgbClr val="00FFFF"/>
                </a:solidFill>
                <a:latin typeface="Arial Black" charset="0"/>
                <a:cs typeface="Arial" charset="0"/>
              </a:rPr>
              <a:t>APBN</a:t>
            </a:r>
          </a:p>
        </p:txBody>
      </p:sp>
      <p:sp>
        <p:nvSpPr>
          <p:cNvPr id="53" name="Text Box 11"/>
          <p:cNvSpPr txBox="1">
            <a:spLocks noChangeArrowheads="1"/>
          </p:cNvSpPr>
          <p:nvPr/>
        </p:nvSpPr>
        <p:spPr bwMode="auto">
          <a:xfrm>
            <a:off x="3765003" y="5708142"/>
            <a:ext cx="1787695" cy="338554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600" b="1">
                <a:latin typeface="Arial Narrow" charset="0"/>
                <a:cs typeface="Arial" charset="0"/>
              </a:rPr>
              <a:t>RINCIAN APBN</a:t>
            </a:r>
          </a:p>
        </p:txBody>
      </p:sp>
      <p:sp>
        <p:nvSpPr>
          <p:cNvPr id="54" name="Text Box 12"/>
          <p:cNvSpPr txBox="1">
            <a:spLocks noChangeArrowheads="1"/>
          </p:cNvSpPr>
          <p:nvPr/>
        </p:nvSpPr>
        <p:spPr bwMode="auto">
          <a:xfrm>
            <a:off x="3765003" y="2992608"/>
            <a:ext cx="1787695" cy="335198"/>
          </a:xfrm>
          <a:prstGeom prst="rect">
            <a:avLst/>
          </a:prstGeom>
          <a:noFill/>
          <a:ln w="9525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b="1">
                <a:solidFill>
                  <a:srgbClr val="FFFF00"/>
                </a:solidFill>
                <a:latin typeface="Arial Narrow" charset="0"/>
                <a:cs typeface="Arial" charset="0"/>
              </a:rPr>
              <a:t>RKP</a:t>
            </a:r>
          </a:p>
        </p:txBody>
      </p:sp>
      <p:sp>
        <p:nvSpPr>
          <p:cNvPr id="55" name="Text Box 13"/>
          <p:cNvSpPr txBox="1">
            <a:spLocks noChangeArrowheads="1"/>
          </p:cNvSpPr>
          <p:nvPr/>
        </p:nvSpPr>
        <p:spPr bwMode="auto">
          <a:xfrm>
            <a:off x="3765003" y="6115472"/>
            <a:ext cx="1787695" cy="335198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b="1">
                <a:latin typeface="Arial Narrow" charset="0"/>
                <a:cs typeface="Arial" charset="0"/>
              </a:rPr>
              <a:t>DIPA</a:t>
            </a:r>
          </a:p>
        </p:txBody>
      </p:sp>
      <p:sp>
        <p:nvSpPr>
          <p:cNvPr id="56" name="Text Box 14"/>
          <p:cNvSpPr txBox="1">
            <a:spLocks noChangeArrowheads="1"/>
          </p:cNvSpPr>
          <p:nvPr/>
        </p:nvSpPr>
        <p:spPr bwMode="auto">
          <a:xfrm>
            <a:off x="3765003" y="6522802"/>
            <a:ext cx="1787695" cy="338554"/>
          </a:xfrm>
          <a:prstGeom prst="rect">
            <a:avLst/>
          </a:prstGeom>
          <a:noFill/>
          <a:ln w="9525">
            <a:solidFill>
              <a:srgbClr val="00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600" b="1">
                <a:solidFill>
                  <a:srgbClr val="00FFFF"/>
                </a:solidFill>
                <a:latin typeface="Arial Narrow" charset="0"/>
                <a:cs typeface="Arial" charset="0"/>
              </a:rPr>
              <a:t>LKPP</a:t>
            </a:r>
          </a:p>
        </p:txBody>
      </p:sp>
      <p:sp>
        <p:nvSpPr>
          <p:cNvPr id="57" name="Text Box 15"/>
          <p:cNvSpPr txBox="1">
            <a:spLocks noChangeArrowheads="1"/>
          </p:cNvSpPr>
          <p:nvPr/>
        </p:nvSpPr>
        <p:spPr bwMode="auto">
          <a:xfrm>
            <a:off x="533400" y="1295400"/>
            <a:ext cx="178769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>
                <a:solidFill>
                  <a:srgbClr val="660066"/>
                </a:solidFill>
                <a:latin typeface="Lithograph" charset="0"/>
                <a:cs typeface="Arial" charset="0"/>
              </a:rPr>
              <a:t>BAPPENAS</a:t>
            </a:r>
          </a:p>
        </p:txBody>
      </p:sp>
      <p:sp>
        <p:nvSpPr>
          <p:cNvPr id="58" name="Text Box 16"/>
          <p:cNvSpPr txBox="1">
            <a:spLocks noChangeArrowheads="1"/>
          </p:cNvSpPr>
          <p:nvPr/>
        </p:nvSpPr>
        <p:spPr bwMode="auto">
          <a:xfrm>
            <a:off x="533400" y="1702730"/>
            <a:ext cx="32158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>
                <a:solidFill>
                  <a:srgbClr val="660066"/>
                </a:solidFill>
                <a:latin typeface="Lithograph" charset="0"/>
                <a:cs typeface="Arial" charset="0"/>
              </a:rPr>
              <a:t>KEMENTERIAN/LEMBAGA</a:t>
            </a:r>
          </a:p>
        </p:txBody>
      </p:sp>
      <p:sp>
        <p:nvSpPr>
          <p:cNvPr id="59" name="Text Box 17"/>
          <p:cNvSpPr txBox="1">
            <a:spLocks noChangeArrowheads="1"/>
          </p:cNvSpPr>
          <p:nvPr/>
        </p:nvSpPr>
        <p:spPr bwMode="auto">
          <a:xfrm>
            <a:off x="533400" y="2110060"/>
            <a:ext cx="309408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>
                <a:solidFill>
                  <a:srgbClr val="660066"/>
                </a:solidFill>
                <a:latin typeface="Lithograph" charset="0"/>
                <a:cs typeface="Arial" charset="0"/>
              </a:rPr>
              <a:t>BAPPENAS</a:t>
            </a:r>
            <a:r>
              <a:rPr lang="en-US" dirty="0" smtClean="0">
                <a:solidFill>
                  <a:srgbClr val="660066"/>
                </a:solidFill>
                <a:latin typeface="Lithograph" charset="0"/>
                <a:cs typeface="Arial" charset="0"/>
              </a:rPr>
              <a:t>+KEMENKEU</a:t>
            </a:r>
            <a:endParaRPr lang="en-US" dirty="0">
              <a:solidFill>
                <a:srgbClr val="660066"/>
              </a:solidFill>
              <a:latin typeface="Lithograph" charset="0"/>
              <a:cs typeface="Arial" charset="0"/>
            </a:endParaRPr>
          </a:p>
        </p:txBody>
      </p:sp>
      <p:sp>
        <p:nvSpPr>
          <p:cNvPr id="60" name="Text Box 18"/>
          <p:cNvSpPr txBox="1">
            <a:spLocks noChangeArrowheads="1"/>
          </p:cNvSpPr>
          <p:nvPr/>
        </p:nvSpPr>
        <p:spPr bwMode="auto">
          <a:xfrm>
            <a:off x="533400" y="3807268"/>
            <a:ext cx="32158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>
                <a:solidFill>
                  <a:srgbClr val="660066"/>
                </a:solidFill>
                <a:latin typeface="Lithograph" charset="0"/>
                <a:cs typeface="Arial" charset="0"/>
              </a:rPr>
              <a:t>KEMENTERIAN/LEMBAGA</a:t>
            </a:r>
          </a:p>
        </p:txBody>
      </p:sp>
      <p:sp>
        <p:nvSpPr>
          <p:cNvPr id="61" name="Text Box 19"/>
          <p:cNvSpPr txBox="1">
            <a:spLocks noChangeArrowheads="1"/>
          </p:cNvSpPr>
          <p:nvPr/>
        </p:nvSpPr>
        <p:spPr bwMode="auto">
          <a:xfrm>
            <a:off x="533400" y="2924720"/>
            <a:ext cx="178769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>
                <a:solidFill>
                  <a:srgbClr val="660066"/>
                </a:solidFill>
                <a:latin typeface="Lithograph" charset="0"/>
                <a:cs typeface="Arial" charset="0"/>
              </a:rPr>
              <a:t>BAPPENAS</a:t>
            </a:r>
          </a:p>
        </p:txBody>
      </p:sp>
      <p:sp>
        <p:nvSpPr>
          <p:cNvPr id="62" name="Text Box 20"/>
          <p:cNvSpPr txBox="1">
            <a:spLocks noChangeArrowheads="1"/>
          </p:cNvSpPr>
          <p:nvPr/>
        </p:nvSpPr>
        <p:spPr bwMode="auto">
          <a:xfrm>
            <a:off x="533400" y="3332050"/>
            <a:ext cx="30940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b="1" dirty="0" smtClean="0">
                <a:solidFill>
                  <a:srgbClr val="660066"/>
                </a:solidFill>
                <a:latin typeface="Lithograph" charset="0"/>
                <a:cs typeface="Arial" charset="0"/>
              </a:rPr>
              <a:t>KEMENKEU</a:t>
            </a:r>
            <a:endParaRPr lang="en-US" sz="2000" b="1" dirty="0">
              <a:solidFill>
                <a:srgbClr val="660066"/>
              </a:solidFill>
              <a:latin typeface="Lithograph" charset="0"/>
              <a:cs typeface="Arial" charset="0"/>
            </a:endParaRPr>
          </a:p>
        </p:txBody>
      </p:sp>
      <p:sp>
        <p:nvSpPr>
          <p:cNvPr id="63" name="Text Box 21"/>
          <p:cNvSpPr txBox="1">
            <a:spLocks noChangeArrowheads="1"/>
          </p:cNvSpPr>
          <p:nvPr/>
        </p:nvSpPr>
        <p:spPr bwMode="auto">
          <a:xfrm>
            <a:off x="533400" y="2517390"/>
            <a:ext cx="32158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>
                <a:solidFill>
                  <a:srgbClr val="660066"/>
                </a:solidFill>
                <a:latin typeface="Lithograph" charset="0"/>
                <a:cs typeface="Arial" charset="0"/>
              </a:rPr>
              <a:t>KEMENTERIAN/LEMBAGA</a:t>
            </a:r>
          </a:p>
        </p:txBody>
      </p:sp>
      <p:sp>
        <p:nvSpPr>
          <p:cNvPr id="64" name="Text Box 22"/>
          <p:cNvSpPr txBox="1">
            <a:spLocks noChangeArrowheads="1"/>
          </p:cNvSpPr>
          <p:nvPr/>
        </p:nvSpPr>
        <p:spPr bwMode="auto">
          <a:xfrm>
            <a:off x="533400" y="4146710"/>
            <a:ext cx="309408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 smtClean="0">
                <a:solidFill>
                  <a:srgbClr val="660066"/>
                </a:solidFill>
                <a:latin typeface="Lithograph" charset="0"/>
                <a:cs typeface="Arial" charset="0"/>
              </a:rPr>
              <a:t>KEMENKEU</a:t>
            </a:r>
            <a:endParaRPr lang="en-US" dirty="0">
              <a:solidFill>
                <a:srgbClr val="660066"/>
              </a:solidFill>
              <a:latin typeface="Lithograph" charset="0"/>
              <a:cs typeface="Arial" charset="0"/>
            </a:endParaRPr>
          </a:p>
        </p:txBody>
      </p:sp>
      <p:sp>
        <p:nvSpPr>
          <p:cNvPr id="65" name="Text Box 23"/>
          <p:cNvSpPr txBox="1">
            <a:spLocks noChangeArrowheads="1"/>
          </p:cNvSpPr>
          <p:nvPr/>
        </p:nvSpPr>
        <p:spPr bwMode="auto">
          <a:xfrm>
            <a:off x="533400" y="4689817"/>
            <a:ext cx="309408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 smtClean="0">
                <a:solidFill>
                  <a:srgbClr val="660066"/>
                </a:solidFill>
                <a:latin typeface="Lithograph" charset="0"/>
                <a:cs typeface="Arial" charset="0"/>
              </a:rPr>
              <a:t>KEMENKEU</a:t>
            </a:r>
            <a:endParaRPr lang="en-US" dirty="0">
              <a:solidFill>
                <a:srgbClr val="660066"/>
              </a:solidFill>
              <a:latin typeface="Lithograph" charset="0"/>
              <a:cs typeface="Arial" charset="0"/>
            </a:endParaRPr>
          </a:p>
        </p:txBody>
      </p:sp>
      <p:sp>
        <p:nvSpPr>
          <p:cNvPr id="66" name="Text Box 24"/>
          <p:cNvSpPr txBox="1">
            <a:spLocks noChangeArrowheads="1"/>
          </p:cNvSpPr>
          <p:nvPr/>
        </p:nvSpPr>
        <p:spPr bwMode="auto">
          <a:xfrm>
            <a:off x="533400" y="5232923"/>
            <a:ext cx="309408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>
                <a:solidFill>
                  <a:srgbClr val="660066"/>
                </a:solidFill>
                <a:latin typeface="Lithograph" charset="0"/>
                <a:cs typeface="Arial" charset="0"/>
              </a:rPr>
              <a:t>PEMERINTAH+DPR</a:t>
            </a:r>
          </a:p>
        </p:txBody>
      </p:sp>
      <p:sp>
        <p:nvSpPr>
          <p:cNvPr id="67" name="Text Box 25"/>
          <p:cNvSpPr txBox="1">
            <a:spLocks noChangeArrowheads="1"/>
          </p:cNvSpPr>
          <p:nvPr/>
        </p:nvSpPr>
        <p:spPr bwMode="auto">
          <a:xfrm>
            <a:off x="533400" y="5640253"/>
            <a:ext cx="309408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 smtClean="0">
                <a:solidFill>
                  <a:srgbClr val="660066"/>
                </a:solidFill>
                <a:latin typeface="Lithograph" charset="0"/>
                <a:cs typeface="Arial" charset="0"/>
              </a:rPr>
              <a:t>KEMENKEU</a:t>
            </a:r>
            <a:endParaRPr lang="en-US" dirty="0">
              <a:solidFill>
                <a:srgbClr val="660066"/>
              </a:solidFill>
              <a:latin typeface="Lithograph" charset="0"/>
              <a:cs typeface="Arial" charset="0"/>
            </a:endParaRPr>
          </a:p>
        </p:txBody>
      </p:sp>
      <p:sp>
        <p:nvSpPr>
          <p:cNvPr id="68" name="Text Box 26"/>
          <p:cNvSpPr txBox="1">
            <a:spLocks noChangeArrowheads="1"/>
          </p:cNvSpPr>
          <p:nvPr/>
        </p:nvSpPr>
        <p:spPr bwMode="auto">
          <a:xfrm>
            <a:off x="533400" y="6115472"/>
            <a:ext cx="3575390" cy="329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 smtClean="0">
                <a:solidFill>
                  <a:srgbClr val="0000FF"/>
                </a:solidFill>
                <a:latin typeface="Lithograph" charset="0"/>
                <a:cs typeface="Arial" charset="0"/>
              </a:rPr>
              <a:t>KEMENTERIAN</a:t>
            </a:r>
            <a:r>
              <a:rPr lang="en-US" dirty="0">
                <a:solidFill>
                  <a:srgbClr val="0000FF"/>
                </a:solidFill>
                <a:latin typeface="Lithograph" charset="0"/>
                <a:cs typeface="Arial" charset="0"/>
              </a:rPr>
              <a:t>/L</a:t>
            </a:r>
            <a:r>
              <a:rPr lang="en-US" dirty="0" smtClean="0">
                <a:solidFill>
                  <a:srgbClr val="0000FF"/>
                </a:solidFill>
                <a:latin typeface="Lithograph" charset="0"/>
                <a:cs typeface="Arial" charset="0"/>
              </a:rPr>
              <a:t>+KEMENKEU</a:t>
            </a:r>
            <a:endParaRPr lang="en-US" dirty="0">
              <a:solidFill>
                <a:srgbClr val="0000FF"/>
              </a:solidFill>
              <a:latin typeface="Lithograph" charset="0"/>
              <a:cs typeface="Arial" charset="0"/>
            </a:endParaRPr>
          </a:p>
        </p:txBody>
      </p:sp>
      <p:sp>
        <p:nvSpPr>
          <p:cNvPr id="69" name="Text Box 27"/>
          <p:cNvSpPr txBox="1">
            <a:spLocks noChangeArrowheads="1"/>
          </p:cNvSpPr>
          <p:nvPr/>
        </p:nvSpPr>
        <p:spPr bwMode="auto">
          <a:xfrm>
            <a:off x="533400" y="6454913"/>
            <a:ext cx="309408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>
                <a:solidFill>
                  <a:srgbClr val="660066"/>
                </a:solidFill>
                <a:latin typeface="Lithograph" charset="0"/>
                <a:cs typeface="Arial" charset="0"/>
              </a:rPr>
              <a:t>PEMERINTAH+DPR</a:t>
            </a:r>
          </a:p>
        </p:txBody>
      </p:sp>
      <p:sp>
        <p:nvSpPr>
          <p:cNvPr id="70" name="Text Box 28"/>
          <p:cNvSpPr txBox="1">
            <a:spLocks noChangeArrowheads="1"/>
          </p:cNvSpPr>
          <p:nvPr/>
        </p:nvSpPr>
        <p:spPr bwMode="auto">
          <a:xfrm>
            <a:off x="6584060" y="1295400"/>
            <a:ext cx="2131483" cy="1917845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</a:pPr>
            <a:endParaRPr lang="en-US">
              <a:latin typeface="Arial Black" charset="0"/>
              <a:cs typeface="Arial" charset="0"/>
            </a:endParaRPr>
          </a:p>
          <a:p>
            <a:pPr>
              <a:spcBef>
                <a:spcPct val="50000"/>
              </a:spcBef>
            </a:pPr>
            <a:endParaRPr lang="en-US">
              <a:latin typeface="Arial Black" charset="0"/>
              <a:cs typeface="Arial" charset="0"/>
            </a:endParaRPr>
          </a:p>
          <a:p>
            <a:pPr algn="ctr">
              <a:spcBef>
                <a:spcPct val="50000"/>
              </a:spcBef>
            </a:pPr>
            <a:r>
              <a:rPr lang="en-US" sz="2000" b="1">
                <a:solidFill>
                  <a:srgbClr val="0000FF"/>
                </a:solidFill>
                <a:latin typeface="Arial Narrow" charset="0"/>
                <a:cs typeface="Arial" charset="0"/>
              </a:rPr>
              <a:t>PERENCANAAN</a:t>
            </a:r>
          </a:p>
          <a:p>
            <a:pPr>
              <a:spcBef>
                <a:spcPct val="50000"/>
              </a:spcBef>
            </a:pPr>
            <a:endParaRPr lang="en-US" sz="2000" b="1">
              <a:latin typeface="Arial Narrow" charset="0"/>
              <a:cs typeface="Arial" charset="0"/>
            </a:endParaRPr>
          </a:p>
          <a:p>
            <a:pPr>
              <a:spcBef>
                <a:spcPct val="50000"/>
              </a:spcBef>
            </a:pPr>
            <a:endParaRPr lang="en-US" sz="800" b="1">
              <a:latin typeface="Arial Narrow" charset="0"/>
              <a:cs typeface="Arial" charset="0"/>
            </a:endParaRPr>
          </a:p>
          <a:p>
            <a:pPr>
              <a:spcBef>
                <a:spcPct val="50000"/>
              </a:spcBef>
            </a:pPr>
            <a:endParaRPr lang="en-US" sz="1200">
              <a:latin typeface="Arial Black" charset="0"/>
              <a:cs typeface="Arial" charset="0"/>
            </a:endParaRPr>
          </a:p>
        </p:txBody>
      </p:sp>
      <p:sp>
        <p:nvSpPr>
          <p:cNvPr id="71" name="Text Box 29"/>
          <p:cNvSpPr txBox="1">
            <a:spLocks noChangeArrowheads="1"/>
          </p:cNvSpPr>
          <p:nvPr/>
        </p:nvSpPr>
        <p:spPr bwMode="auto">
          <a:xfrm>
            <a:off x="6584060" y="3332050"/>
            <a:ext cx="2131483" cy="1917845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</a:pPr>
            <a:endParaRPr lang="en-US">
              <a:latin typeface="Arial Black" charset="0"/>
              <a:cs typeface="Arial" charset="0"/>
            </a:endParaRPr>
          </a:p>
          <a:p>
            <a:pPr>
              <a:spcBef>
                <a:spcPct val="50000"/>
              </a:spcBef>
            </a:pPr>
            <a:endParaRPr lang="en-US">
              <a:latin typeface="Arial Black" charset="0"/>
              <a:cs typeface="Arial" charset="0"/>
            </a:endParaRPr>
          </a:p>
          <a:p>
            <a:pPr algn="ctr">
              <a:spcBef>
                <a:spcPct val="50000"/>
              </a:spcBef>
            </a:pPr>
            <a:r>
              <a:rPr lang="en-US" sz="2000" b="1">
                <a:solidFill>
                  <a:srgbClr val="0000FF"/>
                </a:solidFill>
                <a:latin typeface="Arial Narrow" charset="0"/>
                <a:cs typeface="Arial" charset="0"/>
              </a:rPr>
              <a:t>PENGANGGARAN</a:t>
            </a:r>
          </a:p>
          <a:p>
            <a:pPr algn="ctr">
              <a:spcBef>
                <a:spcPct val="50000"/>
              </a:spcBef>
            </a:pPr>
            <a:endParaRPr lang="en-US" sz="800" b="1">
              <a:solidFill>
                <a:srgbClr val="0000FF"/>
              </a:solidFill>
              <a:latin typeface="Arial Narrow" charset="0"/>
              <a:cs typeface="Arial" charset="0"/>
            </a:endParaRPr>
          </a:p>
          <a:p>
            <a:pPr>
              <a:spcBef>
                <a:spcPct val="50000"/>
              </a:spcBef>
            </a:pPr>
            <a:endParaRPr lang="en-US" sz="2000">
              <a:latin typeface="Arial Black" charset="0"/>
              <a:cs typeface="Arial" charset="0"/>
            </a:endParaRPr>
          </a:p>
          <a:p>
            <a:pPr>
              <a:spcBef>
                <a:spcPct val="50000"/>
              </a:spcBef>
            </a:pPr>
            <a:endParaRPr lang="en-US" sz="1200">
              <a:latin typeface="Arial Black" charset="0"/>
              <a:cs typeface="Arial" charset="0"/>
            </a:endParaRPr>
          </a:p>
        </p:txBody>
      </p:sp>
      <p:sp>
        <p:nvSpPr>
          <p:cNvPr id="72" name="Text Box 30"/>
          <p:cNvSpPr txBox="1">
            <a:spLocks noChangeArrowheads="1"/>
          </p:cNvSpPr>
          <p:nvPr/>
        </p:nvSpPr>
        <p:spPr bwMode="auto">
          <a:xfrm>
            <a:off x="6584060" y="5350313"/>
            <a:ext cx="2131483" cy="625138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2000" b="1">
                <a:solidFill>
                  <a:srgbClr val="0000FF"/>
                </a:solidFill>
                <a:latin typeface="Arial Narrow" charset="0"/>
                <a:cs typeface="Arial" charset="0"/>
              </a:rPr>
              <a:t>PENGESAHAN ANGGARAN</a:t>
            </a:r>
          </a:p>
        </p:txBody>
      </p:sp>
      <p:sp>
        <p:nvSpPr>
          <p:cNvPr id="73" name="Text Box 31"/>
          <p:cNvSpPr txBox="1">
            <a:spLocks noChangeArrowheads="1"/>
          </p:cNvSpPr>
          <p:nvPr/>
        </p:nvSpPr>
        <p:spPr bwMode="auto">
          <a:xfrm>
            <a:off x="6584060" y="6029197"/>
            <a:ext cx="2131483" cy="353585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2000" b="1">
                <a:solidFill>
                  <a:srgbClr val="0000FF"/>
                </a:solidFill>
                <a:latin typeface="Arial Narrow" charset="0"/>
                <a:cs typeface="Arial" charset="0"/>
              </a:rPr>
              <a:t>PELAKSANAAN</a:t>
            </a:r>
          </a:p>
        </p:txBody>
      </p:sp>
      <p:sp>
        <p:nvSpPr>
          <p:cNvPr id="74" name="Text Box 32"/>
          <p:cNvSpPr txBox="1">
            <a:spLocks noChangeArrowheads="1"/>
          </p:cNvSpPr>
          <p:nvPr/>
        </p:nvSpPr>
        <p:spPr bwMode="auto">
          <a:xfrm>
            <a:off x="6584060" y="6436527"/>
            <a:ext cx="2131483" cy="353585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2000" b="1">
                <a:solidFill>
                  <a:srgbClr val="0000FF"/>
                </a:solidFill>
                <a:latin typeface="Arial Narrow" charset="0"/>
                <a:cs typeface="Arial" charset="0"/>
              </a:rPr>
              <a:t>PERTNGGJWB</a:t>
            </a:r>
          </a:p>
        </p:txBody>
      </p:sp>
      <p:sp>
        <p:nvSpPr>
          <p:cNvPr id="75" name="Text Box 33"/>
          <p:cNvSpPr txBox="1">
            <a:spLocks noChangeArrowheads="1"/>
          </p:cNvSpPr>
          <p:nvPr/>
        </p:nvSpPr>
        <p:spPr bwMode="auto">
          <a:xfrm>
            <a:off x="5621455" y="1363288"/>
            <a:ext cx="550060" cy="335198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b="1">
                <a:latin typeface="Arial Narrow" charset="0"/>
                <a:cs typeface="Arial" charset="0"/>
              </a:rPr>
              <a:t>PP</a:t>
            </a:r>
          </a:p>
        </p:txBody>
      </p:sp>
      <p:sp>
        <p:nvSpPr>
          <p:cNvPr id="76" name="Text Box 34"/>
          <p:cNvSpPr txBox="1">
            <a:spLocks noChangeArrowheads="1"/>
          </p:cNvSpPr>
          <p:nvPr/>
        </p:nvSpPr>
        <p:spPr bwMode="auto">
          <a:xfrm>
            <a:off x="5621455" y="2177948"/>
            <a:ext cx="550060" cy="335198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b="1">
                <a:latin typeface="Arial Narrow" charset="0"/>
                <a:cs typeface="Arial" charset="0"/>
              </a:rPr>
              <a:t>SEB</a:t>
            </a:r>
          </a:p>
        </p:txBody>
      </p:sp>
      <p:sp>
        <p:nvSpPr>
          <p:cNvPr id="77" name="Text Box 35"/>
          <p:cNvSpPr txBox="1">
            <a:spLocks noChangeArrowheads="1"/>
          </p:cNvSpPr>
          <p:nvPr/>
        </p:nvSpPr>
        <p:spPr bwMode="auto">
          <a:xfrm>
            <a:off x="5621455" y="2992608"/>
            <a:ext cx="550060" cy="335198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b="1">
                <a:latin typeface="Arial Narrow" charset="0"/>
                <a:cs typeface="Arial" charset="0"/>
              </a:rPr>
              <a:t>PP</a:t>
            </a:r>
          </a:p>
        </p:txBody>
      </p:sp>
      <p:sp>
        <p:nvSpPr>
          <p:cNvPr id="78" name="Text Box 36"/>
          <p:cNvSpPr txBox="1">
            <a:spLocks noChangeArrowheads="1"/>
          </p:cNvSpPr>
          <p:nvPr/>
        </p:nvSpPr>
        <p:spPr bwMode="auto">
          <a:xfrm>
            <a:off x="5621455" y="3399938"/>
            <a:ext cx="756333" cy="33519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b="1" dirty="0">
                <a:latin typeface="Arial Narrow" charset="0"/>
                <a:cs typeface="Arial" charset="0"/>
              </a:rPr>
              <a:t>SE-MK</a:t>
            </a:r>
          </a:p>
        </p:txBody>
      </p:sp>
      <p:sp>
        <p:nvSpPr>
          <p:cNvPr id="79" name="Text Box 37"/>
          <p:cNvSpPr txBox="1">
            <a:spLocks noChangeArrowheads="1"/>
          </p:cNvSpPr>
          <p:nvPr/>
        </p:nvSpPr>
        <p:spPr bwMode="auto">
          <a:xfrm>
            <a:off x="5621455" y="5300812"/>
            <a:ext cx="550060" cy="335198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b="1">
                <a:latin typeface="Arial Narrow" charset="0"/>
                <a:cs typeface="Arial" charset="0"/>
              </a:rPr>
              <a:t>UU</a:t>
            </a:r>
          </a:p>
        </p:txBody>
      </p:sp>
      <p:sp>
        <p:nvSpPr>
          <p:cNvPr id="80" name="Text Box 38"/>
          <p:cNvSpPr txBox="1">
            <a:spLocks noChangeArrowheads="1"/>
          </p:cNvSpPr>
          <p:nvPr/>
        </p:nvSpPr>
        <p:spPr bwMode="auto">
          <a:xfrm>
            <a:off x="5621455" y="5708142"/>
            <a:ext cx="893848" cy="335198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id-ID" b="1">
                <a:solidFill>
                  <a:schemeClr val="hlink"/>
                </a:solidFill>
                <a:latin typeface="Arial Narrow" charset="0"/>
                <a:cs typeface="Arial" charset="0"/>
              </a:rPr>
              <a:t>Per</a:t>
            </a:r>
            <a:r>
              <a:rPr lang="en-US" b="1">
                <a:solidFill>
                  <a:schemeClr val="hlink"/>
                </a:solidFill>
                <a:latin typeface="Arial Narrow" charset="0"/>
                <a:cs typeface="Arial" charset="0"/>
              </a:rPr>
              <a:t>p</a:t>
            </a:r>
            <a:r>
              <a:rPr lang="id-ID" b="1">
                <a:solidFill>
                  <a:schemeClr val="hlink"/>
                </a:solidFill>
                <a:latin typeface="Arial Narrow" charset="0"/>
                <a:cs typeface="Arial" charset="0"/>
              </a:rPr>
              <a:t>res</a:t>
            </a:r>
          </a:p>
        </p:txBody>
      </p:sp>
      <p:sp>
        <p:nvSpPr>
          <p:cNvPr id="81" name="Text Box 39"/>
          <p:cNvSpPr txBox="1">
            <a:spLocks noChangeArrowheads="1"/>
          </p:cNvSpPr>
          <p:nvPr/>
        </p:nvSpPr>
        <p:spPr bwMode="auto">
          <a:xfrm>
            <a:off x="5621455" y="6522802"/>
            <a:ext cx="550060" cy="335198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b="1">
                <a:latin typeface="Arial Narrow" charset="0"/>
                <a:cs typeface="Arial" charset="0"/>
              </a:rPr>
              <a:t>UU</a:t>
            </a:r>
          </a:p>
        </p:txBody>
      </p:sp>
      <p:sp>
        <p:nvSpPr>
          <p:cNvPr id="82" name="Frame 81"/>
          <p:cNvSpPr/>
          <p:nvPr/>
        </p:nvSpPr>
        <p:spPr>
          <a:xfrm>
            <a:off x="533400" y="6043340"/>
            <a:ext cx="8229600" cy="475218"/>
          </a:xfrm>
          <a:prstGeom prst="frame">
            <a:avLst/>
          </a:prstGeom>
          <a:solidFill>
            <a:srgbClr val="FF0000"/>
          </a:solidFill>
          <a:ln>
            <a:solidFill>
              <a:srgbClr val="FC012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431431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PERMASALAHAN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572000" y="3301871"/>
            <a:ext cx="4572000" cy="3251329"/>
          </a:xfrm>
          <a:prstGeom prst="rect">
            <a:avLst/>
          </a:prstGeom>
          <a:ln w="38100" cmpd="sng">
            <a:solidFill>
              <a:srgbClr val="FF0000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6200" y="1676400"/>
            <a:ext cx="4343400" cy="2895600"/>
          </a:xfrm>
          <a:prstGeom prst="rect">
            <a:avLst/>
          </a:prstGeom>
          <a:ln w="76200" cmpd="sng">
            <a:solidFill>
              <a:srgbClr val="6B6BCF"/>
            </a:solidFill>
          </a:ln>
        </p:spPr>
      </p:pic>
      <p:sp>
        <p:nvSpPr>
          <p:cNvPr id="6" name="Freeform 5"/>
          <p:cNvSpPr/>
          <p:nvPr/>
        </p:nvSpPr>
        <p:spPr>
          <a:xfrm>
            <a:off x="457200" y="2667000"/>
            <a:ext cx="3417339" cy="1472807"/>
          </a:xfrm>
          <a:custGeom>
            <a:avLst/>
            <a:gdLst>
              <a:gd name="connsiteX0" fmla="*/ 0 w 3417339"/>
              <a:gd name="connsiteY0" fmla="*/ 1407336 h 1472807"/>
              <a:gd name="connsiteX1" fmla="*/ 1152207 w 3417339"/>
              <a:gd name="connsiteY1" fmla="*/ 687165 h 1472807"/>
              <a:gd name="connsiteX2" fmla="*/ 2330599 w 3417339"/>
              <a:gd name="connsiteY2" fmla="*/ 19369 h 1472807"/>
              <a:gd name="connsiteX3" fmla="*/ 3417339 w 3417339"/>
              <a:gd name="connsiteY3" fmla="*/ 1472807 h 1472807"/>
              <a:gd name="connsiteX4" fmla="*/ 3417339 w 3417339"/>
              <a:gd name="connsiteY4" fmla="*/ 1472807 h 1472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17339" h="1472807">
                <a:moveTo>
                  <a:pt x="0" y="1407336"/>
                </a:moveTo>
                <a:cubicBezTo>
                  <a:pt x="381887" y="1162914"/>
                  <a:pt x="763774" y="918493"/>
                  <a:pt x="1152207" y="687165"/>
                </a:cubicBezTo>
                <a:cubicBezTo>
                  <a:pt x="1540640" y="455837"/>
                  <a:pt x="1953077" y="-111571"/>
                  <a:pt x="2330599" y="19369"/>
                </a:cubicBezTo>
                <a:cubicBezTo>
                  <a:pt x="2708121" y="150309"/>
                  <a:pt x="3417339" y="1472807"/>
                  <a:pt x="3417339" y="1472807"/>
                </a:cubicBezTo>
                <a:lnTo>
                  <a:pt x="3417339" y="1472807"/>
                </a:lnTo>
              </a:path>
            </a:pathLst>
          </a:custGeom>
          <a:ln w="57150" cmpd="sng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5105400" y="3886200"/>
            <a:ext cx="3276600" cy="1948822"/>
          </a:xfrm>
          <a:custGeom>
            <a:avLst/>
            <a:gdLst>
              <a:gd name="connsiteX0" fmla="*/ 6172 w 3449698"/>
              <a:gd name="connsiteY0" fmla="*/ 1833165 h 1872622"/>
              <a:gd name="connsiteX1" fmla="*/ 202571 w 3449698"/>
              <a:gd name="connsiteY1" fmla="*/ 1859353 h 1872622"/>
              <a:gd name="connsiteX2" fmla="*/ 1341684 w 3449698"/>
              <a:gd name="connsiteY2" fmla="*/ 1820071 h 1872622"/>
              <a:gd name="connsiteX3" fmla="*/ 2376051 w 3449698"/>
              <a:gd name="connsiteY3" fmla="*/ 1322498 h 1872622"/>
              <a:gd name="connsiteX4" fmla="*/ 3449698 w 3449698"/>
              <a:gd name="connsiteY4" fmla="*/ 0 h 1872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9698" h="1872622">
                <a:moveTo>
                  <a:pt x="6172" y="1833165"/>
                </a:moveTo>
                <a:cubicBezTo>
                  <a:pt x="-6921" y="1847350"/>
                  <a:pt x="-20014" y="1861535"/>
                  <a:pt x="202571" y="1859353"/>
                </a:cubicBezTo>
                <a:cubicBezTo>
                  <a:pt x="425156" y="1857171"/>
                  <a:pt x="979437" y="1909547"/>
                  <a:pt x="1341684" y="1820071"/>
                </a:cubicBezTo>
                <a:cubicBezTo>
                  <a:pt x="1703931" y="1730595"/>
                  <a:pt x="2024715" y="1625843"/>
                  <a:pt x="2376051" y="1322498"/>
                </a:cubicBezTo>
                <a:cubicBezTo>
                  <a:pt x="2727387" y="1019153"/>
                  <a:pt x="3449698" y="0"/>
                  <a:pt x="3449698" y="0"/>
                </a:cubicBezTo>
              </a:path>
            </a:pathLst>
          </a:custGeom>
          <a:ln w="76200" cmpd="sng">
            <a:solidFill>
              <a:srgbClr val="6B6B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60066"/>
              </a:solidFill>
              <a:latin typeface="Andale Mono"/>
              <a:cs typeface="Andale Mono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6777188" y="1219200"/>
            <a:ext cx="2138212" cy="2438400"/>
            <a:chOff x="650113" y="431801"/>
            <a:chExt cx="2595412" cy="2124417"/>
          </a:xfrm>
        </p:grpSpPr>
        <p:pic>
          <p:nvPicPr>
            <p:cNvPr id="12" name="Picture 11" descr="KERTAS.jp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420579">
              <a:off x="650113" y="979909"/>
              <a:ext cx="2595412" cy="1576309"/>
            </a:xfrm>
            <a:prstGeom prst="rect">
              <a:avLst/>
            </a:prstGeom>
          </p:spPr>
        </p:pic>
        <p:sp>
          <p:nvSpPr>
            <p:cNvPr id="13" name="TextBox 12"/>
            <p:cNvSpPr txBox="1"/>
            <p:nvPr/>
          </p:nvSpPr>
          <p:spPr>
            <a:xfrm rot="19940650">
              <a:off x="1058175" y="1409341"/>
              <a:ext cx="1913467" cy="4558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smtClean="0">
                  <a:solidFill>
                    <a:srgbClr val="FF0000"/>
                  </a:solidFill>
                  <a:latin typeface="Comic Sans MS"/>
                  <a:cs typeface="Comic Sans MS"/>
                </a:rPr>
                <a:t>PENYERAPAN</a:t>
              </a:r>
            </a:p>
            <a:p>
              <a:pPr algn="ctr"/>
              <a:r>
                <a:rPr lang="en-US" sz="1400" dirty="0" smtClean="0">
                  <a:solidFill>
                    <a:srgbClr val="FF0000"/>
                  </a:solidFill>
                  <a:latin typeface="Comic Sans MS"/>
                  <a:cs typeface="Comic Sans MS"/>
                </a:rPr>
                <a:t>?</a:t>
              </a:r>
              <a:endParaRPr lang="en-US" sz="1400" dirty="0">
                <a:solidFill>
                  <a:srgbClr val="FF0000"/>
                </a:solidFill>
                <a:latin typeface="Comic Sans MS"/>
                <a:cs typeface="Comic Sans MS"/>
              </a:endParaRPr>
            </a:p>
          </p:txBody>
        </p:sp>
        <p:pic>
          <p:nvPicPr>
            <p:cNvPr id="14" name="Picture 13" descr="pin1.jpg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7492" y="431801"/>
              <a:ext cx="660401" cy="1092200"/>
            </a:xfrm>
            <a:prstGeom prst="rect">
              <a:avLst/>
            </a:prstGeom>
          </p:spPr>
        </p:pic>
      </p:grpSp>
      <p:pic>
        <p:nvPicPr>
          <p:cNvPr id="16" name="Picture 15" descr="KERTAS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20579">
            <a:off x="55" y="5056090"/>
            <a:ext cx="3062415" cy="180928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 rot="19940650">
            <a:off x="611522" y="5541363"/>
            <a:ext cx="19662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rgbClr val="FF0000"/>
                </a:solidFill>
                <a:latin typeface="Comic Sans MS"/>
                <a:cs typeface="Comic Sans MS"/>
              </a:rPr>
              <a:t>PERTANGGUNG-</a:t>
            </a:r>
          </a:p>
          <a:p>
            <a:pPr algn="ctr"/>
            <a:r>
              <a:rPr lang="en-US" sz="1600" dirty="0" smtClean="0">
                <a:solidFill>
                  <a:srgbClr val="FF0000"/>
                </a:solidFill>
                <a:latin typeface="Comic Sans MS"/>
                <a:cs typeface="Comic Sans MS"/>
              </a:rPr>
              <a:t>JAWABAN</a:t>
            </a:r>
          </a:p>
          <a:p>
            <a:pPr algn="ctr"/>
            <a:r>
              <a:rPr lang="en-US" sz="1600" dirty="0">
                <a:solidFill>
                  <a:srgbClr val="FF0000"/>
                </a:solidFill>
                <a:latin typeface="Comic Sans MS"/>
                <a:cs typeface="Comic Sans MS"/>
              </a:rPr>
              <a:t>?</a:t>
            </a:r>
          </a:p>
        </p:txBody>
      </p:sp>
      <p:pic>
        <p:nvPicPr>
          <p:cNvPr id="18" name="Picture 17" descr="pin1.jp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4648200"/>
            <a:ext cx="457201" cy="796424"/>
          </a:xfrm>
          <a:prstGeom prst="rect">
            <a:avLst/>
          </a:prstGeom>
        </p:spPr>
      </p:pic>
      <p:pic>
        <p:nvPicPr>
          <p:cNvPr id="20" name="Picture 19" descr="pin1.jp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1828800"/>
            <a:ext cx="457201" cy="79642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 rot="19487673">
            <a:off x="4704964" y="2051008"/>
            <a:ext cx="220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90"/>
                </a:solidFill>
              </a:rPr>
              <a:t>AKUNTABILITAS</a:t>
            </a:r>
            <a:endParaRPr lang="en-US" dirty="0">
              <a:solidFill>
                <a:srgbClr val="00009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909072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GARANSI KEGAGALAN KEGIATAN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378952" cy="4495800"/>
          </a:xfrm>
        </p:spPr>
        <p:txBody>
          <a:bodyPr/>
          <a:lstStyle/>
          <a:p>
            <a:pPr marL="342900" indent="-342900" eaLnBrk="1" hangingPunct="1">
              <a:buFont typeface="+mj-lt"/>
              <a:buAutoNum type="arabicPeriod"/>
            </a:pPr>
            <a:r>
              <a:rPr lang="en-US" sz="2800" dirty="0"/>
              <a:t>KOMUNIKASI YANG BURUK ANTAR </a:t>
            </a:r>
            <a:r>
              <a:rPr lang="en-US" sz="2800" i="1" dirty="0"/>
              <a:t>STAKEHOLDERS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BURUKNYA </a:t>
            </a:r>
            <a:r>
              <a:rPr lang="en-US" sz="2800" i="1" dirty="0"/>
              <a:t>LEADERSHIP</a:t>
            </a:r>
            <a:r>
              <a:rPr lang="en-US" sz="2800" dirty="0"/>
              <a:t> DAN </a:t>
            </a:r>
            <a:r>
              <a:rPr lang="en-US" sz="2800" i="1" dirty="0"/>
              <a:t>FOLLOWERSHIP</a:t>
            </a:r>
          </a:p>
          <a:p>
            <a:pPr marL="342900" indent="-342900" eaLnBrk="1" hangingPunct="1">
              <a:buFont typeface="+mj-lt"/>
              <a:buAutoNum type="arabicPeriod"/>
            </a:pPr>
            <a:r>
              <a:rPr lang="en-US" sz="2800" dirty="0"/>
              <a:t>TARGET, ANGGARAN, DAN WAKTU YANG TIDAK REALISTIK</a:t>
            </a:r>
          </a:p>
          <a:p>
            <a:pPr marL="342900" indent="-342900" eaLnBrk="1" hangingPunct="1">
              <a:buFont typeface="+mj-lt"/>
              <a:buAutoNum type="arabicPeriod"/>
            </a:pPr>
            <a:r>
              <a:rPr lang="en-US" sz="2800" dirty="0"/>
              <a:t>KURANGNYA SDM YANG KOMPETEN</a:t>
            </a:r>
          </a:p>
          <a:p>
            <a:pPr marL="342900" indent="-342900" eaLnBrk="1" hangingPunct="1">
              <a:buFont typeface="+mj-lt"/>
              <a:buAutoNum type="arabicPeriod"/>
            </a:pPr>
            <a:r>
              <a:rPr lang="en-US" sz="2800" dirty="0"/>
              <a:t>PENGABAIAN TERHADAP RESIKO</a:t>
            </a:r>
          </a:p>
          <a:p>
            <a:pPr marL="342900" indent="-342900" eaLnBrk="1" hangingPunct="1">
              <a:buFont typeface="+mj-lt"/>
              <a:buAutoNum type="arabicPeriod"/>
            </a:pPr>
            <a:r>
              <a:rPr lang="en-US" sz="2800" dirty="0"/>
              <a:t>PENYELEWENGAN </a:t>
            </a:r>
          </a:p>
          <a:p>
            <a:pPr marL="342900" indent="-342900" eaLnBrk="1" hangingPunct="1">
              <a:buFont typeface="+mj-lt"/>
              <a:buAutoNum type="arabicPeriod"/>
            </a:pPr>
            <a:r>
              <a:rPr lang="en-US" sz="2800" dirty="0"/>
              <a:t>POLITISASI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41535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609600" y="762000"/>
            <a:ext cx="8229600" cy="1143000"/>
          </a:xfrm>
          <a:prstGeom prst="rect">
            <a:avLst/>
          </a:prstGeom>
          <a:solidFill>
            <a:schemeClr val="accent5"/>
          </a:solidFill>
          <a:ln w="19050" cap="flat" cmpd="sng" algn="ctr">
            <a:solidFill>
              <a:schemeClr val="accent5">
                <a:shade val="50000"/>
              </a:schemeClr>
            </a:solidFill>
            <a:prstDash val="solid"/>
          </a:ln>
          <a:effectLst/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000090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charset="0"/>
                <a:ea typeface="ＭＳ Ｐゴシック" charset="0"/>
                <a:cs typeface="ＭＳ Ｐゴシック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charset="0"/>
                <a:ea typeface="ＭＳ Ｐゴシック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charset="0"/>
                <a:ea typeface="ＭＳ Ｐゴシック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charset="0"/>
                <a:ea typeface="ＭＳ Ｐゴシック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charset="0"/>
                <a:ea typeface="ＭＳ Ｐゴシック" charset="0"/>
              </a:defRPr>
            </a:lvl9pPr>
          </a:lstStyle>
          <a:p>
            <a:r>
              <a:rPr lang="en-US" sz="1600" dirty="0" smtClean="0">
                <a:latin typeface="Arial Narrow"/>
                <a:cs typeface="Arial Narrow"/>
              </a:rPr>
              <a:t>CONTOH </a:t>
            </a:r>
            <a:r>
              <a:rPr lang="en-US" dirty="0" smtClean="0">
                <a:latin typeface="Arial Narrow"/>
                <a:cs typeface="Arial Narrow"/>
              </a:rPr>
              <a:t/>
            </a:r>
            <a:br>
              <a:rPr lang="en-US" dirty="0" smtClean="0">
                <a:latin typeface="Arial Narrow"/>
                <a:cs typeface="Arial Narrow"/>
              </a:rPr>
            </a:br>
            <a:r>
              <a:rPr lang="en-US" dirty="0" smtClean="0">
                <a:latin typeface="Arial Narrow"/>
                <a:cs typeface="Arial Narrow"/>
              </a:rPr>
              <a:t>DIPA PUSAT TIK NASIONAL </a:t>
            </a:r>
            <a:endParaRPr lang="en-US" dirty="0">
              <a:latin typeface="Arial Narrow"/>
              <a:cs typeface="Arial Narrow"/>
            </a:endParaRPr>
          </a:p>
        </p:txBody>
      </p:sp>
      <p:pic>
        <p:nvPicPr>
          <p:cNvPr id="5" name="Picture 4" descr="crowded.gif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2011362"/>
            <a:ext cx="3886200" cy="4521200"/>
          </a:xfrm>
          <a:prstGeom prst="rect">
            <a:avLst/>
          </a:prstGeom>
        </p:spPr>
      </p:pic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629400" y="1325562"/>
            <a:ext cx="2133600" cy="457199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253327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253327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253327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rgbClr val="253327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253327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253327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253327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253327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253327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sz="18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  <a:latin typeface="Arial Narrow"/>
                <a:cs typeface="Arial Narrow"/>
              </a:rPr>
              <a:t>4,746,000,000</a:t>
            </a:r>
            <a:endParaRPr lang="en-US" sz="1800" dirty="0">
              <a:solidFill>
                <a:schemeClr val="tx1"/>
              </a:solidFill>
              <a:latin typeface="Arial Narrow"/>
              <a:cs typeface="Arial Narrow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990600" y="4449763"/>
            <a:ext cx="3429000" cy="457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253327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253327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253327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rgbClr val="253327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253327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253327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253327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253327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253327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sz="1800" dirty="0" err="1" smtClean="0">
                <a:solidFill>
                  <a:schemeClr val="tx1"/>
                </a:solidFill>
                <a:latin typeface="Arial Narrow"/>
                <a:cs typeface="Arial Narrow"/>
              </a:rPr>
              <a:t>Interaksi</a:t>
            </a:r>
            <a:r>
              <a:rPr lang="en-US" sz="1800" dirty="0" smtClean="0">
                <a:solidFill>
                  <a:schemeClr val="tx1"/>
                </a:solidFill>
                <a:latin typeface="Arial Narrow"/>
                <a:cs typeface="Arial Narrow"/>
              </a:rPr>
              <a:t> 1,982 orang</a:t>
            </a:r>
            <a:endParaRPr lang="en-US" sz="1800" dirty="0">
              <a:solidFill>
                <a:schemeClr val="tx1"/>
              </a:solidFill>
              <a:latin typeface="Arial Narrow"/>
              <a:cs typeface="Arial Narrow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5867400" y="4221162"/>
            <a:ext cx="2133600" cy="457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253327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253327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253327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rgbClr val="253327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253327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253327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253327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253327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253327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sz="1800" dirty="0" err="1" smtClean="0">
                <a:solidFill>
                  <a:schemeClr val="tx1"/>
                </a:solidFill>
                <a:latin typeface="Arial Narrow"/>
                <a:cs typeface="Arial Narrow"/>
              </a:rPr>
              <a:t>Listrik</a:t>
            </a:r>
            <a:r>
              <a:rPr lang="en-US" sz="1800" dirty="0" smtClean="0">
                <a:solidFill>
                  <a:schemeClr val="tx1"/>
                </a:solidFill>
                <a:latin typeface="Arial Narrow"/>
                <a:cs typeface="Arial Narrow"/>
              </a:rPr>
              <a:t> 10,880 KVA</a:t>
            </a:r>
            <a:endParaRPr lang="en-US" sz="1800" dirty="0">
              <a:solidFill>
                <a:schemeClr val="tx1"/>
              </a:solidFill>
              <a:latin typeface="Arial Narrow"/>
              <a:cs typeface="Arial Narrow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4267200" y="2239962"/>
            <a:ext cx="4267200" cy="457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253327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253327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253327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rgbClr val="253327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253327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253327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253327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253327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253327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sz="1800" dirty="0" smtClean="0">
                <a:solidFill>
                  <a:schemeClr val="tx1"/>
                </a:solidFill>
                <a:latin typeface="Arial Narrow"/>
                <a:cs typeface="Arial Narrow"/>
              </a:rPr>
              <a:t>33 </a:t>
            </a:r>
            <a:r>
              <a:rPr lang="en-US" sz="1800" dirty="0" err="1" smtClean="0">
                <a:solidFill>
                  <a:schemeClr val="tx1"/>
                </a:solidFill>
                <a:latin typeface="Arial Narrow"/>
                <a:cs typeface="Arial Narrow"/>
              </a:rPr>
              <a:t>sekuriti</a:t>
            </a:r>
            <a:r>
              <a:rPr lang="en-US" sz="1800" dirty="0" smtClean="0">
                <a:solidFill>
                  <a:schemeClr val="tx1"/>
                </a:solidFill>
                <a:latin typeface="Arial Narrow"/>
                <a:cs typeface="Arial Narrow"/>
              </a:rPr>
              <a:t> + </a:t>
            </a:r>
            <a:r>
              <a:rPr lang="en-US" sz="1800" dirty="0" err="1" smtClean="0">
                <a:solidFill>
                  <a:schemeClr val="tx1"/>
                </a:solidFill>
                <a:latin typeface="Arial Narrow"/>
                <a:cs typeface="Arial Narrow"/>
              </a:rPr>
              <a:t>tenaga</a:t>
            </a:r>
            <a:r>
              <a:rPr lang="en-US" sz="1800" dirty="0" smtClean="0">
                <a:solidFill>
                  <a:schemeClr val="tx1"/>
                </a:solidFill>
                <a:latin typeface="Arial Narrow"/>
                <a:cs typeface="Arial Narrow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 Narrow"/>
                <a:cs typeface="Arial Narrow"/>
              </a:rPr>
              <a:t>kebersihan</a:t>
            </a:r>
            <a:endParaRPr lang="en-US" sz="1800" dirty="0">
              <a:solidFill>
                <a:schemeClr val="tx1"/>
              </a:solidFill>
              <a:latin typeface="Arial Narrow"/>
              <a:cs typeface="Arial Narrow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1295400" y="5287962"/>
            <a:ext cx="2133600" cy="457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253327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253327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253327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rgbClr val="253327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253327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253327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253327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253327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253327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sz="1800" dirty="0" err="1" smtClean="0">
                <a:solidFill>
                  <a:schemeClr val="tx1"/>
                </a:solidFill>
                <a:latin typeface="Arial Narrow"/>
                <a:cs typeface="Arial Narrow"/>
              </a:rPr>
              <a:t>Katering</a:t>
            </a:r>
            <a:r>
              <a:rPr lang="en-US" sz="1800" dirty="0" smtClean="0">
                <a:solidFill>
                  <a:schemeClr val="tx1"/>
                </a:solidFill>
                <a:latin typeface="Arial Narrow"/>
                <a:cs typeface="Arial Narrow"/>
              </a:rPr>
              <a:t> + ATK  1,430 orang</a:t>
            </a:r>
            <a:endParaRPr lang="en-US" sz="1800" dirty="0">
              <a:solidFill>
                <a:schemeClr val="tx1"/>
              </a:solidFill>
              <a:latin typeface="Arial Narrow"/>
              <a:cs typeface="Arial Narrow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6248400" y="2697162"/>
            <a:ext cx="2133600" cy="457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253327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253327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253327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rgbClr val="253327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253327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253327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253327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253327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253327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sz="1800" dirty="0" err="1" smtClean="0">
                <a:solidFill>
                  <a:schemeClr val="tx1"/>
                </a:solidFill>
                <a:latin typeface="Arial Narrow"/>
                <a:cs typeface="Arial Narrow"/>
              </a:rPr>
              <a:t>Staf</a:t>
            </a:r>
            <a:r>
              <a:rPr lang="en-US" sz="1800" dirty="0" smtClean="0">
                <a:solidFill>
                  <a:schemeClr val="tx1"/>
                </a:solidFill>
                <a:latin typeface="Arial Narrow"/>
                <a:cs typeface="Arial Narrow"/>
              </a:rPr>
              <a:t> 31 orang</a:t>
            </a:r>
            <a:endParaRPr lang="en-US" sz="1800" dirty="0">
              <a:solidFill>
                <a:schemeClr val="tx1"/>
              </a:solidFill>
              <a:latin typeface="Arial Narrow"/>
              <a:cs typeface="Arial Narrow"/>
            </a:endParaRP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6705600" y="3200400"/>
            <a:ext cx="2133600" cy="457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253327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253327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253327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rgbClr val="253327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253327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253327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253327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253327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253327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sz="1800" dirty="0" smtClean="0">
                <a:solidFill>
                  <a:schemeClr val="tx1"/>
                </a:solidFill>
                <a:latin typeface="Arial Narrow"/>
                <a:cs typeface="Arial Narrow"/>
              </a:rPr>
              <a:t>7 </a:t>
            </a:r>
            <a:r>
              <a:rPr lang="en-US" sz="1800" dirty="0" err="1" smtClean="0">
                <a:solidFill>
                  <a:schemeClr val="tx1"/>
                </a:solidFill>
                <a:latin typeface="Arial Narrow"/>
                <a:cs typeface="Arial Narrow"/>
              </a:rPr>
              <a:t>cuti</a:t>
            </a:r>
            <a:endParaRPr lang="en-US" sz="1800" dirty="0">
              <a:solidFill>
                <a:schemeClr val="tx1"/>
              </a:solidFill>
              <a:latin typeface="Arial Narrow"/>
              <a:cs typeface="Arial Narrow"/>
            </a:endParaRP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1219200" y="2087563"/>
            <a:ext cx="3886200" cy="457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19088" indent="-319088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charset="0"/>
              <a:buChar char=""/>
              <a:defRPr sz="2900" kern="12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39763" indent="-273050" algn="l" rtl="0" eaLnBrk="0" fontAlgn="base" hangingPunct="0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charset="0"/>
              <a:buChar char=""/>
              <a:defRPr sz="26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914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charset="0"/>
              <a:buChar char=""/>
              <a:defRPr sz="23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1371600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A5AB81"/>
              </a:buClr>
              <a:buSzPct val="75000"/>
              <a:buFont typeface="Wingdings" charset="0"/>
              <a:buChar char="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1828800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charset="0"/>
              <a:buChar char="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charset="0"/>
              <a:buNone/>
            </a:pPr>
            <a:r>
              <a:rPr lang="en-US" sz="1800" dirty="0" smtClean="0">
                <a:latin typeface="Arial Narrow"/>
                <a:cs typeface="Arial Narrow"/>
              </a:rPr>
              <a:t>35 </a:t>
            </a:r>
            <a:r>
              <a:rPr lang="en-US" sz="1800" dirty="0" err="1" smtClean="0">
                <a:latin typeface="Arial Narrow"/>
                <a:cs typeface="Arial Narrow"/>
              </a:rPr>
              <a:t>Kegiatan</a:t>
            </a:r>
            <a:endParaRPr lang="en-US" sz="1800" dirty="0" smtClean="0">
              <a:latin typeface="Arial Narrow"/>
              <a:cs typeface="Arial Narrow"/>
            </a:endParaRPr>
          </a:p>
          <a:p>
            <a:pPr marL="0" indent="0">
              <a:buFont typeface="Wingdings" charset="0"/>
              <a:buNone/>
            </a:pPr>
            <a:endParaRPr lang="en-US" sz="1800" dirty="0" smtClean="0">
              <a:latin typeface="Arial Narrow"/>
              <a:cs typeface="Arial Narrow"/>
            </a:endParaRPr>
          </a:p>
          <a:p>
            <a:pPr marL="0" indent="0">
              <a:buFont typeface="Wingdings" charset="0"/>
              <a:buNone/>
            </a:pPr>
            <a:r>
              <a:rPr lang="en-US" sz="1800" dirty="0" err="1" smtClean="0">
                <a:latin typeface="Arial Narrow"/>
                <a:cs typeface="Arial Narrow"/>
              </a:rPr>
              <a:t>Pengembangan</a:t>
            </a:r>
            <a:r>
              <a:rPr lang="en-US" sz="1800" dirty="0" smtClean="0">
                <a:latin typeface="Arial Narrow"/>
                <a:cs typeface="Arial Narrow"/>
              </a:rPr>
              <a:t> </a:t>
            </a:r>
            <a:r>
              <a:rPr lang="en-US" sz="1800" dirty="0" err="1" smtClean="0">
                <a:latin typeface="Arial Narrow"/>
                <a:cs typeface="Arial Narrow"/>
              </a:rPr>
              <a:t>Aplikasi</a:t>
            </a:r>
            <a:endParaRPr lang="en-US" sz="1800" dirty="0" smtClean="0">
              <a:latin typeface="Arial Narrow"/>
              <a:cs typeface="Arial Narrow"/>
            </a:endParaRPr>
          </a:p>
          <a:p>
            <a:pPr marL="0" indent="0">
              <a:buFont typeface="Wingdings" charset="0"/>
              <a:buNone/>
            </a:pPr>
            <a:r>
              <a:rPr lang="en-US" sz="1800" dirty="0" smtClean="0">
                <a:latin typeface="Arial Narrow"/>
                <a:cs typeface="Arial Narrow"/>
              </a:rPr>
              <a:t>      </a:t>
            </a:r>
            <a:r>
              <a:rPr lang="en-US" sz="1800" dirty="0" err="1" smtClean="0">
                <a:latin typeface="Arial Narrow"/>
                <a:cs typeface="Arial Narrow"/>
              </a:rPr>
              <a:t>Pembuatan</a:t>
            </a:r>
            <a:r>
              <a:rPr lang="en-US" sz="1800" dirty="0" smtClean="0">
                <a:latin typeface="Arial Narrow"/>
                <a:cs typeface="Arial Narrow"/>
              </a:rPr>
              <a:t> </a:t>
            </a:r>
            <a:r>
              <a:rPr lang="en-US" sz="1800" dirty="0" err="1" smtClean="0">
                <a:latin typeface="Arial Narrow"/>
                <a:cs typeface="Arial Narrow"/>
              </a:rPr>
              <a:t>modul</a:t>
            </a:r>
            <a:endParaRPr lang="en-US" sz="1800" dirty="0" smtClean="0">
              <a:latin typeface="Arial Narrow"/>
              <a:cs typeface="Arial Narrow"/>
            </a:endParaRPr>
          </a:p>
          <a:p>
            <a:pPr marL="0" indent="0">
              <a:buFont typeface="Wingdings" charset="0"/>
              <a:buNone/>
            </a:pPr>
            <a:r>
              <a:rPr lang="en-US" sz="1800" dirty="0" smtClean="0">
                <a:latin typeface="Arial Narrow"/>
                <a:cs typeface="Arial Narrow"/>
              </a:rPr>
              <a:t>         </a:t>
            </a:r>
            <a:r>
              <a:rPr lang="en-US" sz="1800" dirty="0" err="1" smtClean="0">
                <a:latin typeface="Arial Narrow"/>
                <a:cs typeface="Arial Narrow"/>
              </a:rPr>
              <a:t>Riset</a:t>
            </a:r>
            <a:r>
              <a:rPr lang="en-US" sz="1800" dirty="0" smtClean="0">
                <a:latin typeface="Arial Narrow"/>
                <a:cs typeface="Arial Narrow"/>
              </a:rPr>
              <a:t> </a:t>
            </a:r>
            <a:r>
              <a:rPr lang="en-US" sz="1800" dirty="0" err="1" smtClean="0">
                <a:latin typeface="Arial Narrow"/>
                <a:cs typeface="Arial Narrow"/>
              </a:rPr>
              <a:t>terapan</a:t>
            </a:r>
            <a:endParaRPr lang="en-US" sz="1800" dirty="0" smtClean="0">
              <a:latin typeface="Arial Narrow"/>
              <a:cs typeface="Arial Narrow"/>
            </a:endParaRPr>
          </a:p>
          <a:p>
            <a:pPr marL="0" indent="0">
              <a:buFont typeface="Wingdings" charset="0"/>
              <a:buNone/>
            </a:pPr>
            <a:r>
              <a:rPr lang="en-US" sz="1800" dirty="0" smtClean="0">
                <a:latin typeface="Arial Narrow"/>
                <a:cs typeface="Arial Narrow"/>
              </a:rPr>
              <a:t>                </a:t>
            </a:r>
            <a:r>
              <a:rPr lang="en-US" sz="1800" dirty="0" err="1" smtClean="0">
                <a:latin typeface="Arial Narrow"/>
                <a:cs typeface="Arial Narrow"/>
              </a:rPr>
              <a:t>Pelatihan</a:t>
            </a:r>
            <a:endParaRPr lang="en-US" sz="1800" dirty="0">
              <a:latin typeface="Arial Narrow"/>
              <a:cs typeface="Arial Narrow"/>
            </a:endParaRPr>
          </a:p>
        </p:txBody>
      </p:sp>
      <p:sp>
        <p:nvSpPr>
          <p:cNvPr id="14" name="Rectangle 3"/>
          <p:cNvSpPr txBox="1">
            <a:spLocks noChangeArrowheads="1"/>
          </p:cNvSpPr>
          <p:nvPr/>
        </p:nvSpPr>
        <p:spPr bwMode="auto">
          <a:xfrm>
            <a:off x="5562600" y="4906962"/>
            <a:ext cx="2133600" cy="457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253327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253327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253327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rgbClr val="253327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253327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253327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253327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253327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253327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sz="1800" dirty="0" smtClean="0">
                <a:solidFill>
                  <a:srgbClr val="FF0000"/>
                </a:solidFill>
                <a:latin typeface="Arial Narrow"/>
                <a:cs typeface="Arial Narrow"/>
              </a:rPr>
              <a:t>261 </a:t>
            </a:r>
            <a:r>
              <a:rPr lang="en-US" sz="1800" dirty="0" err="1" smtClean="0">
                <a:solidFill>
                  <a:srgbClr val="FF0000"/>
                </a:solidFill>
                <a:latin typeface="Arial Narrow"/>
                <a:cs typeface="Arial Narrow"/>
              </a:rPr>
              <a:t>hari</a:t>
            </a:r>
            <a:r>
              <a:rPr lang="en-US" sz="1800" dirty="0" smtClean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lang="en-US" sz="1800" dirty="0" err="1" smtClean="0">
                <a:solidFill>
                  <a:srgbClr val="FF0000"/>
                </a:solidFill>
                <a:latin typeface="Arial Narrow"/>
                <a:cs typeface="Arial Narrow"/>
              </a:rPr>
              <a:t>kerja</a:t>
            </a:r>
            <a:endParaRPr lang="en-US" sz="1800" dirty="0">
              <a:solidFill>
                <a:srgbClr val="FF0000"/>
              </a:solidFill>
              <a:latin typeface="Arial Narrow"/>
              <a:cs typeface="Arial Narrow"/>
            </a:endParaRPr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 bwMode="auto">
          <a:xfrm>
            <a:off x="5105400" y="5668962"/>
            <a:ext cx="3505200" cy="457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253327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253327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253327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rgbClr val="253327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253327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253327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253327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253327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253327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sz="1800" dirty="0" err="1" smtClean="0">
                <a:solidFill>
                  <a:schemeClr val="tx1"/>
                </a:solidFill>
                <a:latin typeface="Arial Narrow"/>
                <a:cs typeface="Arial Narrow"/>
              </a:rPr>
              <a:t>Perawatan</a:t>
            </a:r>
            <a:r>
              <a:rPr lang="en-US" sz="1800" dirty="0" smtClean="0">
                <a:solidFill>
                  <a:schemeClr val="tx1"/>
                </a:solidFill>
                <a:latin typeface="Arial Narrow"/>
                <a:cs typeface="Arial Narrow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 Narrow"/>
                <a:cs typeface="Arial Narrow"/>
              </a:rPr>
              <a:t>gedung</a:t>
            </a:r>
            <a:r>
              <a:rPr lang="en-US" sz="1800" dirty="0" smtClean="0">
                <a:solidFill>
                  <a:schemeClr val="tx1"/>
                </a:solidFill>
                <a:latin typeface="Arial Narrow"/>
                <a:cs typeface="Arial Narrow"/>
              </a:rPr>
              <a:t> 9,300 M</a:t>
            </a:r>
            <a:endParaRPr lang="en-US" sz="1800" dirty="0">
              <a:solidFill>
                <a:schemeClr val="tx1"/>
              </a:solidFill>
              <a:latin typeface="Arial Narrow"/>
              <a:cs typeface="Arial Narrow"/>
            </a:endParaRPr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 bwMode="auto">
          <a:xfrm>
            <a:off x="1752600" y="6278562"/>
            <a:ext cx="6248400" cy="457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253327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253327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253327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rgbClr val="253327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253327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253327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253327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253327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253327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sz="1800" dirty="0" err="1" smtClean="0">
                <a:solidFill>
                  <a:schemeClr val="tx1"/>
                </a:solidFill>
                <a:latin typeface="Arial Narrow"/>
                <a:cs typeface="Arial Narrow"/>
              </a:rPr>
              <a:t>Perawatan</a:t>
            </a:r>
            <a:r>
              <a:rPr lang="en-US" sz="1800" dirty="0" smtClean="0">
                <a:solidFill>
                  <a:schemeClr val="tx1"/>
                </a:solidFill>
                <a:latin typeface="Arial Narrow"/>
                <a:cs typeface="Arial Narrow"/>
              </a:rPr>
              <a:t> 330 </a:t>
            </a:r>
            <a:r>
              <a:rPr lang="en-US" sz="1800" dirty="0" err="1" smtClean="0">
                <a:solidFill>
                  <a:schemeClr val="tx1"/>
                </a:solidFill>
                <a:latin typeface="Arial Narrow"/>
                <a:cs typeface="Arial Narrow"/>
              </a:rPr>
              <a:t>komputer</a:t>
            </a:r>
            <a:r>
              <a:rPr lang="en-US" sz="1800" dirty="0" smtClean="0">
                <a:solidFill>
                  <a:schemeClr val="tx1"/>
                </a:solidFill>
                <a:latin typeface="Arial Narrow"/>
                <a:cs typeface="Arial Narrow"/>
              </a:rPr>
              <a:t>, 200 AC, </a:t>
            </a:r>
            <a:r>
              <a:rPr lang="en-US" sz="1800" dirty="0" err="1" smtClean="0">
                <a:solidFill>
                  <a:schemeClr val="tx1"/>
                </a:solidFill>
                <a:latin typeface="Arial Narrow"/>
                <a:cs typeface="Arial Narrow"/>
              </a:rPr>
              <a:t>genset</a:t>
            </a:r>
            <a:r>
              <a:rPr lang="en-US" sz="1800" dirty="0" smtClean="0">
                <a:solidFill>
                  <a:schemeClr val="tx1"/>
                </a:solidFill>
                <a:latin typeface="Arial Narrow"/>
                <a:cs typeface="Arial Narrow"/>
              </a:rPr>
              <a:t>, server, </a:t>
            </a:r>
            <a:r>
              <a:rPr lang="en-US" sz="1800" dirty="0" err="1" smtClean="0">
                <a:solidFill>
                  <a:schemeClr val="tx1"/>
                </a:solidFill>
                <a:latin typeface="Arial Narrow"/>
                <a:cs typeface="Arial Narrow"/>
              </a:rPr>
              <a:t>dlll</a:t>
            </a:r>
            <a:endParaRPr lang="en-US" sz="1800" dirty="0">
              <a:solidFill>
                <a:schemeClr val="tx1"/>
              </a:solidFill>
              <a:latin typeface="Arial Narrow"/>
              <a:cs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321621039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 smtClean="0"/>
              <a:t>MATRIKS : </a:t>
            </a:r>
            <a:br>
              <a:rPr lang="en-US" sz="2400" dirty="0" smtClean="0"/>
            </a:br>
            <a:r>
              <a:rPr lang="en-US" sz="2400" dirty="0" smtClean="0"/>
              <a:t>SWAKELOLA ATAU KONTRAKTUAL?</a:t>
            </a:r>
            <a:endParaRPr lang="en-US" sz="2400" dirty="0"/>
          </a:p>
        </p:txBody>
      </p:sp>
      <p:pic>
        <p:nvPicPr>
          <p:cNvPr id="164" name="Picture 16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81000" y="1066800"/>
            <a:ext cx="7442200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321897"/>
      </p:ext>
    </p:extLst>
  </p:cSld>
  <p:clrMapOvr>
    <a:masterClrMapping/>
  </p:clrMapOvr>
  <p:transition xmlns:p14="http://schemas.microsoft.com/office/powerpoint/2010/main" spd="slow">
    <p:pull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 smtClean="0"/>
              <a:t>SWAKELOLA VS KONTRAKTUAL</a:t>
            </a:r>
            <a:endParaRPr lang="en-US" dirty="0"/>
          </a:p>
        </p:txBody>
      </p:sp>
      <p:sp>
        <p:nvSpPr>
          <p:cNvPr id="4" name="Oval 74"/>
          <p:cNvSpPr>
            <a:spLocks noChangeArrowheads="1"/>
          </p:cNvSpPr>
          <p:nvPr/>
        </p:nvSpPr>
        <p:spPr bwMode="auto">
          <a:xfrm>
            <a:off x="228600" y="838200"/>
            <a:ext cx="4572000" cy="3200400"/>
          </a:xfrm>
          <a:prstGeom prst="ellipse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sz="1600">
              <a:solidFill>
                <a:srgbClr val="F8FAF4"/>
              </a:solidFill>
            </a:endParaRPr>
          </a:p>
        </p:txBody>
      </p:sp>
      <p:sp>
        <p:nvSpPr>
          <p:cNvPr id="5" name="Oval 76"/>
          <p:cNvSpPr>
            <a:spLocks noChangeArrowheads="1"/>
          </p:cNvSpPr>
          <p:nvPr/>
        </p:nvSpPr>
        <p:spPr bwMode="auto">
          <a:xfrm>
            <a:off x="1676400" y="838200"/>
            <a:ext cx="1219200" cy="609600"/>
          </a:xfrm>
          <a:prstGeom prst="ellipse">
            <a:avLst/>
          </a:prstGeom>
          <a:noFill/>
          <a:ln w="19050" cap="sq">
            <a:solidFill>
              <a:srgbClr val="5F5F5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6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6" name="Text Box 77"/>
          <p:cNvSpPr txBox="1">
            <a:spLocks noChangeArrowheads="1"/>
          </p:cNvSpPr>
          <p:nvPr/>
        </p:nvSpPr>
        <p:spPr bwMode="auto">
          <a:xfrm>
            <a:off x="1905000" y="914400"/>
            <a:ext cx="12954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1600" dirty="0" smtClean="0">
                <a:solidFill>
                  <a:srgbClr val="FFFFFF"/>
                </a:solidFill>
                <a:latin typeface="+mn-lt"/>
              </a:rPr>
              <a:t>M&amp;E</a:t>
            </a:r>
            <a:endParaRPr lang="en-US" sz="16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7" name="Oval 78"/>
          <p:cNvSpPr>
            <a:spLocks noChangeArrowheads="1"/>
          </p:cNvSpPr>
          <p:nvPr/>
        </p:nvSpPr>
        <p:spPr bwMode="auto">
          <a:xfrm>
            <a:off x="609600" y="1295400"/>
            <a:ext cx="1219200" cy="609600"/>
          </a:xfrm>
          <a:prstGeom prst="ellipse">
            <a:avLst/>
          </a:prstGeom>
          <a:noFill/>
          <a:ln w="19050" cap="sq">
            <a:solidFill>
              <a:srgbClr val="5F5F5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6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8" name="Text Box 79"/>
          <p:cNvSpPr txBox="1">
            <a:spLocks noChangeArrowheads="1"/>
          </p:cNvSpPr>
          <p:nvPr/>
        </p:nvSpPr>
        <p:spPr bwMode="auto">
          <a:xfrm>
            <a:off x="990600" y="1447800"/>
            <a:ext cx="12954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1600" dirty="0" smtClean="0">
                <a:solidFill>
                  <a:srgbClr val="FFFFFF"/>
                </a:solidFill>
                <a:latin typeface="+mn-lt"/>
              </a:rPr>
              <a:t>IT</a:t>
            </a:r>
            <a:endParaRPr lang="en-US" sz="16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9" name="Oval 80"/>
          <p:cNvSpPr>
            <a:spLocks noChangeArrowheads="1"/>
          </p:cNvSpPr>
          <p:nvPr/>
        </p:nvSpPr>
        <p:spPr bwMode="auto">
          <a:xfrm>
            <a:off x="381000" y="2057400"/>
            <a:ext cx="1219200" cy="685800"/>
          </a:xfrm>
          <a:prstGeom prst="ellipse">
            <a:avLst/>
          </a:prstGeom>
          <a:noFill/>
          <a:ln w="19050" cap="sq">
            <a:solidFill>
              <a:srgbClr val="5F5F5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6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0" name="Oval 81"/>
          <p:cNvSpPr>
            <a:spLocks noChangeArrowheads="1"/>
          </p:cNvSpPr>
          <p:nvPr/>
        </p:nvSpPr>
        <p:spPr bwMode="auto">
          <a:xfrm>
            <a:off x="914400" y="2895600"/>
            <a:ext cx="1219200" cy="609600"/>
          </a:xfrm>
          <a:prstGeom prst="ellipse">
            <a:avLst/>
          </a:prstGeom>
          <a:noFill/>
          <a:ln w="19050" cap="sq">
            <a:solidFill>
              <a:srgbClr val="5F5F5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6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1" name="Oval 82"/>
          <p:cNvSpPr>
            <a:spLocks noChangeArrowheads="1"/>
          </p:cNvSpPr>
          <p:nvPr/>
        </p:nvSpPr>
        <p:spPr bwMode="auto">
          <a:xfrm>
            <a:off x="2438400" y="2895600"/>
            <a:ext cx="1219200" cy="609600"/>
          </a:xfrm>
          <a:prstGeom prst="ellipse">
            <a:avLst/>
          </a:prstGeom>
          <a:noFill/>
          <a:ln w="19050" cap="sq">
            <a:solidFill>
              <a:srgbClr val="5F5F5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6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2" name="Oval 83"/>
          <p:cNvSpPr>
            <a:spLocks noChangeArrowheads="1"/>
          </p:cNvSpPr>
          <p:nvPr/>
        </p:nvSpPr>
        <p:spPr bwMode="auto">
          <a:xfrm>
            <a:off x="3124200" y="2133600"/>
            <a:ext cx="1447800" cy="609600"/>
          </a:xfrm>
          <a:prstGeom prst="ellipse">
            <a:avLst/>
          </a:prstGeom>
          <a:noFill/>
          <a:ln w="19050" cap="sq">
            <a:solidFill>
              <a:srgbClr val="5F5F5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6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3" name="Oval 84"/>
          <p:cNvSpPr>
            <a:spLocks noChangeArrowheads="1"/>
          </p:cNvSpPr>
          <p:nvPr/>
        </p:nvSpPr>
        <p:spPr bwMode="auto">
          <a:xfrm>
            <a:off x="2743200" y="1371600"/>
            <a:ext cx="1219200" cy="609600"/>
          </a:xfrm>
          <a:prstGeom prst="ellipse">
            <a:avLst/>
          </a:prstGeom>
          <a:noFill/>
          <a:ln w="19050" cap="sq">
            <a:solidFill>
              <a:srgbClr val="5F5F5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6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4" name="Oval 85"/>
          <p:cNvSpPr>
            <a:spLocks noChangeArrowheads="1"/>
          </p:cNvSpPr>
          <p:nvPr/>
        </p:nvSpPr>
        <p:spPr bwMode="auto">
          <a:xfrm>
            <a:off x="1752600" y="1981200"/>
            <a:ext cx="1219200" cy="914400"/>
          </a:xfrm>
          <a:prstGeom prst="ellipse">
            <a:avLst/>
          </a:prstGeom>
          <a:ln>
            <a:headEnd type="none" w="sm" len="sm"/>
            <a:tailEnd type="none" w="sm" len="sm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sz="1600">
              <a:solidFill>
                <a:srgbClr val="FFFFFF"/>
              </a:solidFill>
            </a:endParaRPr>
          </a:p>
        </p:txBody>
      </p:sp>
      <p:sp>
        <p:nvSpPr>
          <p:cNvPr id="15" name="Text Box 86"/>
          <p:cNvSpPr txBox="1">
            <a:spLocks noChangeArrowheads="1"/>
          </p:cNvSpPr>
          <p:nvPr/>
        </p:nvSpPr>
        <p:spPr bwMode="auto">
          <a:xfrm>
            <a:off x="1752600" y="2283023"/>
            <a:ext cx="12192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sz="1600" dirty="0" smtClean="0">
                <a:solidFill>
                  <a:srgbClr val="FFFFFF"/>
                </a:solidFill>
                <a:latin typeface="+mn-lt"/>
              </a:rPr>
              <a:t>TUPOKSI</a:t>
            </a:r>
            <a:endParaRPr lang="en-US" sz="16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6" name="Text Box 87"/>
          <p:cNvSpPr txBox="1">
            <a:spLocks noChangeArrowheads="1"/>
          </p:cNvSpPr>
          <p:nvPr/>
        </p:nvSpPr>
        <p:spPr bwMode="auto">
          <a:xfrm>
            <a:off x="304800" y="2206823"/>
            <a:ext cx="13716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sz="1600" dirty="0" smtClean="0">
                <a:solidFill>
                  <a:srgbClr val="FFFFFF"/>
                </a:solidFill>
                <a:latin typeface="+mn-lt"/>
              </a:rPr>
              <a:t>AKUNTANSI</a:t>
            </a:r>
            <a:endParaRPr lang="en-US" sz="16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7" name="Text Box 88"/>
          <p:cNvSpPr txBox="1">
            <a:spLocks noChangeArrowheads="1"/>
          </p:cNvSpPr>
          <p:nvPr/>
        </p:nvSpPr>
        <p:spPr bwMode="auto">
          <a:xfrm>
            <a:off x="1066800" y="3048000"/>
            <a:ext cx="16764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1600" dirty="0" smtClean="0">
                <a:solidFill>
                  <a:srgbClr val="FFFFFF"/>
                </a:solidFill>
                <a:latin typeface="+mn-lt"/>
              </a:rPr>
              <a:t>TAMAN</a:t>
            </a:r>
            <a:endParaRPr lang="en-US" sz="16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8" name="Text Box 89"/>
          <p:cNvSpPr txBox="1">
            <a:spLocks noChangeArrowheads="1"/>
          </p:cNvSpPr>
          <p:nvPr/>
        </p:nvSpPr>
        <p:spPr bwMode="auto">
          <a:xfrm>
            <a:off x="2362200" y="3090446"/>
            <a:ext cx="14478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sz="1600" dirty="0" smtClean="0">
                <a:solidFill>
                  <a:srgbClr val="FFFFFF"/>
                </a:solidFill>
                <a:latin typeface="+mn-lt"/>
              </a:rPr>
              <a:t>KATERING</a:t>
            </a:r>
            <a:endParaRPr lang="en-US" sz="16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9" name="Text Box 90"/>
          <p:cNvSpPr txBox="1">
            <a:spLocks noChangeArrowheads="1"/>
          </p:cNvSpPr>
          <p:nvPr/>
        </p:nvSpPr>
        <p:spPr bwMode="auto">
          <a:xfrm>
            <a:off x="2514600" y="1521023"/>
            <a:ext cx="16002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sz="1600" dirty="0" smtClean="0">
                <a:solidFill>
                  <a:srgbClr val="FFFFFF"/>
                </a:solidFill>
                <a:latin typeface="+mn-lt"/>
              </a:rPr>
              <a:t>KEAMANAN</a:t>
            </a:r>
            <a:endParaRPr lang="en-US" sz="16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20" name="Text Box 91"/>
          <p:cNvSpPr txBox="1">
            <a:spLocks noChangeArrowheads="1"/>
          </p:cNvSpPr>
          <p:nvPr/>
        </p:nvSpPr>
        <p:spPr bwMode="auto">
          <a:xfrm>
            <a:off x="2971800" y="2286000"/>
            <a:ext cx="19812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sz="1600" dirty="0" smtClean="0">
                <a:solidFill>
                  <a:srgbClr val="FFFFFF"/>
                </a:solidFill>
                <a:latin typeface="+mn-lt"/>
              </a:rPr>
              <a:t>KEBERSIHAN</a:t>
            </a:r>
            <a:endParaRPr lang="en-US" sz="16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21" name="Oval 92"/>
          <p:cNvSpPr>
            <a:spLocks noChangeArrowheads="1"/>
          </p:cNvSpPr>
          <p:nvPr/>
        </p:nvSpPr>
        <p:spPr bwMode="auto">
          <a:xfrm>
            <a:off x="5181600" y="4343400"/>
            <a:ext cx="2688771" cy="1600200"/>
          </a:xfrm>
          <a:prstGeom prst="ellipse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22" name="Oval 93"/>
          <p:cNvSpPr>
            <a:spLocks noChangeArrowheads="1"/>
          </p:cNvSpPr>
          <p:nvPr/>
        </p:nvSpPr>
        <p:spPr bwMode="auto">
          <a:xfrm>
            <a:off x="5715000" y="4648200"/>
            <a:ext cx="1654629" cy="1066800"/>
          </a:xfrm>
          <a:prstGeom prst="ellipse">
            <a:avLst/>
          </a:prstGeom>
          <a:ln>
            <a:headEnd type="none" w="sm" len="sm"/>
            <a:tailEnd type="none" w="sm" len="sm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23" name="Text Box 94"/>
          <p:cNvSpPr txBox="1">
            <a:spLocks noChangeArrowheads="1"/>
          </p:cNvSpPr>
          <p:nvPr/>
        </p:nvSpPr>
        <p:spPr bwMode="auto">
          <a:xfrm>
            <a:off x="5736771" y="4690646"/>
            <a:ext cx="165462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sz="1600" dirty="0" smtClean="0">
                <a:latin typeface="+mn-lt"/>
              </a:rPr>
              <a:t>TUPOKSI</a:t>
            </a:r>
            <a:endParaRPr lang="en-US" sz="1600" dirty="0">
              <a:latin typeface="+mn-lt"/>
            </a:endParaRPr>
          </a:p>
        </p:txBody>
      </p:sp>
      <p:sp>
        <p:nvSpPr>
          <p:cNvPr id="24" name="Text Box 95"/>
          <p:cNvSpPr txBox="1">
            <a:spLocks noChangeArrowheads="1"/>
          </p:cNvSpPr>
          <p:nvPr/>
        </p:nvSpPr>
        <p:spPr bwMode="auto">
          <a:xfrm>
            <a:off x="5551714" y="4995446"/>
            <a:ext cx="206828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sz="1600" dirty="0" smtClean="0">
                <a:latin typeface="+mn-lt"/>
              </a:rPr>
              <a:t>IT</a:t>
            </a:r>
            <a:endParaRPr lang="en-US" sz="1600" dirty="0">
              <a:latin typeface="+mn-lt"/>
            </a:endParaRPr>
          </a:p>
        </p:txBody>
      </p:sp>
      <p:sp>
        <p:nvSpPr>
          <p:cNvPr id="25" name="Oval 96"/>
          <p:cNvSpPr>
            <a:spLocks noChangeArrowheads="1"/>
          </p:cNvSpPr>
          <p:nvPr/>
        </p:nvSpPr>
        <p:spPr bwMode="auto">
          <a:xfrm>
            <a:off x="5334000" y="3505200"/>
            <a:ext cx="1861457" cy="533400"/>
          </a:xfrm>
          <a:prstGeom prst="ellipse">
            <a:avLst/>
          </a:prstGeom>
          <a:noFill/>
          <a:ln w="19050" cap="sq">
            <a:solidFill>
              <a:srgbClr val="00009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600">
              <a:latin typeface="+mn-lt"/>
            </a:endParaRPr>
          </a:p>
        </p:txBody>
      </p:sp>
      <p:sp>
        <p:nvSpPr>
          <p:cNvPr id="26" name="Text Box 97"/>
          <p:cNvSpPr txBox="1">
            <a:spLocks noChangeArrowheads="1"/>
          </p:cNvSpPr>
          <p:nvPr/>
        </p:nvSpPr>
        <p:spPr bwMode="auto">
          <a:xfrm>
            <a:off x="5475443" y="3606304"/>
            <a:ext cx="175804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1600" dirty="0" smtClean="0">
                <a:latin typeface="+mn-lt"/>
              </a:rPr>
              <a:t>KEAMANAN</a:t>
            </a:r>
            <a:endParaRPr lang="en-US" sz="1600" dirty="0">
              <a:latin typeface="+mn-lt"/>
            </a:endParaRPr>
          </a:p>
        </p:txBody>
      </p:sp>
      <p:sp>
        <p:nvSpPr>
          <p:cNvPr id="27" name="Oval 98"/>
          <p:cNvSpPr>
            <a:spLocks noChangeArrowheads="1"/>
          </p:cNvSpPr>
          <p:nvPr/>
        </p:nvSpPr>
        <p:spPr bwMode="auto">
          <a:xfrm>
            <a:off x="4191000" y="3962400"/>
            <a:ext cx="1654629" cy="609600"/>
          </a:xfrm>
          <a:prstGeom prst="ellipse">
            <a:avLst/>
          </a:prstGeom>
          <a:noFill/>
          <a:ln w="19050" cap="sq">
            <a:solidFill>
              <a:srgbClr val="00009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600">
              <a:latin typeface="+mn-lt"/>
            </a:endParaRPr>
          </a:p>
        </p:txBody>
      </p:sp>
      <p:sp>
        <p:nvSpPr>
          <p:cNvPr id="28" name="Text Box 99"/>
          <p:cNvSpPr txBox="1">
            <a:spLocks noChangeArrowheads="1"/>
          </p:cNvSpPr>
          <p:nvPr/>
        </p:nvSpPr>
        <p:spPr bwMode="auto">
          <a:xfrm>
            <a:off x="4191000" y="4114800"/>
            <a:ext cx="186145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1600" dirty="0" smtClean="0">
                <a:latin typeface="+mn-lt"/>
              </a:rPr>
              <a:t>PEMASARAN</a:t>
            </a:r>
            <a:endParaRPr lang="en-US" sz="1600" dirty="0">
              <a:latin typeface="+mn-lt"/>
            </a:endParaRPr>
          </a:p>
        </p:txBody>
      </p:sp>
      <p:sp>
        <p:nvSpPr>
          <p:cNvPr id="29" name="Oval 100"/>
          <p:cNvSpPr>
            <a:spLocks noChangeArrowheads="1"/>
          </p:cNvSpPr>
          <p:nvPr/>
        </p:nvSpPr>
        <p:spPr bwMode="auto">
          <a:xfrm>
            <a:off x="3657600" y="5105400"/>
            <a:ext cx="1654629" cy="685800"/>
          </a:xfrm>
          <a:prstGeom prst="ellipse">
            <a:avLst/>
          </a:prstGeom>
          <a:noFill/>
          <a:ln w="19050" cap="sq">
            <a:solidFill>
              <a:srgbClr val="00009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600">
              <a:latin typeface="+mn-lt"/>
            </a:endParaRPr>
          </a:p>
        </p:txBody>
      </p:sp>
      <p:sp>
        <p:nvSpPr>
          <p:cNvPr id="30" name="Text Box 101"/>
          <p:cNvSpPr txBox="1">
            <a:spLocks noChangeArrowheads="1"/>
          </p:cNvSpPr>
          <p:nvPr/>
        </p:nvSpPr>
        <p:spPr bwMode="auto">
          <a:xfrm>
            <a:off x="3581400" y="5254823"/>
            <a:ext cx="175804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sz="1600" dirty="0" smtClean="0">
                <a:latin typeface="+mn-lt"/>
              </a:rPr>
              <a:t>KATERING</a:t>
            </a:r>
            <a:endParaRPr lang="en-US" sz="1600" dirty="0">
              <a:latin typeface="+mn-lt"/>
            </a:endParaRPr>
          </a:p>
        </p:txBody>
      </p:sp>
      <p:sp>
        <p:nvSpPr>
          <p:cNvPr id="31" name="Oval 102"/>
          <p:cNvSpPr>
            <a:spLocks noChangeArrowheads="1"/>
          </p:cNvSpPr>
          <p:nvPr/>
        </p:nvSpPr>
        <p:spPr bwMode="auto">
          <a:xfrm>
            <a:off x="4191001" y="6096000"/>
            <a:ext cx="1654629" cy="609600"/>
          </a:xfrm>
          <a:prstGeom prst="ellipse">
            <a:avLst/>
          </a:prstGeom>
          <a:noFill/>
          <a:ln w="19050" cap="sq">
            <a:solidFill>
              <a:srgbClr val="00009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600">
              <a:latin typeface="+mn-lt"/>
            </a:endParaRPr>
          </a:p>
        </p:txBody>
      </p:sp>
      <p:sp>
        <p:nvSpPr>
          <p:cNvPr id="32" name="Text Box 103"/>
          <p:cNvSpPr txBox="1">
            <a:spLocks noChangeArrowheads="1"/>
          </p:cNvSpPr>
          <p:nvPr/>
        </p:nvSpPr>
        <p:spPr bwMode="auto">
          <a:xfrm>
            <a:off x="4572001" y="6172200"/>
            <a:ext cx="12192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600" dirty="0" smtClean="0">
                <a:latin typeface="+mn-lt"/>
              </a:rPr>
              <a:t>WISMA</a:t>
            </a:r>
            <a:endParaRPr lang="en-US" sz="1600" dirty="0">
              <a:latin typeface="+mn-lt"/>
            </a:endParaRPr>
          </a:p>
        </p:txBody>
      </p:sp>
      <p:sp>
        <p:nvSpPr>
          <p:cNvPr id="33" name="Oval 104"/>
          <p:cNvSpPr>
            <a:spLocks noChangeArrowheads="1"/>
          </p:cNvSpPr>
          <p:nvPr/>
        </p:nvSpPr>
        <p:spPr bwMode="auto">
          <a:xfrm>
            <a:off x="6248400" y="6019800"/>
            <a:ext cx="1654629" cy="609600"/>
          </a:xfrm>
          <a:prstGeom prst="ellipse">
            <a:avLst/>
          </a:prstGeom>
          <a:noFill/>
          <a:ln w="19050" cap="sq">
            <a:solidFill>
              <a:srgbClr val="00009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600">
              <a:latin typeface="+mn-lt"/>
            </a:endParaRPr>
          </a:p>
        </p:txBody>
      </p:sp>
      <p:sp>
        <p:nvSpPr>
          <p:cNvPr id="34" name="Oval 105"/>
          <p:cNvSpPr>
            <a:spLocks noChangeArrowheads="1"/>
          </p:cNvSpPr>
          <p:nvPr/>
        </p:nvSpPr>
        <p:spPr bwMode="auto">
          <a:xfrm>
            <a:off x="7086600" y="4038600"/>
            <a:ext cx="1654629" cy="609600"/>
          </a:xfrm>
          <a:prstGeom prst="ellipse">
            <a:avLst/>
          </a:prstGeom>
          <a:noFill/>
          <a:ln w="19050" cap="sq">
            <a:solidFill>
              <a:srgbClr val="00009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600">
              <a:latin typeface="+mn-lt"/>
            </a:endParaRPr>
          </a:p>
        </p:txBody>
      </p:sp>
      <p:sp>
        <p:nvSpPr>
          <p:cNvPr id="35" name="Text Box 106"/>
          <p:cNvSpPr txBox="1">
            <a:spLocks noChangeArrowheads="1"/>
          </p:cNvSpPr>
          <p:nvPr/>
        </p:nvSpPr>
        <p:spPr bwMode="auto">
          <a:xfrm>
            <a:off x="6172200" y="6169223"/>
            <a:ext cx="186145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sz="1600" dirty="0" smtClean="0">
                <a:latin typeface="+mn-lt"/>
              </a:rPr>
              <a:t>KEBERSIHAN</a:t>
            </a:r>
            <a:endParaRPr lang="en-US" sz="1600" dirty="0">
              <a:latin typeface="+mn-lt"/>
            </a:endParaRPr>
          </a:p>
        </p:txBody>
      </p:sp>
      <p:sp>
        <p:nvSpPr>
          <p:cNvPr id="36" name="Text Box 107"/>
          <p:cNvSpPr txBox="1">
            <a:spLocks noChangeArrowheads="1"/>
          </p:cNvSpPr>
          <p:nvPr/>
        </p:nvSpPr>
        <p:spPr bwMode="auto">
          <a:xfrm>
            <a:off x="7010401" y="4188023"/>
            <a:ext cx="191156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sz="1600" dirty="0" smtClean="0">
                <a:latin typeface="+mn-lt"/>
              </a:rPr>
              <a:t>TAMAN</a:t>
            </a:r>
            <a:endParaRPr lang="en-US" sz="1600" dirty="0">
              <a:latin typeface="+mn-lt"/>
            </a:endParaRPr>
          </a:p>
        </p:txBody>
      </p:sp>
      <p:sp>
        <p:nvSpPr>
          <p:cNvPr id="37" name="Oval 108"/>
          <p:cNvSpPr>
            <a:spLocks noChangeArrowheads="1"/>
          </p:cNvSpPr>
          <p:nvPr/>
        </p:nvSpPr>
        <p:spPr bwMode="auto">
          <a:xfrm>
            <a:off x="7571015" y="5410200"/>
            <a:ext cx="1344386" cy="533400"/>
          </a:xfrm>
          <a:prstGeom prst="ellipse">
            <a:avLst/>
          </a:prstGeom>
          <a:noFill/>
          <a:ln w="19050" cap="sq">
            <a:solidFill>
              <a:srgbClr val="00009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600">
              <a:latin typeface="+mn-lt"/>
            </a:endParaRPr>
          </a:p>
        </p:txBody>
      </p:sp>
      <p:sp>
        <p:nvSpPr>
          <p:cNvPr id="38" name="Text Box 109"/>
          <p:cNvSpPr txBox="1">
            <a:spLocks noChangeArrowheads="1"/>
          </p:cNvSpPr>
          <p:nvPr/>
        </p:nvSpPr>
        <p:spPr bwMode="auto">
          <a:xfrm>
            <a:off x="7543801" y="5486400"/>
            <a:ext cx="14478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sz="1600" dirty="0" smtClean="0">
                <a:latin typeface="+mn-lt"/>
              </a:rPr>
              <a:t>M&amp;E</a:t>
            </a:r>
            <a:endParaRPr lang="en-US" sz="1600" dirty="0">
              <a:latin typeface="+mn-lt"/>
            </a:endParaRPr>
          </a:p>
        </p:txBody>
      </p:sp>
      <p:sp>
        <p:nvSpPr>
          <p:cNvPr id="39" name="Line 125"/>
          <p:cNvSpPr>
            <a:spLocks noChangeShapeType="1"/>
          </p:cNvSpPr>
          <p:nvPr/>
        </p:nvSpPr>
        <p:spPr bwMode="auto">
          <a:xfrm flipV="1">
            <a:off x="4876800" y="5181600"/>
            <a:ext cx="413657" cy="76200"/>
          </a:xfrm>
          <a:prstGeom prst="line">
            <a:avLst/>
          </a:prstGeom>
          <a:noFill/>
          <a:ln w="38100">
            <a:solidFill>
              <a:srgbClr val="66FF33"/>
            </a:solidFill>
            <a:prstDash val="sysDot"/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 sz="1600">
              <a:latin typeface="+mn-lt"/>
            </a:endParaRPr>
          </a:p>
        </p:txBody>
      </p:sp>
      <p:sp>
        <p:nvSpPr>
          <p:cNvPr id="40" name="Line 126"/>
          <p:cNvSpPr>
            <a:spLocks noChangeShapeType="1"/>
          </p:cNvSpPr>
          <p:nvPr/>
        </p:nvSpPr>
        <p:spPr bwMode="auto">
          <a:xfrm>
            <a:off x="5181600" y="4495800"/>
            <a:ext cx="206829" cy="152400"/>
          </a:xfrm>
          <a:prstGeom prst="line">
            <a:avLst/>
          </a:prstGeom>
          <a:noFill/>
          <a:ln w="38100">
            <a:solidFill>
              <a:srgbClr val="66FF33"/>
            </a:solidFill>
            <a:prstDash val="dash"/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 sz="1600">
              <a:latin typeface="+mn-lt"/>
            </a:endParaRPr>
          </a:p>
        </p:txBody>
      </p:sp>
      <p:sp>
        <p:nvSpPr>
          <p:cNvPr id="41" name="Line 128"/>
          <p:cNvSpPr>
            <a:spLocks noChangeShapeType="1"/>
          </p:cNvSpPr>
          <p:nvPr/>
        </p:nvSpPr>
        <p:spPr bwMode="auto">
          <a:xfrm flipV="1">
            <a:off x="5334000" y="5715000"/>
            <a:ext cx="206829" cy="228600"/>
          </a:xfrm>
          <a:prstGeom prst="line">
            <a:avLst/>
          </a:prstGeom>
          <a:noFill/>
          <a:ln w="38100">
            <a:solidFill>
              <a:srgbClr val="66FF33"/>
            </a:solidFill>
            <a:prstDash val="sysDot"/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 sz="1600">
              <a:latin typeface="+mn-lt"/>
            </a:endParaRPr>
          </a:p>
        </p:txBody>
      </p:sp>
      <p:sp>
        <p:nvSpPr>
          <p:cNvPr id="42" name="Line 129"/>
          <p:cNvSpPr>
            <a:spLocks noChangeShapeType="1"/>
          </p:cNvSpPr>
          <p:nvPr/>
        </p:nvSpPr>
        <p:spPr bwMode="auto">
          <a:xfrm flipH="1" flipV="1">
            <a:off x="6781800" y="5715000"/>
            <a:ext cx="206829" cy="228600"/>
          </a:xfrm>
          <a:prstGeom prst="line">
            <a:avLst/>
          </a:prstGeom>
          <a:noFill/>
          <a:ln w="38100">
            <a:solidFill>
              <a:srgbClr val="66FF33"/>
            </a:solidFill>
            <a:prstDash val="sysDot"/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 sz="1600">
              <a:latin typeface="+mn-lt"/>
            </a:endParaRPr>
          </a:p>
        </p:txBody>
      </p:sp>
      <p:sp>
        <p:nvSpPr>
          <p:cNvPr id="43" name="Line 130"/>
          <p:cNvSpPr>
            <a:spLocks noChangeShapeType="1"/>
          </p:cNvSpPr>
          <p:nvPr/>
        </p:nvSpPr>
        <p:spPr bwMode="auto">
          <a:xfrm flipH="1" flipV="1">
            <a:off x="7086600" y="5334000"/>
            <a:ext cx="413657" cy="152400"/>
          </a:xfrm>
          <a:prstGeom prst="line">
            <a:avLst/>
          </a:prstGeom>
          <a:noFill/>
          <a:ln w="38100">
            <a:solidFill>
              <a:srgbClr val="66FF33"/>
            </a:solidFill>
            <a:prstDash val="sysDot"/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 sz="1600">
              <a:latin typeface="+mn-lt"/>
            </a:endParaRPr>
          </a:p>
        </p:txBody>
      </p:sp>
      <p:sp>
        <p:nvSpPr>
          <p:cNvPr id="44" name="Line 131"/>
          <p:cNvSpPr>
            <a:spLocks noChangeShapeType="1"/>
          </p:cNvSpPr>
          <p:nvPr/>
        </p:nvSpPr>
        <p:spPr bwMode="auto">
          <a:xfrm flipH="1">
            <a:off x="6934200" y="4495800"/>
            <a:ext cx="310242" cy="228600"/>
          </a:xfrm>
          <a:prstGeom prst="line">
            <a:avLst/>
          </a:prstGeom>
          <a:noFill/>
          <a:ln w="38100">
            <a:solidFill>
              <a:srgbClr val="66FF33"/>
            </a:solidFill>
            <a:prstDash val="sysDot"/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 sz="1600">
              <a:latin typeface="+mn-lt"/>
            </a:endParaRPr>
          </a:p>
        </p:txBody>
      </p:sp>
      <p:sp>
        <p:nvSpPr>
          <p:cNvPr id="45" name="Line 131"/>
          <p:cNvSpPr>
            <a:spLocks noChangeShapeType="1"/>
          </p:cNvSpPr>
          <p:nvPr/>
        </p:nvSpPr>
        <p:spPr bwMode="auto">
          <a:xfrm flipH="1">
            <a:off x="6248400" y="3886200"/>
            <a:ext cx="54428" cy="685800"/>
          </a:xfrm>
          <a:prstGeom prst="line">
            <a:avLst/>
          </a:prstGeom>
          <a:noFill/>
          <a:ln w="38100">
            <a:solidFill>
              <a:srgbClr val="66FF33"/>
            </a:solidFill>
            <a:prstDash val="sysDot"/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 sz="1600">
              <a:latin typeface="+mn-lt"/>
            </a:endParaRPr>
          </a:p>
        </p:txBody>
      </p:sp>
      <p:sp>
        <p:nvSpPr>
          <p:cNvPr id="46" name="Text Box 95"/>
          <p:cNvSpPr txBox="1">
            <a:spLocks noChangeArrowheads="1"/>
          </p:cNvSpPr>
          <p:nvPr/>
        </p:nvSpPr>
        <p:spPr bwMode="auto">
          <a:xfrm>
            <a:off x="5551714" y="5257800"/>
            <a:ext cx="206828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sz="1600" dirty="0" smtClean="0">
                <a:latin typeface="+mn-lt"/>
              </a:rPr>
              <a:t>AKUNTANSI</a:t>
            </a:r>
            <a:endParaRPr lang="en-US" sz="1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212289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SIKLUS KEGIATAN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381000" y="1295400"/>
            <a:ext cx="8305800" cy="518160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utoShape 64"/>
          <p:cNvSpPr>
            <a:spLocks noChangeArrowheads="1"/>
          </p:cNvSpPr>
          <p:nvPr/>
        </p:nvSpPr>
        <p:spPr bwMode="gray">
          <a:xfrm rot="15973924">
            <a:off x="4071301" y="2546496"/>
            <a:ext cx="792163" cy="288925"/>
          </a:xfrm>
          <a:prstGeom prst="rightArrow">
            <a:avLst>
              <a:gd name="adj1" fmla="val 35167"/>
              <a:gd name="adj2" fmla="val 111029"/>
            </a:avLst>
          </a:prstGeom>
          <a:gradFill rotWithShape="1">
            <a:gsLst>
              <a:gs pos="0">
                <a:schemeClr val="tx2">
                  <a:gamma/>
                  <a:shade val="89020"/>
                  <a:invGamma/>
                  <a:alpha val="0"/>
                </a:schemeClr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AutoShape 65"/>
          <p:cNvSpPr>
            <a:spLocks noChangeArrowheads="1"/>
          </p:cNvSpPr>
          <p:nvPr/>
        </p:nvSpPr>
        <p:spPr bwMode="gray">
          <a:xfrm rot="3465783">
            <a:off x="4728370" y="4850606"/>
            <a:ext cx="792162" cy="288925"/>
          </a:xfrm>
          <a:prstGeom prst="rightArrow">
            <a:avLst>
              <a:gd name="adj1" fmla="val 35167"/>
              <a:gd name="adj2" fmla="val 111028"/>
            </a:avLst>
          </a:prstGeom>
          <a:gradFill rotWithShape="1">
            <a:gsLst>
              <a:gs pos="0">
                <a:schemeClr val="tx2">
                  <a:gamma/>
                  <a:shade val="89020"/>
                  <a:invGamma/>
                  <a:alpha val="0"/>
                </a:schemeClr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AutoShape 67"/>
          <p:cNvSpPr>
            <a:spLocks noChangeArrowheads="1"/>
          </p:cNvSpPr>
          <p:nvPr/>
        </p:nvSpPr>
        <p:spPr bwMode="gray">
          <a:xfrm rot="7535209">
            <a:off x="3471069" y="4817269"/>
            <a:ext cx="792163" cy="288925"/>
          </a:xfrm>
          <a:prstGeom prst="rightArrow">
            <a:avLst>
              <a:gd name="adj1" fmla="val 35167"/>
              <a:gd name="adj2" fmla="val 111029"/>
            </a:avLst>
          </a:prstGeom>
          <a:gradFill rotWithShape="1">
            <a:gsLst>
              <a:gs pos="0">
                <a:schemeClr val="tx2">
                  <a:gamma/>
                  <a:shade val="89020"/>
                  <a:invGamma/>
                  <a:alpha val="0"/>
                </a:schemeClr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AutoShape 68"/>
          <p:cNvSpPr>
            <a:spLocks noChangeArrowheads="1"/>
          </p:cNvSpPr>
          <p:nvPr/>
        </p:nvSpPr>
        <p:spPr bwMode="gray">
          <a:xfrm>
            <a:off x="5307013" y="3814763"/>
            <a:ext cx="792162" cy="288925"/>
          </a:xfrm>
          <a:prstGeom prst="rightArrow">
            <a:avLst>
              <a:gd name="adj1" fmla="val 35167"/>
              <a:gd name="adj2" fmla="val 111028"/>
            </a:avLst>
          </a:prstGeom>
          <a:gradFill rotWithShape="1">
            <a:gsLst>
              <a:gs pos="0">
                <a:schemeClr val="tx2">
                  <a:gamma/>
                  <a:shade val="89020"/>
                  <a:invGamma/>
                  <a:alpha val="0"/>
                </a:schemeClr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AutoShape 69"/>
          <p:cNvSpPr>
            <a:spLocks noChangeArrowheads="1"/>
          </p:cNvSpPr>
          <p:nvPr/>
        </p:nvSpPr>
        <p:spPr bwMode="gray">
          <a:xfrm rot="10800000">
            <a:off x="2897188" y="3808413"/>
            <a:ext cx="863600" cy="288925"/>
          </a:xfrm>
          <a:prstGeom prst="rightArrow">
            <a:avLst>
              <a:gd name="adj1" fmla="val 35167"/>
              <a:gd name="adj2" fmla="val 121041"/>
            </a:avLst>
          </a:prstGeom>
          <a:gradFill rotWithShape="1">
            <a:gsLst>
              <a:gs pos="0">
                <a:schemeClr val="tx2">
                  <a:gamma/>
                  <a:shade val="89020"/>
                  <a:invGamma/>
                  <a:alpha val="0"/>
                </a:schemeClr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Oval 70"/>
          <p:cNvSpPr>
            <a:spLocks noChangeArrowheads="1"/>
          </p:cNvSpPr>
          <p:nvPr/>
        </p:nvSpPr>
        <p:spPr bwMode="gray">
          <a:xfrm>
            <a:off x="2643188" y="2046288"/>
            <a:ext cx="3743325" cy="3744912"/>
          </a:xfrm>
          <a:prstGeom prst="ellipse">
            <a:avLst/>
          </a:prstGeom>
          <a:noFill/>
          <a:ln w="38100">
            <a:solidFill>
              <a:srgbClr val="C0C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109250" dir="3267739" algn="ctr" rotWithShape="0">
                    <a:srgbClr val="00000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2" name="Oval 72"/>
          <p:cNvSpPr>
            <a:spLocks noChangeArrowheads="1"/>
          </p:cNvSpPr>
          <p:nvPr/>
        </p:nvSpPr>
        <p:spPr bwMode="gray">
          <a:xfrm>
            <a:off x="3298825" y="5303838"/>
            <a:ext cx="360363" cy="360362"/>
          </a:xfrm>
          <a:prstGeom prst="ellipse">
            <a:avLst/>
          </a:prstGeom>
          <a:gradFill rotWithShape="1">
            <a:gsLst>
              <a:gs pos="0">
                <a:srgbClr val="4DC9B1"/>
              </a:gs>
              <a:gs pos="100000">
                <a:srgbClr val="4DC9B1">
                  <a:gamma/>
                  <a:shade val="72549"/>
                  <a:invGamma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52400" dir="16200000" sy="-100000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Text Box 74"/>
          <p:cNvSpPr txBox="1">
            <a:spLocks noChangeArrowheads="1"/>
          </p:cNvSpPr>
          <p:nvPr/>
        </p:nvSpPr>
        <p:spPr bwMode="auto">
          <a:xfrm>
            <a:off x="3663508" y="1498600"/>
            <a:ext cx="174669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 dirty="0" smtClean="0">
                <a:solidFill>
                  <a:srgbClr val="000000"/>
                </a:solidFill>
              </a:rPr>
              <a:t>PERENCANAAN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14" name="Text Box 76"/>
          <p:cNvSpPr txBox="1">
            <a:spLocks noChangeArrowheads="1"/>
          </p:cNvSpPr>
          <p:nvPr/>
        </p:nvSpPr>
        <p:spPr bwMode="auto">
          <a:xfrm>
            <a:off x="6581775" y="3784600"/>
            <a:ext cx="150714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 dirty="0" smtClean="0">
                <a:solidFill>
                  <a:srgbClr val="000000"/>
                </a:solidFill>
              </a:rPr>
              <a:t>IDENTIFIKASI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15" name="Text Box 77"/>
          <p:cNvSpPr txBox="1">
            <a:spLocks noChangeArrowheads="1"/>
          </p:cNvSpPr>
          <p:nvPr/>
        </p:nvSpPr>
        <p:spPr bwMode="auto">
          <a:xfrm>
            <a:off x="5667375" y="5384800"/>
            <a:ext cx="169719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 dirty="0" smtClean="0">
                <a:solidFill>
                  <a:srgbClr val="000000"/>
                </a:solidFill>
              </a:rPr>
              <a:t>IMPLEMENTASI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16" name="Text Box 78"/>
          <p:cNvSpPr txBox="1">
            <a:spLocks noChangeArrowheads="1"/>
          </p:cNvSpPr>
          <p:nvPr/>
        </p:nvSpPr>
        <p:spPr bwMode="auto">
          <a:xfrm>
            <a:off x="1000317" y="3784600"/>
            <a:ext cx="143490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1600" dirty="0" smtClean="0">
                <a:solidFill>
                  <a:srgbClr val="000000"/>
                </a:solidFill>
              </a:rPr>
              <a:t>PENUTUPAN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17" name="Text Box 79"/>
          <p:cNvSpPr txBox="1">
            <a:spLocks noChangeArrowheads="1"/>
          </p:cNvSpPr>
          <p:nvPr/>
        </p:nvSpPr>
        <p:spPr bwMode="auto">
          <a:xfrm>
            <a:off x="2100408" y="5322888"/>
            <a:ext cx="117301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1600" dirty="0" smtClean="0">
                <a:solidFill>
                  <a:srgbClr val="000000"/>
                </a:solidFill>
              </a:rPr>
              <a:t>EVALUASI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18" name="Oval 81"/>
          <p:cNvSpPr>
            <a:spLocks noChangeArrowheads="1"/>
          </p:cNvSpPr>
          <p:nvPr/>
        </p:nvSpPr>
        <p:spPr bwMode="gray">
          <a:xfrm>
            <a:off x="5360988" y="5308600"/>
            <a:ext cx="360362" cy="360363"/>
          </a:xfrm>
          <a:prstGeom prst="ellipse">
            <a:avLst/>
          </a:prstGeom>
          <a:gradFill rotWithShape="1">
            <a:gsLst>
              <a:gs pos="0">
                <a:srgbClr val="CB90EC"/>
              </a:gs>
              <a:gs pos="100000">
                <a:srgbClr val="CB90EC">
                  <a:gamma/>
                  <a:shade val="72549"/>
                  <a:invGamma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52400" dir="16200000" sy="-100000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Oval 84"/>
          <p:cNvSpPr>
            <a:spLocks noChangeArrowheads="1"/>
          </p:cNvSpPr>
          <p:nvPr/>
        </p:nvSpPr>
        <p:spPr bwMode="gray">
          <a:xfrm>
            <a:off x="6199188" y="3784600"/>
            <a:ext cx="360362" cy="360363"/>
          </a:xfrm>
          <a:prstGeom prst="ellipse">
            <a:avLst/>
          </a:prstGeom>
          <a:gradFill rotWithShape="1">
            <a:gsLst>
              <a:gs pos="0">
                <a:srgbClr val="6699FF"/>
              </a:gs>
              <a:gs pos="100000">
                <a:srgbClr val="6699FF">
                  <a:gamma/>
                  <a:shade val="72549"/>
                  <a:invGamma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52400" dir="16200000" sy="-100000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Oval 87"/>
          <p:cNvSpPr>
            <a:spLocks noChangeArrowheads="1"/>
          </p:cNvSpPr>
          <p:nvPr/>
        </p:nvSpPr>
        <p:spPr bwMode="gray">
          <a:xfrm>
            <a:off x="4267200" y="1879600"/>
            <a:ext cx="360362" cy="360363"/>
          </a:xfrm>
          <a:prstGeom prst="ellipse">
            <a:avLst/>
          </a:prstGeom>
          <a:gradFill rotWithShape="1">
            <a:gsLst>
              <a:gs pos="0">
                <a:srgbClr val="FF9900"/>
              </a:gs>
              <a:gs pos="100000">
                <a:srgbClr val="FF9900">
                  <a:gamma/>
                  <a:shade val="72549"/>
                  <a:invGamma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52400" dir="16200000" sy="-100000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Oval 93"/>
          <p:cNvSpPr>
            <a:spLocks noChangeArrowheads="1"/>
          </p:cNvSpPr>
          <p:nvPr/>
        </p:nvSpPr>
        <p:spPr bwMode="gray">
          <a:xfrm>
            <a:off x="2465388" y="3784600"/>
            <a:ext cx="360362" cy="360363"/>
          </a:xfrm>
          <a:prstGeom prst="ellipse">
            <a:avLst/>
          </a:prstGeom>
          <a:gradFill rotWithShape="1">
            <a:gsLst>
              <a:gs pos="0">
                <a:srgbClr val="82B820"/>
              </a:gs>
              <a:gs pos="100000">
                <a:srgbClr val="82B820">
                  <a:gamma/>
                  <a:shade val="72549"/>
                  <a:invGamma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52400" dir="16200000" sy="-100000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2" name="Group 95"/>
          <p:cNvGrpSpPr>
            <a:grpSpLocks/>
          </p:cNvGrpSpPr>
          <p:nvPr/>
        </p:nvGrpSpPr>
        <p:grpSpPr bwMode="auto">
          <a:xfrm>
            <a:off x="3429002" y="2859088"/>
            <a:ext cx="2160589" cy="2160587"/>
            <a:chOff x="2238" y="1769"/>
            <a:chExt cx="1361" cy="1361"/>
          </a:xfrm>
        </p:grpSpPr>
        <p:sp>
          <p:nvSpPr>
            <p:cNvPr id="23" name="Oval 96"/>
            <p:cNvSpPr>
              <a:spLocks noChangeArrowheads="1"/>
            </p:cNvSpPr>
            <p:nvPr/>
          </p:nvSpPr>
          <p:spPr bwMode="gray">
            <a:xfrm>
              <a:off x="2238" y="1769"/>
              <a:ext cx="1361" cy="1361"/>
            </a:xfrm>
            <a:prstGeom prst="ellipse">
              <a:avLst/>
            </a:prstGeom>
            <a:gradFill rotWithShape="1">
              <a:gsLst>
                <a:gs pos="0">
                  <a:srgbClr val="0099CC">
                    <a:gamma/>
                    <a:tint val="42353"/>
                    <a:invGamma/>
                  </a:srgbClr>
                </a:gs>
                <a:gs pos="50000">
                  <a:srgbClr val="0099CC"/>
                </a:gs>
                <a:gs pos="100000">
                  <a:srgbClr val="0099CC">
                    <a:gamma/>
                    <a:tint val="42353"/>
                    <a:invGamma/>
                  </a:srgb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09250" dir="3267739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4" name="Oval 97"/>
            <p:cNvSpPr>
              <a:spLocks noChangeArrowheads="1"/>
            </p:cNvSpPr>
            <p:nvPr/>
          </p:nvSpPr>
          <p:spPr bwMode="gray">
            <a:xfrm>
              <a:off x="2327" y="1858"/>
              <a:ext cx="1183" cy="1183"/>
            </a:xfrm>
            <a:prstGeom prst="ellipse">
              <a:avLst/>
            </a:prstGeom>
            <a:gradFill rotWithShape="1">
              <a:gsLst>
                <a:gs pos="0">
                  <a:srgbClr val="0099CC">
                    <a:gamma/>
                    <a:shade val="54118"/>
                    <a:invGamma/>
                  </a:srgbClr>
                </a:gs>
                <a:gs pos="50000">
                  <a:srgbClr val="0099CC"/>
                </a:gs>
                <a:gs pos="100000">
                  <a:srgbClr val="0099CC">
                    <a:gamma/>
                    <a:shade val="54118"/>
                    <a:invGamma/>
                  </a:srgb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09250" dir="3267739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5" name="Oval 98"/>
            <p:cNvSpPr>
              <a:spLocks noChangeArrowheads="1"/>
            </p:cNvSpPr>
            <p:nvPr/>
          </p:nvSpPr>
          <p:spPr bwMode="gray">
            <a:xfrm>
              <a:off x="2328" y="1860"/>
              <a:ext cx="1183" cy="1183"/>
            </a:xfrm>
            <a:prstGeom prst="ellipse">
              <a:avLst/>
            </a:prstGeom>
            <a:gradFill rotWithShape="1">
              <a:gsLst>
                <a:gs pos="0">
                  <a:srgbClr val="0099CC">
                    <a:gamma/>
                    <a:shade val="63529"/>
                    <a:invGamma/>
                  </a:srgbClr>
                </a:gs>
                <a:gs pos="100000">
                  <a:srgbClr val="0099CC">
                    <a:alpha val="0"/>
                  </a:srgb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09250" dir="3267739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6" name="Oval 99"/>
            <p:cNvSpPr>
              <a:spLocks noChangeArrowheads="1"/>
            </p:cNvSpPr>
            <p:nvPr/>
          </p:nvSpPr>
          <p:spPr bwMode="gray">
            <a:xfrm>
              <a:off x="2391" y="1917"/>
              <a:ext cx="1065" cy="106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09250" dir="3267739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grpSp>
          <p:nvGrpSpPr>
            <p:cNvPr id="27" name="Group 100"/>
            <p:cNvGrpSpPr>
              <a:grpSpLocks/>
            </p:cNvGrpSpPr>
            <p:nvPr/>
          </p:nvGrpSpPr>
          <p:grpSpPr bwMode="auto">
            <a:xfrm>
              <a:off x="2410" y="1929"/>
              <a:ext cx="1031" cy="1031"/>
              <a:chOff x="4166" y="1706"/>
              <a:chExt cx="1252" cy="1252"/>
            </a:xfrm>
          </p:grpSpPr>
          <p:sp>
            <p:nvSpPr>
              <p:cNvPr id="29" name="Oval 101"/>
              <p:cNvSpPr>
                <a:spLocks noChangeArrowheads="1"/>
              </p:cNvSpPr>
              <p:nvPr/>
            </p:nvSpPr>
            <p:spPr bwMode="auto">
              <a:xfrm>
                <a:off x="4166" y="1706"/>
                <a:ext cx="1252" cy="1252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gamma/>
                      <a:shade val="46275"/>
                      <a:invGamma/>
                    </a:srgbClr>
                  </a:gs>
                  <a:gs pos="100000">
                    <a:srgbClr val="D6E1E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/>
              <a:p>
                <a:endParaRPr lang="en-US"/>
              </a:p>
            </p:txBody>
          </p:sp>
          <p:sp>
            <p:nvSpPr>
              <p:cNvPr id="30" name="Oval 102"/>
              <p:cNvSpPr>
                <a:spLocks noChangeArrowheads="1"/>
              </p:cNvSpPr>
              <p:nvPr/>
            </p:nvSpPr>
            <p:spPr bwMode="auto">
              <a:xfrm>
                <a:off x="4182" y="1713"/>
                <a:ext cx="1222" cy="1221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alpha val="0"/>
                    </a:srgbClr>
                  </a:gs>
                  <a:gs pos="100000">
                    <a:srgbClr val="D6E1E2">
                      <a:gamma/>
                      <a:tint val="34902"/>
                      <a:invGamma/>
                    </a:srgb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/>
              <a:p>
                <a:endParaRPr lang="en-US"/>
              </a:p>
            </p:txBody>
          </p:sp>
          <p:sp>
            <p:nvSpPr>
              <p:cNvPr id="31" name="Oval 103"/>
              <p:cNvSpPr>
                <a:spLocks noChangeArrowheads="1"/>
              </p:cNvSpPr>
              <p:nvPr/>
            </p:nvSpPr>
            <p:spPr bwMode="auto">
              <a:xfrm>
                <a:off x="4195" y="1725"/>
                <a:ext cx="1162" cy="1141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gamma/>
                      <a:shade val="79216"/>
                      <a:invGamma/>
                    </a:srgbClr>
                  </a:gs>
                  <a:gs pos="100000">
                    <a:srgbClr val="D6E1E2">
                      <a:alpha val="48000"/>
                    </a:srgb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/>
              <a:p>
                <a:endParaRPr lang="en-US"/>
              </a:p>
            </p:txBody>
          </p:sp>
          <p:sp>
            <p:nvSpPr>
              <p:cNvPr id="32" name="Oval 104"/>
              <p:cNvSpPr>
                <a:spLocks noChangeArrowheads="1"/>
              </p:cNvSpPr>
              <p:nvPr/>
            </p:nvSpPr>
            <p:spPr bwMode="auto">
              <a:xfrm>
                <a:off x="4263" y="1757"/>
                <a:ext cx="1033" cy="926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gamma/>
                      <a:tint val="0"/>
                      <a:invGamma/>
                    </a:srgbClr>
                  </a:gs>
                  <a:gs pos="100000">
                    <a:srgbClr val="D6E1E2">
                      <a:alpha val="38000"/>
                    </a:srgb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/>
              <a:p>
                <a:endParaRPr lang="en-US"/>
              </a:p>
            </p:txBody>
          </p:sp>
        </p:grpSp>
        <p:sp>
          <p:nvSpPr>
            <p:cNvPr id="28" name="Text Box 105"/>
            <p:cNvSpPr txBox="1">
              <a:spLocks noChangeArrowheads="1"/>
            </p:cNvSpPr>
            <p:nvPr/>
          </p:nvSpPr>
          <p:spPr bwMode="auto">
            <a:xfrm>
              <a:off x="2622" y="2310"/>
              <a:ext cx="600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400" dirty="0" smtClean="0">
                  <a:solidFill>
                    <a:srgbClr val="000000"/>
                  </a:solidFill>
                </a:rPr>
                <a:t>KENDALI </a:t>
              </a:r>
            </a:p>
            <a:p>
              <a:pPr algn="ctr"/>
              <a:r>
                <a:rPr lang="en-US" sz="1400" dirty="0" smtClean="0">
                  <a:solidFill>
                    <a:srgbClr val="000000"/>
                  </a:solidFill>
                </a:rPr>
                <a:t>MUTU</a:t>
              </a:r>
              <a:endParaRPr lang="en-US" sz="1400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422606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remov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6" dur="19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LINGKUP KENDALI MUTU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381000" y="1295400"/>
            <a:ext cx="8305800" cy="518160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utoShape 64"/>
          <p:cNvSpPr>
            <a:spLocks noChangeArrowheads="1"/>
          </p:cNvSpPr>
          <p:nvPr/>
        </p:nvSpPr>
        <p:spPr bwMode="gray">
          <a:xfrm rot="15973924">
            <a:off x="4071301" y="2546496"/>
            <a:ext cx="792163" cy="288925"/>
          </a:xfrm>
          <a:prstGeom prst="rightArrow">
            <a:avLst>
              <a:gd name="adj1" fmla="val 35167"/>
              <a:gd name="adj2" fmla="val 111029"/>
            </a:avLst>
          </a:prstGeom>
          <a:gradFill rotWithShape="1">
            <a:gsLst>
              <a:gs pos="0">
                <a:schemeClr val="tx2">
                  <a:gamma/>
                  <a:shade val="89020"/>
                  <a:invGamma/>
                  <a:alpha val="0"/>
                </a:schemeClr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AutoShape 65"/>
          <p:cNvSpPr>
            <a:spLocks noChangeArrowheads="1"/>
          </p:cNvSpPr>
          <p:nvPr/>
        </p:nvSpPr>
        <p:spPr bwMode="gray">
          <a:xfrm rot="3465783">
            <a:off x="4728370" y="4850606"/>
            <a:ext cx="792162" cy="288925"/>
          </a:xfrm>
          <a:prstGeom prst="rightArrow">
            <a:avLst>
              <a:gd name="adj1" fmla="val 35167"/>
              <a:gd name="adj2" fmla="val 111028"/>
            </a:avLst>
          </a:prstGeom>
          <a:gradFill rotWithShape="1">
            <a:gsLst>
              <a:gs pos="0">
                <a:schemeClr val="tx2">
                  <a:gamma/>
                  <a:shade val="89020"/>
                  <a:invGamma/>
                  <a:alpha val="0"/>
                </a:schemeClr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AutoShape 67"/>
          <p:cNvSpPr>
            <a:spLocks noChangeArrowheads="1"/>
          </p:cNvSpPr>
          <p:nvPr/>
        </p:nvSpPr>
        <p:spPr bwMode="gray">
          <a:xfrm rot="7535209">
            <a:off x="3471069" y="4817269"/>
            <a:ext cx="792163" cy="288925"/>
          </a:xfrm>
          <a:prstGeom prst="rightArrow">
            <a:avLst>
              <a:gd name="adj1" fmla="val 35167"/>
              <a:gd name="adj2" fmla="val 111029"/>
            </a:avLst>
          </a:prstGeom>
          <a:gradFill rotWithShape="1">
            <a:gsLst>
              <a:gs pos="0">
                <a:schemeClr val="tx2">
                  <a:gamma/>
                  <a:shade val="89020"/>
                  <a:invGamma/>
                  <a:alpha val="0"/>
                </a:schemeClr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AutoShape 68"/>
          <p:cNvSpPr>
            <a:spLocks noChangeArrowheads="1"/>
          </p:cNvSpPr>
          <p:nvPr/>
        </p:nvSpPr>
        <p:spPr bwMode="gray">
          <a:xfrm>
            <a:off x="5307013" y="3814763"/>
            <a:ext cx="792162" cy="288925"/>
          </a:xfrm>
          <a:prstGeom prst="rightArrow">
            <a:avLst>
              <a:gd name="adj1" fmla="val 35167"/>
              <a:gd name="adj2" fmla="val 111028"/>
            </a:avLst>
          </a:prstGeom>
          <a:gradFill rotWithShape="1">
            <a:gsLst>
              <a:gs pos="0">
                <a:schemeClr val="tx2">
                  <a:gamma/>
                  <a:shade val="89020"/>
                  <a:invGamma/>
                  <a:alpha val="0"/>
                </a:schemeClr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AutoShape 69"/>
          <p:cNvSpPr>
            <a:spLocks noChangeArrowheads="1"/>
          </p:cNvSpPr>
          <p:nvPr/>
        </p:nvSpPr>
        <p:spPr bwMode="gray">
          <a:xfrm rot="10800000">
            <a:off x="2897188" y="3808413"/>
            <a:ext cx="863600" cy="288925"/>
          </a:xfrm>
          <a:prstGeom prst="rightArrow">
            <a:avLst>
              <a:gd name="adj1" fmla="val 35167"/>
              <a:gd name="adj2" fmla="val 121041"/>
            </a:avLst>
          </a:prstGeom>
          <a:gradFill rotWithShape="1">
            <a:gsLst>
              <a:gs pos="0">
                <a:schemeClr val="tx2">
                  <a:gamma/>
                  <a:shade val="89020"/>
                  <a:invGamma/>
                  <a:alpha val="0"/>
                </a:schemeClr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Oval 70"/>
          <p:cNvSpPr>
            <a:spLocks noChangeArrowheads="1"/>
          </p:cNvSpPr>
          <p:nvPr/>
        </p:nvSpPr>
        <p:spPr bwMode="gray">
          <a:xfrm>
            <a:off x="2643188" y="2046288"/>
            <a:ext cx="3743325" cy="3744912"/>
          </a:xfrm>
          <a:prstGeom prst="ellipse">
            <a:avLst/>
          </a:prstGeom>
          <a:noFill/>
          <a:ln w="38100">
            <a:solidFill>
              <a:srgbClr val="C0C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109250" dir="3267739" algn="ctr" rotWithShape="0">
                    <a:srgbClr val="00000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2" name="Oval 72"/>
          <p:cNvSpPr>
            <a:spLocks noChangeArrowheads="1"/>
          </p:cNvSpPr>
          <p:nvPr/>
        </p:nvSpPr>
        <p:spPr bwMode="gray">
          <a:xfrm>
            <a:off x="3298825" y="5303838"/>
            <a:ext cx="360363" cy="360362"/>
          </a:xfrm>
          <a:prstGeom prst="ellipse">
            <a:avLst/>
          </a:prstGeom>
          <a:gradFill rotWithShape="1">
            <a:gsLst>
              <a:gs pos="0">
                <a:srgbClr val="4DC9B1"/>
              </a:gs>
              <a:gs pos="100000">
                <a:srgbClr val="4DC9B1">
                  <a:gamma/>
                  <a:shade val="72549"/>
                  <a:invGamma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52400" dir="16200000" sy="-100000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Text Box 74"/>
          <p:cNvSpPr txBox="1">
            <a:spLocks noChangeArrowheads="1"/>
          </p:cNvSpPr>
          <p:nvPr/>
        </p:nvSpPr>
        <p:spPr bwMode="auto">
          <a:xfrm>
            <a:off x="3663508" y="1498600"/>
            <a:ext cx="174669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 dirty="0" smtClean="0">
                <a:solidFill>
                  <a:srgbClr val="000000"/>
                </a:solidFill>
              </a:rPr>
              <a:t>PERENCANAAN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14" name="Text Box 76"/>
          <p:cNvSpPr txBox="1">
            <a:spLocks noChangeArrowheads="1"/>
          </p:cNvSpPr>
          <p:nvPr/>
        </p:nvSpPr>
        <p:spPr bwMode="auto">
          <a:xfrm>
            <a:off x="6581775" y="3784600"/>
            <a:ext cx="150714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 dirty="0" smtClean="0">
                <a:solidFill>
                  <a:srgbClr val="000000"/>
                </a:solidFill>
              </a:rPr>
              <a:t>IDENTIFIKASI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15" name="Text Box 77"/>
          <p:cNvSpPr txBox="1">
            <a:spLocks noChangeArrowheads="1"/>
          </p:cNvSpPr>
          <p:nvPr/>
        </p:nvSpPr>
        <p:spPr bwMode="auto">
          <a:xfrm>
            <a:off x="5667375" y="5384800"/>
            <a:ext cx="169719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 dirty="0" smtClean="0">
                <a:solidFill>
                  <a:srgbClr val="000000"/>
                </a:solidFill>
              </a:rPr>
              <a:t>IMPLEMENTASI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16" name="Text Box 78"/>
          <p:cNvSpPr txBox="1">
            <a:spLocks noChangeArrowheads="1"/>
          </p:cNvSpPr>
          <p:nvPr/>
        </p:nvSpPr>
        <p:spPr bwMode="auto">
          <a:xfrm>
            <a:off x="1000317" y="3784600"/>
            <a:ext cx="143490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1600" dirty="0" smtClean="0">
                <a:solidFill>
                  <a:srgbClr val="000000"/>
                </a:solidFill>
              </a:rPr>
              <a:t>PENUTUPAN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17" name="Text Box 79"/>
          <p:cNvSpPr txBox="1">
            <a:spLocks noChangeArrowheads="1"/>
          </p:cNvSpPr>
          <p:nvPr/>
        </p:nvSpPr>
        <p:spPr bwMode="auto">
          <a:xfrm>
            <a:off x="2100408" y="5322888"/>
            <a:ext cx="117301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1600" dirty="0" smtClean="0">
                <a:solidFill>
                  <a:srgbClr val="000000"/>
                </a:solidFill>
              </a:rPr>
              <a:t>EVALUASI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18" name="Oval 81"/>
          <p:cNvSpPr>
            <a:spLocks noChangeArrowheads="1"/>
          </p:cNvSpPr>
          <p:nvPr/>
        </p:nvSpPr>
        <p:spPr bwMode="gray">
          <a:xfrm>
            <a:off x="5360988" y="5308600"/>
            <a:ext cx="360362" cy="360363"/>
          </a:xfrm>
          <a:prstGeom prst="ellipse">
            <a:avLst/>
          </a:prstGeom>
          <a:gradFill rotWithShape="1">
            <a:gsLst>
              <a:gs pos="0">
                <a:srgbClr val="CB90EC"/>
              </a:gs>
              <a:gs pos="100000">
                <a:srgbClr val="CB90EC">
                  <a:gamma/>
                  <a:shade val="72549"/>
                  <a:invGamma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52400" dir="16200000" sy="-100000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Oval 84"/>
          <p:cNvSpPr>
            <a:spLocks noChangeArrowheads="1"/>
          </p:cNvSpPr>
          <p:nvPr/>
        </p:nvSpPr>
        <p:spPr bwMode="gray">
          <a:xfrm>
            <a:off x="6199188" y="3784600"/>
            <a:ext cx="360362" cy="360363"/>
          </a:xfrm>
          <a:prstGeom prst="ellipse">
            <a:avLst/>
          </a:prstGeom>
          <a:gradFill rotWithShape="1">
            <a:gsLst>
              <a:gs pos="0">
                <a:srgbClr val="6699FF"/>
              </a:gs>
              <a:gs pos="100000">
                <a:srgbClr val="6699FF">
                  <a:gamma/>
                  <a:shade val="72549"/>
                  <a:invGamma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52400" dir="16200000" sy="-100000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Oval 87"/>
          <p:cNvSpPr>
            <a:spLocks noChangeArrowheads="1"/>
          </p:cNvSpPr>
          <p:nvPr/>
        </p:nvSpPr>
        <p:spPr bwMode="gray">
          <a:xfrm>
            <a:off x="4267200" y="1879600"/>
            <a:ext cx="360362" cy="360363"/>
          </a:xfrm>
          <a:prstGeom prst="ellipse">
            <a:avLst/>
          </a:prstGeom>
          <a:gradFill rotWithShape="1">
            <a:gsLst>
              <a:gs pos="0">
                <a:srgbClr val="FF9900"/>
              </a:gs>
              <a:gs pos="100000">
                <a:srgbClr val="FF9900">
                  <a:gamma/>
                  <a:shade val="72549"/>
                  <a:invGamma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52400" dir="16200000" sy="-100000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Oval 93"/>
          <p:cNvSpPr>
            <a:spLocks noChangeArrowheads="1"/>
          </p:cNvSpPr>
          <p:nvPr/>
        </p:nvSpPr>
        <p:spPr bwMode="gray">
          <a:xfrm>
            <a:off x="2465388" y="3784600"/>
            <a:ext cx="360362" cy="360363"/>
          </a:xfrm>
          <a:prstGeom prst="ellipse">
            <a:avLst/>
          </a:prstGeom>
          <a:gradFill rotWithShape="1">
            <a:gsLst>
              <a:gs pos="0">
                <a:srgbClr val="82B820"/>
              </a:gs>
              <a:gs pos="100000">
                <a:srgbClr val="82B820">
                  <a:gamma/>
                  <a:shade val="72549"/>
                  <a:invGamma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52400" dir="16200000" sy="-100000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2" name="Group 95"/>
          <p:cNvGrpSpPr>
            <a:grpSpLocks/>
          </p:cNvGrpSpPr>
          <p:nvPr/>
        </p:nvGrpSpPr>
        <p:grpSpPr bwMode="auto">
          <a:xfrm>
            <a:off x="3429002" y="2859088"/>
            <a:ext cx="2160589" cy="2160587"/>
            <a:chOff x="2238" y="1769"/>
            <a:chExt cx="1361" cy="1361"/>
          </a:xfrm>
        </p:grpSpPr>
        <p:sp>
          <p:nvSpPr>
            <p:cNvPr id="23" name="Oval 96"/>
            <p:cNvSpPr>
              <a:spLocks noChangeArrowheads="1"/>
            </p:cNvSpPr>
            <p:nvPr/>
          </p:nvSpPr>
          <p:spPr bwMode="gray">
            <a:xfrm>
              <a:off x="2238" y="1769"/>
              <a:ext cx="1361" cy="1361"/>
            </a:xfrm>
            <a:prstGeom prst="ellipse">
              <a:avLst/>
            </a:prstGeom>
            <a:gradFill rotWithShape="1">
              <a:gsLst>
                <a:gs pos="0">
                  <a:srgbClr val="0099CC">
                    <a:gamma/>
                    <a:tint val="42353"/>
                    <a:invGamma/>
                  </a:srgbClr>
                </a:gs>
                <a:gs pos="50000">
                  <a:srgbClr val="0099CC"/>
                </a:gs>
                <a:gs pos="100000">
                  <a:srgbClr val="0099CC">
                    <a:gamma/>
                    <a:tint val="42353"/>
                    <a:invGamma/>
                  </a:srgb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09250" dir="3267739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4" name="Oval 97"/>
            <p:cNvSpPr>
              <a:spLocks noChangeArrowheads="1"/>
            </p:cNvSpPr>
            <p:nvPr/>
          </p:nvSpPr>
          <p:spPr bwMode="gray">
            <a:xfrm>
              <a:off x="2327" y="1858"/>
              <a:ext cx="1183" cy="1183"/>
            </a:xfrm>
            <a:prstGeom prst="ellipse">
              <a:avLst/>
            </a:prstGeom>
            <a:gradFill rotWithShape="1">
              <a:gsLst>
                <a:gs pos="0">
                  <a:srgbClr val="0099CC">
                    <a:gamma/>
                    <a:shade val="54118"/>
                    <a:invGamma/>
                  </a:srgbClr>
                </a:gs>
                <a:gs pos="50000">
                  <a:srgbClr val="0099CC"/>
                </a:gs>
                <a:gs pos="100000">
                  <a:srgbClr val="0099CC">
                    <a:gamma/>
                    <a:shade val="54118"/>
                    <a:invGamma/>
                  </a:srgb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09250" dir="3267739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5" name="Oval 98"/>
            <p:cNvSpPr>
              <a:spLocks noChangeArrowheads="1"/>
            </p:cNvSpPr>
            <p:nvPr/>
          </p:nvSpPr>
          <p:spPr bwMode="gray">
            <a:xfrm>
              <a:off x="2328" y="1860"/>
              <a:ext cx="1183" cy="1183"/>
            </a:xfrm>
            <a:prstGeom prst="ellipse">
              <a:avLst/>
            </a:prstGeom>
            <a:gradFill rotWithShape="1">
              <a:gsLst>
                <a:gs pos="0">
                  <a:srgbClr val="0099CC">
                    <a:gamma/>
                    <a:shade val="63529"/>
                    <a:invGamma/>
                  </a:srgbClr>
                </a:gs>
                <a:gs pos="100000">
                  <a:srgbClr val="0099CC">
                    <a:alpha val="0"/>
                  </a:srgb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09250" dir="3267739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6" name="Oval 99"/>
            <p:cNvSpPr>
              <a:spLocks noChangeArrowheads="1"/>
            </p:cNvSpPr>
            <p:nvPr/>
          </p:nvSpPr>
          <p:spPr bwMode="gray">
            <a:xfrm>
              <a:off x="2391" y="1917"/>
              <a:ext cx="1065" cy="106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09250" dir="3267739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grpSp>
          <p:nvGrpSpPr>
            <p:cNvPr id="27" name="Group 100"/>
            <p:cNvGrpSpPr>
              <a:grpSpLocks/>
            </p:cNvGrpSpPr>
            <p:nvPr/>
          </p:nvGrpSpPr>
          <p:grpSpPr bwMode="auto">
            <a:xfrm>
              <a:off x="2410" y="1929"/>
              <a:ext cx="1031" cy="1031"/>
              <a:chOff x="4166" y="1706"/>
              <a:chExt cx="1252" cy="1252"/>
            </a:xfrm>
          </p:grpSpPr>
          <p:sp>
            <p:nvSpPr>
              <p:cNvPr id="29" name="Oval 101"/>
              <p:cNvSpPr>
                <a:spLocks noChangeArrowheads="1"/>
              </p:cNvSpPr>
              <p:nvPr/>
            </p:nvSpPr>
            <p:spPr bwMode="auto">
              <a:xfrm>
                <a:off x="4166" y="1706"/>
                <a:ext cx="1252" cy="1252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gamma/>
                      <a:shade val="46275"/>
                      <a:invGamma/>
                    </a:srgbClr>
                  </a:gs>
                  <a:gs pos="100000">
                    <a:srgbClr val="D6E1E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/>
              <a:p>
                <a:endParaRPr lang="en-US"/>
              </a:p>
            </p:txBody>
          </p:sp>
          <p:sp>
            <p:nvSpPr>
              <p:cNvPr id="30" name="Oval 102"/>
              <p:cNvSpPr>
                <a:spLocks noChangeArrowheads="1"/>
              </p:cNvSpPr>
              <p:nvPr/>
            </p:nvSpPr>
            <p:spPr bwMode="auto">
              <a:xfrm>
                <a:off x="4182" y="1713"/>
                <a:ext cx="1222" cy="1221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alpha val="0"/>
                    </a:srgbClr>
                  </a:gs>
                  <a:gs pos="100000">
                    <a:srgbClr val="D6E1E2">
                      <a:gamma/>
                      <a:tint val="34902"/>
                      <a:invGamma/>
                    </a:srgb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/>
              <a:p>
                <a:endParaRPr lang="en-US"/>
              </a:p>
            </p:txBody>
          </p:sp>
          <p:sp>
            <p:nvSpPr>
              <p:cNvPr id="31" name="Oval 103"/>
              <p:cNvSpPr>
                <a:spLocks noChangeArrowheads="1"/>
              </p:cNvSpPr>
              <p:nvPr/>
            </p:nvSpPr>
            <p:spPr bwMode="auto">
              <a:xfrm>
                <a:off x="4195" y="1725"/>
                <a:ext cx="1162" cy="1141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gamma/>
                      <a:shade val="79216"/>
                      <a:invGamma/>
                    </a:srgbClr>
                  </a:gs>
                  <a:gs pos="100000">
                    <a:srgbClr val="D6E1E2">
                      <a:alpha val="48000"/>
                    </a:srgb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/>
              <a:p>
                <a:endParaRPr lang="en-US"/>
              </a:p>
            </p:txBody>
          </p:sp>
          <p:sp>
            <p:nvSpPr>
              <p:cNvPr id="32" name="Oval 104"/>
              <p:cNvSpPr>
                <a:spLocks noChangeArrowheads="1"/>
              </p:cNvSpPr>
              <p:nvPr/>
            </p:nvSpPr>
            <p:spPr bwMode="auto">
              <a:xfrm>
                <a:off x="4263" y="1757"/>
                <a:ext cx="1033" cy="926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gamma/>
                      <a:tint val="0"/>
                      <a:invGamma/>
                    </a:srgbClr>
                  </a:gs>
                  <a:gs pos="100000">
                    <a:srgbClr val="D6E1E2">
                      <a:alpha val="38000"/>
                    </a:srgb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/>
              <a:p>
                <a:endParaRPr lang="en-US"/>
              </a:p>
            </p:txBody>
          </p:sp>
        </p:grpSp>
        <p:sp>
          <p:nvSpPr>
            <p:cNvPr id="28" name="Text Box 105"/>
            <p:cNvSpPr txBox="1">
              <a:spLocks noChangeArrowheads="1"/>
            </p:cNvSpPr>
            <p:nvPr/>
          </p:nvSpPr>
          <p:spPr bwMode="auto">
            <a:xfrm>
              <a:off x="2622" y="2310"/>
              <a:ext cx="600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400" dirty="0" smtClean="0">
                  <a:solidFill>
                    <a:srgbClr val="000000"/>
                  </a:solidFill>
                </a:rPr>
                <a:t>KENDALI </a:t>
              </a:r>
            </a:p>
            <a:p>
              <a:pPr algn="ctr"/>
              <a:r>
                <a:rPr lang="en-US" sz="1400" dirty="0" smtClean="0">
                  <a:solidFill>
                    <a:srgbClr val="000000"/>
                  </a:solidFill>
                </a:rPr>
                <a:t>MUTU</a:t>
              </a:r>
              <a:endParaRPr lang="en-US" sz="14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33" name="Group 4"/>
          <p:cNvGrpSpPr>
            <a:grpSpLocks/>
          </p:cNvGrpSpPr>
          <p:nvPr/>
        </p:nvGrpSpPr>
        <p:grpSpPr bwMode="auto">
          <a:xfrm>
            <a:off x="3663886" y="1828801"/>
            <a:ext cx="1587755" cy="1293812"/>
            <a:chOff x="2356" y="960"/>
            <a:chExt cx="1192" cy="959"/>
          </a:xfrm>
        </p:grpSpPr>
        <p:grpSp>
          <p:nvGrpSpPr>
            <p:cNvPr id="34" name="Group 5"/>
            <p:cNvGrpSpPr>
              <a:grpSpLocks/>
            </p:cNvGrpSpPr>
            <p:nvPr/>
          </p:nvGrpSpPr>
          <p:grpSpPr bwMode="auto">
            <a:xfrm>
              <a:off x="2356" y="960"/>
              <a:ext cx="1192" cy="959"/>
              <a:chOff x="2057" y="862"/>
              <a:chExt cx="1549" cy="1351"/>
            </a:xfrm>
          </p:grpSpPr>
          <p:sp>
            <p:nvSpPr>
              <p:cNvPr id="36" name="AutoShape 6"/>
              <p:cNvSpPr>
                <a:spLocks noChangeArrowheads="1"/>
              </p:cNvSpPr>
              <p:nvPr/>
            </p:nvSpPr>
            <p:spPr bwMode="gray">
              <a:xfrm>
                <a:off x="2070" y="885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" name="AutoShape 7"/>
              <p:cNvSpPr>
                <a:spLocks noChangeArrowheads="1"/>
              </p:cNvSpPr>
              <p:nvPr/>
            </p:nvSpPr>
            <p:spPr bwMode="gray">
              <a:xfrm>
                <a:off x="2057" y="862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" name="AutoShape 8"/>
              <p:cNvSpPr>
                <a:spLocks noChangeArrowheads="1"/>
              </p:cNvSpPr>
              <p:nvPr/>
            </p:nvSpPr>
            <p:spPr bwMode="gray">
              <a:xfrm>
                <a:off x="2147" y="942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7262EC"/>
                  </a:gs>
                  <a:gs pos="100000">
                    <a:srgbClr val="2614AA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5" name="Text Box 9"/>
            <p:cNvSpPr txBox="1">
              <a:spLocks noChangeArrowheads="1"/>
            </p:cNvSpPr>
            <p:nvPr/>
          </p:nvSpPr>
          <p:spPr bwMode="gray">
            <a:xfrm>
              <a:off x="2523" y="1292"/>
              <a:ext cx="77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 dirty="0" smtClean="0">
                  <a:solidFill>
                    <a:srgbClr val="FFFFFF"/>
                  </a:solidFill>
                </a:rPr>
                <a:t>LINGKUP</a:t>
              </a:r>
              <a:endParaRPr lang="en-US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39" name="Group 10"/>
          <p:cNvGrpSpPr>
            <a:grpSpLocks/>
          </p:cNvGrpSpPr>
          <p:nvPr/>
        </p:nvGrpSpPr>
        <p:grpSpPr bwMode="auto">
          <a:xfrm>
            <a:off x="2286000" y="2587626"/>
            <a:ext cx="1589087" cy="1293812"/>
            <a:chOff x="1488" y="1438"/>
            <a:chExt cx="1193" cy="959"/>
          </a:xfrm>
        </p:grpSpPr>
        <p:grpSp>
          <p:nvGrpSpPr>
            <p:cNvPr id="40" name="Group 11"/>
            <p:cNvGrpSpPr>
              <a:grpSpLocks/>
            </p:cNvGrpSpPr>
            <p:nvPr/>
          </p:nvGrpSpPr>
          <p:grpSpPr bwMode="auto">
            <a:xfrm>
              <a:off x="1488" y="1438"/>
              <a:ext cx="1193" cy="959"/>
              <a:chOff x="1110" y="2656"/>
              <a:chExt cx="1549" cy="1351"/>
            </a:xfrm>
          </p:grpSpPr>
          <p:sp>
            <p:nvSpPr>
              <p:cNvPr id="42" name="AutoShape 12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3" name="AutoShape 13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" name="AutoShape 14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49ACE3">
                      <a:gamma/>
                      <a:shade val="94118"/>
                      <a:invGamma/>
                    </a:srgbClr>
                  </a:gs>
                  <a:gs pos="100000">
                    <a:srgbClr val="49ACE3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1" name="Text Box 15"/>
            <p:cNvSpPr txBox="1">
              <a:spLocks noChangeArrowheads="1"/>
            </p:cNvSpPr>
            <p:nvPr/>
          </p:nvSpPr>
          <p:spPr bwMode="gray">
            <a:xfrm>
              <a:off x="1660" y="1716"/>
              <a:ext cx="67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 dirty="0" smtClean="0">
                  <a:solidFill>
                    <a:srgbClr val="FFFFFF"/>
                  </a:solidFill>
                </a:rPr>
                <a:t>RESIKO</a:t>
              </a:r>
              <a:endParaRPr lang="en-US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51" name="Group 22"/>
          <p:cNvGrpSpPr>
            <a:grpSpLocks/>
          </p:cNvGrpSpPr>
          <p:nvPr/>
        </p:nvGrpSpPr>
        <p:grpSpPr bwMode="auto">
          <a:xfrm>
            <a:off x="5040313" y="2587626"/>
            <a:ext cx="1589087" cy="1293812"/>
            <a:chOff x="3223" y="1438"/>
            <a:chExt cx="1193" cy="959"/>
          </a:xfrm>
        </p:grpSpPr>
        <p:grpSp>
          <p:nvGrpSpPr>
            <p:cNvPr id="52" name="Group 23"/>
            <p:cNvGrpSpPr>
              <a:grpSpLocks/>
            </p:cNvGrpSpPr>
            <p:nvPr/>
          </p:nvGrpSpPr>
          <p:grpSpPr bwMode="auto">
            <a:xfrm>
              <a:off x="3223" y="1438"/>
              <a:ext cx="1193" cy="959"/>
              <a:chOff x="2057" y="862"/>
              <a:chExt cx="1549" cy="1351"/>
            </a:xfrm>
          </p:grpSpPr>
          <p:sp>
            <p:nvSpPr>
              <p:cNvPr id="54" name="AutoShape 24"/>
              <p:cNvSpPr>
                <a:spLocks noChangeArrowheads="1"/>
              </p:cNvSpPr>
              <p:nvPr/>
            </p:nvSpPr>
            <p:spPr bwMode="gray">
              <a:xfrm>
                <a:off x="2070" y="885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5" name="AutoShape 25"/>
              <p:cNvSpPr>
                <a:spLocks noChangeArrowheads="1"/>
              </p:cNvSpPr>
              <p:nvPr/>
            </p:nvSpPr>
            <p:spPr bwMode="gray">
              <a:xfrm>
                <a:off x="2057" y="862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6" name="AutoShape 26"/>
              <p:cNvSpPr>
                <a:spLocks noChangeArrowheads="1"/>
              </p:cNvSpPr>
              <p:nvPr/>
            </p:nvSpPr>
            <p:spPr bwMode="gray">
              <a:xfrm>
                <a:off x="2147" y="942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85B9C3">
                      <a:gamma/>
                      <a:shade val="46275"/>
                      <a:invGamma/>
                    </a:srgbClr>
                  </a:gs>
                  <a:gs pos="100000">
                    <a:srgbClr val="85B9C3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3" name="Text Box 27"/>
            <p:cNvSpPr txBox="1">
              <a:spLocks noChangeArrowheads="1"/>
            </p:cNvSpPr>
            <p:nvPr/>
          </p:nvSpPr>
          <p:spPr bwMode="gray">
            <a:xfrm>
              <a:off x="3443" y="1829"/>
              <a:ext cx="64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 dirty="0" smtClean="0">
                  <a:solidFill>
                    <a:srgbClr val="FFFFFF"/>
                  </a:solidFill>
                </a:rPr>
                <a:t>WAKTU</a:t>
              </a:r>
              <a:endParaRPr lang="en-US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57" name="Group 28"/>
          <p:cNvGrpSpPr>
            <a:grpSpLocks/>
          </p:cNvGrpSpPr>
          <p:nvPr/>
        </p:nvGrpSpPr>
        <p:grpSpPr bwMode="auto">
          <a:xfrm>
            <a:off x="5040313" y="4114801"/>
            <a:ext cx="1589087" cy="1293812"/>
            <a:chOff x="3223" y="2400"/>
            <a:chExt cx="1193" cy="959"/>
          </a:xfrm>
        </p:grpSpPr>
        <p:grpSp>
          <p:nvGrpSpPr>
            <p:cNvPr id="58" name="Group 29"/>
            <p:cNvGrpSpPr>
              <a:grpSpLocks/>
            </p:cNvGrpSpPr>
            <p:nvPr/>
          </p:nvGrpSpPr>
          <p:grpSpPr bwMode="auto">
            <a:xfrm>
              <a:off x="3223" y="2400"/>
              <a:ext cx="1193" cy="959"/>
              <a:chOff x="3174" y="2656"/>
              <a:chExt cx="1549" cy="1351"/>
            </a:xfrm>
          </p:grpSpPr>
          <p:sp>
            <p:nvSpPr>
              <p:cNvPr id="60" name="AutoShape 30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" name="AutoShape 31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" name="AutoShape 32"/>
              <p:cNvSpPr>
                <a:spLocks noChangeArrowheads="1"/>
              </p:cNvSpPr>
              <p:nvPr/>
            </p:nvSpPr>
            <p:spPr bwMode="gray">
              <a:xfrm>
                <a:off x="3264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41D592">
                      <a:gamma/>
                      <a:shade val="51373"/>
                      <a:invGamma/>
                    </a:srgbClr>
                  </a:gs>
                  <a:gs pos="100000">
                    <a:srgbClr val="41D592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9" name="Text Box 33"/>
            <p:cNvSpPr txBox="1">
              <a:spLocks noChangeArrowheads="1"/>
            </p:cNvSpPr>
            <p:nvPr/>
          </p:nvSpPr>
          <p:spPr bwMode="gray">
            <a:xfrm>
              <a:off x="3572" y="2650"/>
              <a:ext cx="54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 dirty="0" smtClean="0">
                  <a:solidFill>
                    <a:srgbClr val="FFFFFF"/>
                  </a:solidFill>
                </a:rPr>
                <a:t>BIAYA</a:t>
              </a:r>
              <a:endParaRPr lang="en-US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63" name="Group 34"/>
          <p:cNvGrpSpPr>
            <a:grpSpLocks/>
          </p:cNvGrpSpPr>
          <p:nvPr/>
        </p:nvGrpSpPr>
        <p:grpSpPr bwMode="auto">
          <a:xfrm>
            <a:off x="2286000" y="4114801"/>
            <a:ext cx="1589087" cy="1293812"/>
            <a:chOff x="1488" y="2400"/>
            <a:chExt cx="1193" cy="959"/>
          </a:xfrm>
        </p:grpSpPr>
        <p:grpSp>
          <p:nvGrpSpPr>
            <p:cNvPr id="64" name="Group 35"/>
            <p:cNvGrpSpPr>
              <a:grpSpLocks/>
            </p:cNvGrpSpPr>
            <p:nvPr/>
          </p:nvGrpSpPr>
          <p:grpSpPr bwMode="auto">
            <a:xfrm>
              <a:off x="1488" y="2400"/>
              <a:ext cx="1193" cy="959"/>
              <a:chOff x="3174" y="2656"/>
              <a:chExt cx="1549" cy="1351"/>
            </a:xfrm>
          </p:grpSpPr>
          <p:sp>
            <p:nvSpPr>
              <p:cNvPr id="66" name="AutoShape 36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" name="AutoShape 37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8" name="AutoShape 38"/>
              <p:cNvSpPr>
                <a:spLocks noChangeArrowheads="1"/>
              </p:cNvSpPr>
              <p:nvPr/>
            </p:nvSpPr>
            <p:spPr bwMode="gray">
              <a:xfrm>
                <a:off x="3263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0099CC">
                      <a:gamma/>
                      <a:shade val="84706"/>
                      <a:invGamma/>
                    </a:srgbClr>
                  </a:gs>
                  <a:gs pos="100000">
                    <a:srgbClr val="0099CC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5" name="Text Box 39"/>
            <p:cNvSpPr txBox="1">
              <a:spLocks noChangeArrowheads="1"/>
            </p:cNvSpPr>
            <p:nvPr/>
          </p:nvSpPr>
          <p:spPr bwMode="gray">
            <a:xfrm>
              <a:off x="1683" y="2760"/>
              <a:ext cx="845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400" b="1" dirty="0" smtClean="0">
                  <a:solidFill>
                    <a:srgbClr val="FFFFFF"/>
                  </a:solidFill>
                </a:rPr>
                <a:t>KOMUNIKASI</a:t>
              </a:r>
              <a:endParaRPr lang="en-US" sz="1400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69" name="Group 40"/>
          <p:cNvGrpSpPr>
            <a:grpSpLocks/>
          </p:cNvGrpSpPr>
          <p:nvPr/>
        </p:nvGrpSpPr>
        <p:grpSpPr bwMode="auto">
          <a:xfrm>
            <a:off x="3663886" y="4878389"/>
            <a:ext cx="1587755" cy="1293812"/>
            <a:chOff x="2356" y="2881"/>
            <a:chExt cx="1192" cy="959"/>
          </a:xfrm>
        </p:grpSpPr>
        <p:grpSp>
          <p:nvGrpSpPr>
            <p:cNvPr id="70" name="Group 41"/>
            <p:cNvGrpSpPr>
              <a:grpSpLocks/>
            </p:cNvGrpSpPr>
            <p:nvPr/>
          </p:nvGrpSpPr>
          <p:grpSpPr bwMode="auto">
            <a:xfrm>
              <a:off x="2356" y="2881"/>
              <a:ext cx="1192" cy="959"/>
              <a:chOff x="3174" y="2656"/>
              <a:chExt cx="1549" cy="1351"/>
            </a:xfrm>
          </p:grpSpPr>
          <p:sp>
            <p:nvSpPr>
              <p:cNvPr id="72" name="AutoShape 42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3" name="AutoShape 43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4" name="AutoShape 44"/>
              <p:cNvSpPr>
                <a:spLocks noChangeArrowheads="1"/>
              </p:cNvSpPr>
              <p:nvPr/>
            </p:nvSpPr>
            <p:spPr bwMode="gray">
              <a:xfrm>
                <a:off x="3264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33CCCC">
                      <a:gamma/>
                      <a:shade val="46275"/>
                      <a:invGamma/>
                    </a:srgbClr>
                  </a:gs>
                  <a:gs pos="100000">
                    <a:srgbClr val="33CCCC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71" name="Text Box 45"/>
            <p:cNvSpPr txBox="1">
              <a:spLocks noChangeArrowheads="1"/>
            </p:cNvSpPr>
            <p:nvPr/>
          </p:nvSpPr>
          <p:spPr bwMode="gray">
            <a:xfrm>
              <a:off x="2734" y="3095"/>
              <a:ext cx="43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 dirty="0" smtClean="0">
                  <a:solidFill>
                    <a:srgbClr val="FFFFFF"/>
                  </a:solidFill>
                </a:rPr>
                <a:t>SDM</a:t>
              </a:r>
              <a:endParaRPr lang="en-US" dirty="0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530349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remov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6" dur="19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KEUNIKAN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371600"/>
            <a:ext cx="8458200" cy="4495800"/>
          </a:xfrm>
        </p:spPr>
        <p:txBody>
          <a:bodyPr/>
          <a:lstStyle/>
          <a:p>
            <a:pPr marL="342900" indent="-342900" algn="just">
              <a:buFont typeface="+mj-lt"/>
              <a:buAutoNum type="arabicPeriod"/>
            </a:pPr>
            <a:r>
              <a:rPr lang="hr-HR" sz="1800" dirty="0" smtClean="0"/>
              <a:t>LAKSANA </a:t>
            </a:r>
            <a:r>
              <a:rPr lang="hr-HR" sz="1800" dirty="0"/>
              <a:t>adalah </a:t>
            </a:r>
            <a:r>
              <a:rPr lang="hr-HR" sz="1800" dirty="0" smtClean="0"/>
              <a:t>aplikasi </a:t>
            </a:r>
            <a:r>
              <a:rPr lang="hr-HR" sz="1800" dirty="0"/>
              <a:t>yang mengintegrasikan perencanaan, implementasi, dan pelaporan kegiatan dan keuangan pemerintah secara simultan</a:t>
            </a:r>
            <a:r>
              <a:rPr lang="hr-HR" sz="1800" dirty="0" smtClean="0"/>
              <a:t>.;</a:t>
            </a:r>
            <a:r>
              <a:rPr lang="hr-HR" sz="1800" dirty="0"/>
              <a:t> </a:t>
            </a:r>
            <a:endParaRPr lang="en-US" sz="1800" dirty="0"/>
          </a:p>
          <a:p>
            <a:pPr marL="342900" indent="-342900" algn="just">
              <a:buFont typeface="+mj-lt"/>
              <a:buAutoNum type="arabicPeriod"/>
            </a:pPr>
            <a:r>
              <a:rPr lang="hr-HR" sz="1800" dirty="0" smtClean="0"/>
              <a:t>LAKSANA </a:t>
            </a:r>
            <a:r>
              <a:rPr lang="hr-HR" sz="1800" dirty="0"/>
              <a:t>dikhususkan pada pengelolaan keuangan (PK) khas berbasis </a:t>
            </a:r>
            <a:r>
              <a:rPr lang="hr-HR" sz="1800" dirty="0" smtClean="0"/>
              <a:t>DIPA;</a:t>
            </a:r>
            <a:endParaRPr lang="en-US" sz="1800" dirty="0"/>
          </a:p>
          <a:p>
            <a:pPr marL="342900" indent="-342900" algn="just">
              <a:buFont typeface="+mj-lt"/>
              <a:buAutoNum type="arabicPeriod"/>
            </a:pPr>
            <a:r>
              <a:rPr lang="hr-HR" sz="1800" dirty="0" smtClean="0"/>
              <a:t>LAKSANA </a:t>
            </a:r>
            <a:r>
              <a:rPr lang="hr-HR" sz="1800" dirty="0"/>
              <a:t>dibangun dengan arsitektur komputasi awan sehingga dapat disesuaikan dengan kekhasan kebutuhan dan pengembangan fitur dari satuan-satuan kerja yang </a:t>
            </a:r>
            <a:r>
              <a:rPr lang="hr-HR" sz="1800" dirty="0" smtClean="0"/>
              <a:t>berbeda;</a:t>
            </a:r>
            <a:endParaRPr lang="en-US" sz="1800" dirty="0"/>
          </a:p>
          <a:p>
            <a:pPr marL="342900" indent="-342900" algn="just">
              <a:buFont typeface="+mj-lt"/>
              <a:buAutoNum type="arabicPeriod"/>
            </a:pPr>
            <a:r>
              <a:rPr lang="hr-HR" sz="1800" dirty="0" smtClean="0"/>
              <a:t>Implementasi </a:t>
            </a:r>
            <a:r>
              <a:rPr lang="hr-HR" sz="1800" dirty="0"/>
              <a:t>LAKSANA akan memudahkan proses monitoring kegiatan dan keuangan sehingga dapat menjadi tools untuk prognosa/proyeksi yang membantu dalam pengambilan keputusan serta tindakan-tindakan penyesuaian/korektif lainnya. </a:t>
            </a:r>
            <a:endParaRPr lang="en-US" sz="1800" dirty="0"/>
          </a:p>
          <a:p>
            <a:pPr marL="342900" indent="-342900" algn="just">
              <a:buFont typeface="+mj-lt"/>
              <a:buAutoNum type="arabicPeriod"/>
            </a:pPr>
            <a:r>
              <a:rPr lang="hr-HR" sz="1800" dirty="0" smtClean="0"/>
              <a:t>Otomasi </a:t>
            </a:r>
            <a:r>
              <a:rPr lang="hr-HR" sz="1800" dirty="0"/>
              <a:t>perencanaan, pelaksanaan, dan pelaporan kegiatan dan keuangan pemerintah melalui LAKSANA akan berdampak pada efektitivitas usaha dan efisiensi waktu, tenaga, serta biaya yang merupakan salah satu tujuan penerapan e-government.</a:t>
            </a:r>
            <a:endParaRPr lang="en-US" sz="1800" dirty="0"/>
          </a:p>
          <a:p>
            <a:pPr algn="just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1132085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METODOLOGI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METODE PENGUMPULAN DATA</a:t>
            </a:r>
          </a:p>
          <a:p>
            <a:endParaRPr lang="en-US" dirty="0" smtClean="0"/>
          </a:p>
          <a:p>
            <a:pPr marL="514350" indent="-514350">
              <a:buAutoNum type="alphaUcPeriod"/>
            </a:pPr>
            <a:r>
              <a:rPr lang="en-US" dirty="0" smtClean="0">
                <a:solidFill>
                  <a:srgbClr val="0000FF"/>
                </a:solidFill>
              </a:rPr>
              <a:t>OBSERVASI</a:t>
            </a:r>
          </a:p>
          <a:p>
            <a:pPr marL="514350" indent="-514350">
              <a:buAutoNum type="alphaUcPeriod"/>
            </a:pPr>
            <a:r>
              <a:rPr lang="en-US" dirty="0" smtClean="0">
                <a:solidFill>
                  <a:srgbClr val="0000FF"/>
                </a:solidFill>
              </a:rPr>
              <a:t>ANGKET</a:t>
            </a:r>
          </a:p>
          <a:p>
            <a:pPr marL="514350" indent="-514350">
              <a:buAutoNum type="alphaUcPeriod"/>
            </a:pPr>
            <a:endParaRPr lang="en-US" dirty="0" smtClean="0"/>
          </a:p>
          <a:p>
            <a:r>
              <a:rPr lang="en-US" dirty="0" smtClean="0"/>
              <a:t>METODE PENGEMBANGAN SISTEM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</a:t>
            </a:r>
            <a:r>
              <a:rPr lang="en-US" i="1" dirty="0" smtClean="0"/>
              <a:t>RAPID APPLICATION DEVELOPMENT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7395916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609600" y="153987"/>
            <a:ext cx="1892300" cy="1522413"/>
            <a:chOff x="2356" y="960"/>
            <a:chExt cx="1192" cy="959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2356" y="960"/>
              <a:ext cx="1192" cy="959"/>
              <a:chOff x="2057" y="862"/>
              <a:chExt cx="1549" cy="1351"/>
            </a:xfrm>
          </p:grpSpPr>
          <p:sp>
            <p:nvSpPr>
              <p:cNvPr id="486406" name="AutoShape 6"/>
              <p:cNvSpPr>
                <a:spLocks noChangeArrowheads="1"/>
              </p:cNvSpPr>
              <p:nvPr/>
            </p:nvSpPr>
            <p:spPr bwMode="gray">
              <a:xfrm>
                <a:off x="2070" y="885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6407" name="AutoShape 7"/>
              <p:cNvSpPr>
                <a:spLocks noChangeArrowheads="1"/>
              </p:cNvSpPr>
              <p:nvPr/>
            </p:nvSpPr>
            <p:spPr bwMode="gray">
              <a:xfrm>
                <a:off x="2057" y="862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6408" name="AutoShape 8"/>
              <p:cNvSpPr>
                <a:spLocks noChangeArrowheads="1"/>
              </p:cNvSpPr>
              <p:nvPr/>
            </p:nvSpPr>
            <p:spPr bwMode="gray">
              <a:xfrm>
                <a:off x="2147" y="942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7262EC"/>
                  </a:gs>
                  <a:gs pos="100000">
                    <a:srgbClr val="2614AA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86409" name="Text Box 9"/>
            <p:cNvSpPr txBox="1">
              <a:spLocks noChangeArrowheads="1"/>
            </p:cNvSpPr>
            <p:nvPr/>
          </p:nvSpPr>
          <p:spPr bwMode="gray">
            <a:xfrm>
              <a:off x="2564" y="1170"/>
              <a:ext cx="77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 dirty="0" smtClean="0"/>
                <a:t>LINGKUP</a:t>
              </a:r>
              <a:endParaRPr lang="en-US" dirty="0"/>
            </a:p>
          </p:txBody>
        </p:sp>
      </p:grpSp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533400" y="1771650"/>
            <a:ext cx="1724025" cy="482600"/>
            <a:chOff x="816" y="2304"/>
            <a:chExt cx="1440" cy="448"/>
          </a:xfrm>
        </p:grpSpPr>
        <p:sp>
          <p:nvSpPr>
            <p:cNvPr id="11" name="Freeform 4"/>
            <p:cNvSpPr>
              <a:spLocks/>
            </p:cNvSpPr>
            <p:nvPr/>
          </p:nvSpPr>
          <p:spPr bwMode="gray">
            <a:xfrm>
              <a:off x="901" y="2562"/>
              <a:ext cx="1270" cy="190"/>
            </a:xfrm>
            <a:custGeom>
              <a:avLst/>
              <a:gdLst>
                <a:gd name="T0" fmla="*/ 1120 w 1120"/>
                <a:gd name="T1" fmla="*/ 252 h 252"/>
                <a:gd name="T2" fmla="*/ 1116 w 1120"/>
                <a:gd name="T3" fmla="*/ 250 h 252"/>
                <a:gd name="T4" fmla="*/ 1100 w 1120"/>
                <a:gd name="T5" fmla="*/ 246 h 252"/>
                <a:gd name="T6" fmla="*/ 1074 w 1120"/>
                <a:gd name="T7" fmla="*/ 240 h 252"/>
                <a:gd name="T8" fmla="*/ 1038 w 1120"/>
                <a:gd name="T9" fmla="*/ 232 h 252"/>
                <a:gd name="T10" fmla="*/ 992 w 1120"/>
                <a:gd name="T11" fmla="*/ 222 h 252"/>
                <a:gd name="T12" fmla="*/ 938 w 1120"/>
                <a:gd name="T13" fmla="*/ 212 h 252"/>
                <a:gd name="T14" fmla="*/ 876 w 1120"/>
                <a:gd name="T15" fmla="*/ 204 h 252"/>
                <a:gd name="T16" fmla="*/ 806 w 1120"/>
                <a:gd name="T17" fmla="*/ 196 h 252"/>
                <a:gd name="T18" fmla="*/ 730 w 1120"/>
                <a:gd name="T19" fmla="*/ 190 h 252"/>
                <a:gd name="T20" fmla="*/ 646 w 1120"/>
                <a:gd name="T21" fmla="*/ 184 h 252"/>
                <a:gd name="T22" fmla="*/ 556 w 1120"/>
                <a:gd name="T23" fmla="*/ 184 h 252"/>
                <a:gd name="T24" fmla="*/ 466 w 1120"/>
                <a:gd name="T25" fmla="*/ 184 h 252"/>
                <a:gd name="T26" fmla="*/ 384 w 1120"/>
                <a:gd name="T27" fmla="*/ 190 h 252"/>
                <a:gd name="T28" fmla="*/ 308 w 1120"/>
                <a:gd name="T29" fmla="*/ 196 h 252"/>
                <a:gd name="T30" fmla="*/ 238 w 1120"/>
                <a:gd name="T31" fmla="*/ 204 h 252"/>
                <a:gd name="T32" fmla="*/ 178 w 1120"/>
                <a:gd name="T33" fmla="*/ 212 h 252"/>
                <a:gd name="T34" fmla="*/ 126 w 1120"/>
                <a:gd name="T35" fmla="*/ 222 h 252"/>
                <a:gd name="T36" fmla="*/ 82 w 1120"/>
                <a:gd name="T37" fmla="*/ 232 h 252"/>
                <a:gd name="T38" fmla="*/ 46 w 1120"/>
                <a:gd name="T39" fmla="*/ 240 h 252"/>
                <a:gd name="T40" fmla="*/ 20 w 1120"/>
                <a:gd name="T41" fmla="*/ 246 h 252"/>
                <a:gd name="T42" fmla="*/ 6 w 1120"/>
                <a:gd name="T43" fmla="*/ 250 h 252"/>
                <a:gd name="T44" fmla="*/ 0 w 1120"/>
                <a:gd name="T45" fmla="*/ 252 h 252"/>
                <a:gd name="T46" fmla="*/ 0 w 1120"/>
                <a:gd name="T47" fmla="*/ 62 h 252"/>
                <a:gd name="T48" fmla="*/ 560 w 1120"/>
                <a:gd name="T49" fmla="*/ 0 h 252"/>
                <a:gd name="T50" fmla="*/ 1120 w 1120"/>
                <a:gd name="T51" fmla="*/ 62 h 252"/>
                <a:gd name="T52" fmla="*/ 1120 w 1120"/>
                <a:gd name="T53" fmla="*/ 252 h 252"/>
                <a:gd name="T54" fmla="*/ 1120 w 1120"/>
                <a:gd name="T55" fmla="*/ 252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DF5908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gradFill rotWithShape="1">
              <a:gsLst>
                <a:gs pos="0">
                  <a:schemeClr val="bg1">
                    <a:gamma/>
                    <a:tint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b="1" dirty="0" smtClean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BAHAN</a:t>
              </a:r>
              <a:endParaRPr lang="en-US" b="1" dirty="0"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</p:grpSp>
      <p:grpSp>
        <p:nvGrpSpPr>
          <p:cNvPr id="5" name="Group 6"/>
          <p:cNvGrpSpPr>
            <a:grpSpLocks/>
          </p:cNvGrpSpPr>
          <p:nvPr/>
        </p:nvGrpSpPr>
        <p:grpSpPr bwMode="auto">
          <a:xfrm>
            <a:off x="533400" y="2914650"/>
            <a:ext cx="1724025" cy="482600"/>
            <a:chOff x="816" y="2304"/>
            <a:chExt cx="1440" cy="448"/>
          </a:xfrm>
        </p:grpSpPr>
        <p:sp>
          <p:nvSpPr>
            <p:cNvPr id="14" name="Freeform 7"/>
            <p:cNvSpPr>
              <a:spLocks/>
            </p:cNvSpPr>
            <p:nvPr/>
          </p:nvSpPr>
          <p:spPr bwMode="gray">
            <a:xfrm>
              <a:off x="901" y="2562"/>
              <a:ext cx="1270" cy="190"/>
            </a:xfrm>
            <a:custGeom>
              <a:avLst/>
              <a:gdLst>
                <a:gd name="T0" fmla="*/ 1120 w 1120"/>
                <a:gd name="T1" fmla="*/ 252 h 252"/>
                <a:gd name="T2" fmla="*/ 1116 w 1120"/>
                <a:gd name="T3" fmla="*/ 250 h 252"/>
                <a:gd name="T4" fmla="*/ 1100 w 1120"/>
                <a:gd name="T5" fmla="*/ 246 h 252"/>
                <a:gd name="T6" fmla="*/ 1074 w 1120"/>
                <a:gd name="T7" fmla="*/ 240 h 252"/>
                <a:gd name="T8" fmla="*/ 1038 w 1120"/>
                <a:gd name="T9" fmla="*/ 232 h 252"/>
                <a:gd name="T10" fmla="*/ 992 w 1120"/>
                <a:gd name="T11" fmla="*/ 222 h 252"/>
                <a:gd name="T12" fmla="*/ 938 w 1120"/>
                <a:gd name="T13" fmla="*/ 212 h 252"/>
                <a:gd name="T14" fmla="*/ 876 w 1120"/>
                <a:gd name="T15" fmla="*/ 204 h 252"/>
                <a:gd name="T16" fmla="*/ 806 w 1120"/>
                <a:gd name="T17" fmla="*/ 196 h 252"/>
                <a:gd name="T18" fmla="*/ 730 w 1120"/>
                <a:gd name="T19" fmla="*/ 190 h 252"/>
                <a:gd name="T20" fmla="*/ 646 w 1120"/>
                <a:gd name="T21" fmla="*/ 184 h 252"/>
                <a:gd name="T22" fmla="*/ 556 w 1120"/>
                <a:gd name="T23" fmla="*/ 184 h 252"/>
                <a:gd name="T24" fmla="*/ 466 w 1120"/>
                <a:gd name="T25" fmla="*/ 184 h 252"/>
                <a:gd name="T26" fmla="*/ 384 w 1120"/>
                <a:gd name="T27" fmla="*/ 190 h 252"/>
                <a:gd name="T28" fmla="*/ 308 w 1120"/>
                <a:gd name="T29" fmla="*/ 196 h 252"/>
                <a:gd name="T30" fmla="*/ 238 w 1120"/>
                <a:gd name="T31" fmla="*/ 204 h 252"/>
                <a:gd name="T32" fmla="*/ 178 w 1120"/>
                <a:gd name="T33" fmla="*/ 212 h 252"/>
                <a:gd name="T34" fmla="*/ 126 w 1120"/>
                <a:gd name="T35" fmla="*/ 222 h 252"/>
                <a:gd name="T36" fmla="*/ 82 w 1120"/>
                <a:gd name="T37" fmla="*/ 232 h 252"/>
                <a:gd name="T38" fmla="*/ 46 w 1120"/>
                <a:gd name="T39" fmla="*/ 240 h 252"/>
                <a:gd name="T40" fmla="*/ 20 w 1120"/>
                <a:gd name="T41" fmla="*/ 246 h 252"/>
                <a:gd name="T42" fmla="*/ 6 w 1120"/>
                <a:gd name="T43" fmla="*/ 250 h 252"/>
                <a:gd name="T44" fmla="*/ 0 w 1120"/>
                <a:gd name="T45" fmla="*/ 252 h 252"/>
                <a:gd name="T46" fmla="*/ 0 w 1120"/>
                <a:gd name="T47" fmla="*/ 62 h 252"/>
                <a:gd name="T48" fmla="*/ 560 w 1120"/>
                <a:gd name="T49" fmla="*/ 0 h 252"/>
                <a:gd name="T50" fmla="*/ 1120 w 1120"/>
                <a:gd name="T51" fmla="*/ 62 h 252"/>
                <a:gd name="T52" fmla="*/ 1120 w 1120"/>
                <a:gd name="T53" fmla="*/ 252 h 252"/>
                <a:gd name="T54" fmla="*/ 1120 w 1120"/>
                <a:gd name="T55" fmla="*/ 252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DF5908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gradFill rotWithShape="1">
              <a:gsLst>
                <a:gs pos="0">
                  <a:srgbClr val="D8755A">
                    <a:gamma/>
                    <a:tint val="51373"/>
                    <a:invGamma/>
                  </a:srgbClr>
                </a:gs>
                <a:gs pos="100000">
                  <a:srgbClr val="D8755A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sz="1600" b="1" dirty="0" smtClean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NON-OPERASIONAL</a:t>
              </a:r>
              <a:endParaRPr lang="en-US" sz="1600" b="1" dirty="0"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</p:grpSp>
      <p:grpSp>
        <p:nvGrpSpPr>
          <p:cNvPr id="6" name="Group 9"/>
          <p:cNvGrpSpPr>
            <a:grpSpLocks/>
          </p:cNvGrpSpPr>
          <p:nvPr/>
        </p:nvGrpSpPr>
        <p:grpSpPr bwMode="auto">
          <a:xfrm>
            <a:off x="533400" y="4057650"/>
            <a:ext cx="1724025" cy="482600"/>
            <a:chOff x="816" y="2304"/>
            <a:chExt cx="1440" cy="448"/>
          </a:xfrm>
        </p:grpSpPr>
        <p:sp>
          <p:nvSpPr>
            <p:cNvPr id="17" name="Freeform 10"/>
            <p:cNvSpPr>
              <a:spLocks/>
            </p:cNvSpPr>
            <p:nvPr/>
          </p:nvSpPr>
          <p:spPr bwMode="gray">
            <a:xfrm>
              <a:off x="901" y="2562"/>
              <a:ext cx="1270" cy="190"/>
            </a:xfrm>
            <a:custGeom>
              <a:avLst/>
              <a:gdLst>
                <a:gd name="T0" fmla="*/ 1120 w 1120"/>
                <a:gd name="T1" fmla="*/ 252 h 252"/>
                <a:gd name="T2" fmla="*/ 1116 w 1120"/>
                <a:gd name="T3" fmla="*/ 250 h 252"/>
                <a:gd name="T4" fmla="*/ 1100 w 1120"/>
                <a:gd name="T5" fmla="*/ 246 h 252"/>
                <a:gd name="T6" fmla="*/ 1074 w 1120"/>
                <a:gd name="T7" fmla="*/ 240 h 252"/>
                <a:gd name="T8" fmla="*/ 1038 w 1120"/>
                <a:gd name="T9" fmla="*/ 232 h 252"/>
                <a:gd name="T10" fmla="*/ 992 w 1120"/>
                <a:gd name="T11" fmla="*/ 222 h 252"/>
                <a:gd name="T12" fmla="*/ 938 w 1120"/>
                <a:gd name="T13" fmla="*/ 212 h 252"/>
                <a:gd name="T14" fmla="*/ 876 w 1120"/>
                <a:gd name="T15" fmla="*/ 204 h 252"/>
                <a:gd name="T16" fmla="*/ 806 w 1120"/>
                <a:gd name="T17" fmla="*/ 196 h 252"/>
                <a:gd name="T18" fmla="*/ 730 w 1120"/>
                <a:gd name="T19" fmla="*/ 190 h 252"/>
                <a:gd name="T20" fmla="*/ 646 w 1120"/>
                <a:gd name="T21" fmla="*/ 184 h 252"/>
                <a:gd name="T22" fmla="*/ 556 w 1120"/>
                <a:gd name="T23" fmla="*/ 184 h 252"/>
                <a:gd name="T24" fmla="*/ 466 w 1120"/>
                <a:gd name="T25" fmla="*/ 184 h 252"/>
                <a:gd name="T26" fmla="*/ 384 w 1120"/>
                <a:gd name="T27" fmla="*/ 190 h 252"/>
                <a:gd name="T28" fmla="*/ 308 w 1120"/>
                <a:gd name="T29" fmla="*/ 196 h 252"/>
                <a:gd name="T30" fmla="*/ 238 w 1120"/>
                <a:gd name="T31" fmla="*/ 204 h 252"/>
                <a:gd name="T32" fmla="*/ 178 w 1120"/>
                <a:gd name="T33" fmla="*/ 212 h 252"/>
                <a:gd name="T34" fmla="*/ 126 w 1120"/>
                <a:gd name="T35" fmla="*/ 222 h 252"/>
                <a:gd name="T36" fmla="*/ 82 w 1120"/>
                <a:gd name="T37" fmla="*/ 232 h 252"/>
                <a:gd name="T38" fmla="*/ 46 w 1120"/>
                <a:gd name="T39" fmla="*/ 240 h 252"/>
                <a:gd name="T40" fmla="*/ 20 w 1120"/>
                <a:gd name="T41" fmla="*/ 246 h 252"/>
                <a:gd name="T42" fmla="*/ 6 w 1120"/>
                <a:gd name="T43" fmla="*/ 250 h 252"/>
                <a:gd name="T44" fmla="*/ 0 w 1120"/>
                <a:gd name="T45" fmla="*/ 252 h 252"/>
                <a:gd name="T46" fmla="*/ 0 w 1120"/>
                <a:gd name="T47" fmla="*/ 62 h 252"/>
                <a:gd name="T48" fmla="*/ 560 w 1120"/>
                <a:gd name="T49" fmla="*/ 0 h 252"/>
                <a:gd name="T50" fmla="*/ 1120 w 1120"/>
                <a:gd name="T51" fmla="*/ 62 h 252"/>
                <a:gd name="T52" fmla="*/ 1120 w 1120"/>
                <a:gd name="T53" fmla="*/ 252 h 252"/>
                <a:gd name="T54" fmla="*/ 1120 w 1120"/>
                <a:gd name="T55" fmla="*/ 252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DF5908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Rectangle 11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gradFill rotWithShape="1">
              <a:gsLst>
                <a:gs pos="0">
                  <a:srgbClr val="0099CC">
                    <a:gamma/>
                    <a:tint val="36471"/>
                    <a:invGamma/>
                  </a:srgbClr>
                </a:gs>
                <a:gs pos="100000">
                  <a:srgbClr val="0099CC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b="1" dirty="0" smtClean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PROFESI</a:t>
              </a:r>
              <a:endParaRPr lang="en-US" b="1" dirty="0"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</p:grpSp>
      <p:grpSp>
        <p:nvGrpSpPr>
          <p:cNvPr id="7" name="Group 12"/>
          <p:cNvGrpSpPr>
            <a:grpSpLocks/>
          </p:cNvGrpSpPr>
          <p:nvPr/>
        </p:nvGrpSpPr>
        <p:grpSpPr bwMode="auto">
          <a:xfrm>
            <a:off x="533400" y="5200650"/>
            <a:ext cx="1724025" cy="482600"/>
            <a:chOff x="816" y="2304"/>
            <a:chExt cx="1440" cy="448"/>
          </a:xfrm>
        </p:grpSpPr>
        <p:sp>
          <p:nvSpPr>
            <p:cNvPr id="20" name="Freeform 13"/>
            <p:cNvSpPr>
              <a:spLocks/>
            </p:cNvSpPr>
            <p:nvPr/>
          </p:nvSpPr>
          <p:spPr bwMode="gray">
            <a:xfrm>
              <a:off x="901" y="2562"/>
              <a:ext cx="1270" cy="190"/>
            </a:xfrm>
            <a:custGeom>
              <a:avLst/>
              <a:gdLst>
                <a:gd name="T0" fmla="*/ 1120 w 1120"/>
                <a:gd name="T1" fmla="*/ 252 h 252"/>
                <a:gd name="T2" fmla="*/ 1116 w 1120"/>
                <a:gd name="T3" fmla="*/ 250 h 252"/>
                <a:gd name="T4" fmla="*/ 1100 w 1120"/>
                <a:gd name="T5" fmla="*/ 246 h 252"/>
                <a:gd name="T6" fmla="*/ 1074 w 1120"/>
                <a:gd name="T7" fmla="*/ 240 h 252"/>
                <a:gd name="T8" fmla="*/ 1038 w 1120"/>
                <a:gd name="T9" fmla="*/ 232 h 252"/>
                <a:gd name="T10" fmla="*/ 992 w 1120"/>
                <a:gd name="T11" fmla="*/ 222 h 252"/>
                <a:gd name="T12" fmla="*/ 938 w 1120"/>
                <a:gd name="T13" fmla="*/ 212 h 252"/>
                <a:gd name="T14" fmla="*/ 876 w 1120"/>
                <a:gd name="T15" fmla="*/ 204 h 252"/>
                <a:gd name="T16" fmla="*/ 806 w 1120"/>
                <a:gd name="T17" fmla="*/ 196 h 252"/>
                <a:gd name="T18" fmla="*/ 730 w 1120"/>
                <a:gd name="T19" fmla="*/ 190 h 252"/>
                <a:gd name="T20" fmla="*/ 646 w 1120"/>
                <a:gd name="T21" fmla="*/ 184 h 252"/>
                <a:gd name="T22" fmla="*/ 556 w 1120"/>
                <a:gd name="T23" fmla="*/ 184 h 252"/>
                <a:gd name="T24" fmla="*/ 466 w 1120"/>
                <a:gd name="T25" fmla="*/ 184 h 252"/>
                <a:gd name="T26" fmla="*/ 384 w 1120"/>
                <a:gd name="T27" fmla="*/ 190 h 252"/>
                <a:gd name="T28" fmla="*/ 308 w 1120"/>
                <a:gd name="T29" fmla="*/ 196 h 252"/>
                <a:gd name="T30" fmla="*/ 238 w 1120"/>
                <a:gd name="T31" fmla="*/ 204 h 252"/>
                <a:gd name="T32" fmla="*/ 178 w 1120"/>
                <a:gd name="T33" fmla="*/ 212 h 252"/>
                <a:gd name="T34" fmla="*/ 126 w 1120"/>
                <a:gd name="T35" fmla="*/ 222 h 252"/>
                <a:gd name="T36" fmla="*/ 82 w 1120"/>
                <a:gd name="T37" fmla="*/ 232 h 252"/>
                <a:gd name="T38" fmla="*/ 46 w 1120"/>
                <a:gd name="T39" fmla="*/ 240 h 252"/>
                <a:gd name="T40" fmla="*/ 20 w 1120"/>
                <a:gd name="T41" fmla="*/ 246 h 252"/>
                <a:gd name="T42" fmla="*/ 6 w 1120"/>
                <a:gd name="T43" fmla="*/ 250 h 252"/>
                <a:gd name="T44" fmla="*/ 0 w 1120"/>
                <a:gd name="T45" fmla="*/ 252 h 252"/>
                <a:gd name="T46" fmla="*/ 0 w 1120"/>
                <a:gd name="T47" fmla="*/ 62 h 252"/>
                <a:gd name="T48" fmla="*/ 560 w 1120"/>
                <a:gd name="T49" fmla="*/ 0 h 252"/>
                <a:gd name="T50" fmla="*/ 1120 w 1120"/>
                <a:gd name="T51" fmla="*/ 62 h 252"/>
                <a:gd name="T52" fmla="*/ 1120 w 1120"/>
                <a:gd name="T53" fmla="*/ 252 h 252"/>
                <a:gd name="T54" fmla="*/ 1120 w 1120"/>
                <a:gd name="T55" fmla="*/ 252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DF5908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Rectangle 14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gradFill rotWithShape="1">
              <a:gsLst>
                <a:gs pos="0">
                  <a:schemeClr val="folHlink">
                    <a:gamma/>
                    <a:tint val="24314"/>
                    <a:invGamma/>
                  </a:schemeClr>
                </a:gs>
                <a:gs pos="100000">
                  <a:schemeClr val="folHlink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b="1" dirty="0" smtClean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HONOR</a:t>
              </a:r>
              <a:endParaRPr lang="en-US" b="1" dirty="0"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</p:grpSp>
      <p:cxnSp>
        <p:nvCxnSpPr>
          <p:cNvPr id="22" name="AutoShape 15"/>
          <p:cNvCxnSpPr>
            <a:cxnSpLocks noChangeShapeType="1"/>
            <a:stCxn id="11" idx="11"/>
            <a:endCxn id="15" idx="0"/>
          </p:cNvCxnSpPr>
          <p:nvPr/>
        </p:nvCxnSpPr>
        <p:spPr bwMode="gray">
          <a:xfrm>
            <a:off x="1390650" y="2198687"/>
            <a:ext cx="4763" cy="715963"/>
          </a:xfrm>
          <a:prstGeom prst="straightConnector1">
            <a:avLst/>
          </a:prstGeom>
          <a:noFill/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3" name="AutoShape 16"/>
          <p:cNvCxnSpPr>
            <a:cxnSpLocks noChangeShapeType="1"/>
            <a:stCxn id="14" idx="11"/>
            <a:endCxn id="18" idx="0"/>
          </p:cNvCxnSpPr>
          <p:nvPr/>
        </p:nvCxnSpPr>
        <p:spPr bwMode="gray">
          <a:xfrm>
            <a:off x="1390650" y="3341687"/>
            <a:ext cx="4763" cy="715963"/>
          </a:xfrm>
          <a:prstGeom prst="straightConnector1">
            <a:avLst/>
          </a:prstGeom>
          <a:noFill/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4" name="AutoShape 17"/>
          <p:cNvCxnSpPr>
            <a:cxnSpLocks noChangeShapeType="1"/>
            <a:stCxn id="17" idx="11"/>
            <a:endCxn id="21" idx="0"/>
          </p:cNvCxnSpPr>
          <p:nvPr/>
        </p:nvCxnSpPr>
        <p:spPr bwMode="gray">
          <a:xfrm>
            <a:off x="1390650" y="4484687"/>
            <a:ext cx="4763" cy="715963"/>
          </a:xfrm>
          <a:prstGeom prst="straightConnector1">
            <a:avLst/>
          </a:prstGeom>
          <a:noFill/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5" name="Line 18"/>
          <p:cNvSpPr>
            <a:spLocks noChangeShapeType="1"/>
          </p:cNvSpPr>
          <p:nvPr/>
        </p:nvSpPr>
        <p:spPr bwMode="auto">
          <a:xfrm>
            <a:off x="1447800" y="2484437"/>
            <a:ext cx="5943600" cy="0"/>
          </a:xfrm>
          <a:prstGeom prst="line">
            <a:avLst/>
          </a:prstGeom>
          <a:noFill/>
          <a:ln w="38100" cap="rnd">
            <a:solidFill>
              <a:srgbClr val="5F5F5F"/>
            </a:solidFill>
            <a:prstDash val="sysDot"/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19"/>
          <p:cNvSpPr>
            <a:spLocks noChangeShapeType="1"/>
          </p:cNvSpPr>
          <p:nvPr/>
        </p:nvSpPr>
        <p:spPr bwMode="auto">
          <a:xfrm>
            <a:off x="1447800" y="3729037"/>
            <a:ext cx="5943600" cy="0"/>
          </a:xfrm>
          <a:prstGeom prst="line">
            <a:avLst/>
          </a:prstGeom>
          <a:noFill/>
          <a:ln w="38100" cap="rnd">
            <a:solidFill>
              <a:srgbClr val="5F5F5F"/>
            </a:solidFill>
            <a:prstDash val="sysDot"/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20"/>
          <p:cNvSpPr>
            <a:spLocks noChangeShapeType="1"/>
          </p:cNvSpPr>
          <p:nvPr/>
        </p:nvSpPr>
        <p:spPr bwMode="auto">
          <a:xfrm>
            <a:off x="1447800" y="4849812"/>
            <a:ext cx="5943600" cy="0"/>
          </a:xfrm>
          <a:prstGeom prst="line">
            <a:avLst/>
          </a:prstGeom>
          <a:noFill/>
          <a:ln w="38100" cap="rnd">
            <a:solidFill>
              <a:srgbClr val="5F5F5F"/>
            </a:solidFill>
            <a:prstDash val="sysDot"/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Text Box 21"/>
          <p:cNvSpPr txBox="1">
            <a:spLocks noChangeArrowheads="1"/>
          </p:cNvSpPr>
          <p:nvPr/>
        </p:nvSpPr>
        <p:spPr bwMode="auto">
          <a:xfrm>
            <a:off x="2743200" y="1646237"/>
            <a:ext cx="2146967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400" dirty="0" smtClean="0">
                <a:latin typeface="Verdana" charset="0"/>
              </a:rPr>
              <a:t>ATK</a:t>
            </a:r>
            <a:endParaRPr lang="en-US" sz="1400" dirty="0">
              <a:latin typeface="Verdana" charset="0"/>
            </a:endParaRPr>
          </a:p>
          <a:p>
            <a:pPr algn="l"/>
            <a:r>
              <a:rPr lang="en-US" sz="1400" dirty="0" smtClean="0">
                <a:latin typeface="Verdana" charset="0"/>
              </a:rPr>
              <a:t>SEMINAR KIT</a:t>
            </a:r>
            <a:endParaRPr lang="en-US" sz="1400" dirty="0">
              <a:latin typeface="Verdana" charset="0"/>
            </a:endParaRPr>
          </a:p>
          <a:p>
            <a:pPr algn="l"/>
            <a:r>
              <a:rPr lang="en-US" sz="1400" dirty="0" smtClean="0">
                <a:latin typeface="Verdana" charset="0"/>
              </a:rPr>
              <a:t>KOMPUTER SUPPLIES</a:t>
            </a:r>
            <a:endParaRPr lang="en-US" sz="1400" dirty="0">
              <a:latin typeface="Verdana" charset="0"/>
            </a:endParaRPr>
          </a:p>
        </p:txBody>
      </p:sp>
      <p:sp>
        <p:nvSpPr>
          <p:cNvPr id="29" name="Text Box 22"/>
          <p:cNvSpPr txBox="1">
            <a:spLocks noChangeArrowheads="1"/>
          </p:cNvSpPr>
          <p:nvPr/>
        </p:nvSpPr>
        <p:spPr bwMode="auto">
          <a:xfrm>
            <a:off x="2743200" y="2789237"/>
            <a:ext cx="2159566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400" dirty="0" smtClean="0">
                <a:latin typeface="Verdana" charset="0"/>
              </a:rPr>
              <a:t>KATERING</a:t>
            </a:r>
            <a:endParaRPr lang="en-US" sz="1400" dirty="0">
              <a:latin typeface="Verdana" charset="0"/>
            </a:endParaRPr>
          </a:p>
          <a:p>
            <a:pPr algn="l"/>
            <a:r>
              <a:rPr lang="en-US" sz="1400" dirty="0" smtClean="0">
                <a:latin typeface="Verdana" charset="0"/>
              </a:rPr>
              <a:t>UANG SAKU PESERTA</a:t>
            </a:r>
            <a:endParaRPr lang="en-US" sz="1400" dirty="0">
              <a:latin typeface="Verdana" charset="0"/>
            </a:endParaRPr>
          </a:p>
          <a:p>
            <a:pPr algn="l"/>
            <a:r>
              <a:rPr lang="en-US" sz="1400" dirty="0" smtClean="0">
                <a:latin typeface="Verdana" charset="0"/>
              </a:rPr>
              <a:t>LAPORAN</a:t>
            </a:r>
            <a:endParaRPr lang="en-US" sz="1400" dirty="0">
              <a:latin typeface="Verdana" charset="0"/>
            </a:endParaRPr>
          </a:p>
        </p:txBody>
      </p:sp>
      <p:sp>
        <p:nvSpPr>
          <p:cNvPr id="30" name="Text Box 23"/>
          <p:cNvSpPr txBox="1">
            <a:spLocks noChangeArrowheads="1"/>
          </p:cNvSpPr>
          <p:nvPr/>
        </p:nvSpPr>
        <p:spPr bwMode="auto">
          <a:xfrm>
            <a:off x="2743200" y="3932237"/>
            <a:ext cx="2339102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400" dirty="0" smtClean="0">
                <a:latin typeface="Verdana" charset="0"/>
              </a:rPr>
              <a:t>INSTRUKTUR</a:t>
            </a:r>
          </a:p>
          <a:p>
            <a:pPr algn="l"/>
            <a:r>
              <a:rPr lang="en-US" sz="1400" dirty="0" smtClean="0">
                <a:latin typeface="Verdana" charset="0"/>
              </a:rPr>
              <a:t>ASSESSOR</a:t>
            </a:r>
          </a:p>
          <a:p>
            <a:pPr algn="l"/>
            <a:r>
              <a:rPr lang="en-US" sz="1400" dirty="0" smtClean="0">
                <a:latin typeface="Verdana" charset="0"/>
              </a:rPr>
              <a:t>NARASUMBER LAINNYA</a:t>
            </a:r>
            <a:endParaRPr lang="en-US" sz="1400" dirty="0">
              <a:latin typeface="Verdana" charset="0"/>
            </a:endParaRPr>
          </a:p>
        </p:txBody>
      </p:sp>
      <p:sp>
        <p:nvSpPr>
          <p:cNvPr id="31" name="Text Box 24"/>
          <p:cNvSpPr txBox="1">
            <a:spLocks noChangeArrowheads="1"/>
          </p:cNvSpPr>
          <p:nvPr/>
        </p:nvSpPr>
        <p:spPr bwMode="auto">
          <a:xfrm>
            <a:off x="2743200" y="5075237"/>
            <a:ext cx="1107996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400" dirty="0" smtClean="0">
                <a:latin typeface="Verdana" charset="0"/>
              </a:rPr>
              <a:t>PEMBINA</a:t>
            </a:r>
            <a:endParaRPr lang="en-US" sz="1400" dirty="0">
              <a:latin typeface="Verdana" charset="0"/>
            </a:endParaRPr>
          </a:p>
          <a:p>
            <a:pPr algn="l"/>
            <a:r>
              <a:rPr lang="en-US" sz="1400" dirty="0" smtClean="0">
                <a:latin typeface="Verdana" charset="0"/>
              </a:rPr>
              <a:t>KETUA</a:t>
            </a:r>
            <a:endParaRPr lang="en-US" sz="1400" dirty="0">
              <a:latin typeface="Verdana" charset="0"/>
            </a:endParaRPr>
          </a:p>
          <a:p>
            <a:pPr algn="l"/>
            <a:r>
              <a:rPr lang="en-US" sz="1400" dirty="0" smtClean="0">
                <a:latin typeface="Verdana" charset="0"/>
              </a:rPr>
              <a:t>ANGGOTA</a:t>
            </a:r>
            <a:endParaRPr lang="en-US" sz="1400" dirty="0">
              <a:latin typeface="Verdana" charset="0"/>
            </a:endParaRPr>
          </a:p>
        </p:txBody>
      </p:sp>
      <p:grpSp>
        <p:nvGrpSpPr>
          <p:cNvPr id="8" name="Group 12"/>
          <p:cNvGrpSpPr>
            <a:grpSpLocks/>
          </p:cNvGrpSpPr>
          <p:nvPr/>
        </p:nvGrpSpPr>
        <p:grpSpPr bwMode="auto">
          <a:xfrm>
            <a:off x="533400" y="6019800"/>
            <a:ext cx="1724025" cy="482600"/>
            <a:chOff x="816" y="2304"/>
            <a:chExt cx="1440" cy="448"/>
          </a:xfrm>
        </p:grpSpPr>
        <p:sp>
          <p:nvSpPr>
            <p:cNvPr id="33" name="Freeform 13"/>
            <p:cNvSpPr>
              <a:spLocks/>
            </p:cNvSpPr>
            <p:nvPr/>
          </p:nvSpPr>
          <p:spPr bwMode="gray">
            <a:xfrm>
              <a:off x="901" y="2562"/>
              <a:ext cx="1270" cy="190"/>
            </a:xfrm>
            <a:custGeom>
              <a:avLst/>
              <a:gdLst>
                <a:gd name="T0" fmla="*/ 1120 w 1120"/>
                <a:gd name="T1" fmla="*/ 252 h 252"/>
                <a:gd name="T2" fmla="*/ 1116 w 1120"/>
                <a:gd name="T3" fmla="*/ 250 h 252"/>
                <a:gd name="T4" fmla="*/ 1100 w 1120"/>
                <a:gd name="T5" fmla="*/ 246 h 252"/>
                <a:gd name="T6" fmla="*/ 1074 w 1120"/>
                <a:gd name="T7" fmla="*/ 240 h 252"/>
                <a:gd name="T8" fmla="*/ 1038 w 1120"/>
                <a:gd name="T9" fmla="*/ 232 h 252"/>
                <a:gd name="T10" fmla="*/ 992 w 1120"/>
                <a:gd name="T11" fmla="*/ 222 h 252"/>
                <a:gd name="T12" fmla="*/ 938 w 1120"/>
                <a:gd name="T13" fmla="*/ 212 h 252"/>
                <a:gd name="T14" fmla="*/ 876 w 1120"/>
                <a:gd name="T15" fmla="*/ 204 h 252"/>
                <a:gd name="T16" fmla="*/ 806 w 1120"/>
                <a:gd name="T17" fmla="*/ 196 h 252"/>
                <a:gd name="T18" fmla="*/ 730 w 1120"/>
                <a:gd name="T19" fmla="*/ 190 h 252"/>
                <a:gd name="T20" fmla="*/ 646 w 1120"/>
                <a:gd name="T21" fmla="*/ 184 h 252"/>
                <a:gd name="T22" fmla="*/ 556 w 1120"/>
                <a:gd name="T23" fmla="*/ 184 h 252"/>
                <a:gd name="T24" fmla="*/ 466 w 1120"/>
                <a:gd name="T25" fmla="*/ 184 h 252"/>
                <a:gd name="T26" fmla="*/ 384 w 1120"/>
                <a:gd name="T27" fmla="*/ 190 h 252"/>
                <a:gd name="T28" fmla="*/ 308 w 1120"/>
                <a:gd name="T29" fmla="*/ 196 h 252"/>
                <a:gd name="T30" fmla="*/ 238 w 1120"/>
                <a:gd name="T31" fmla="*/ 204 h 252"/>
                <a:gd name="T32" fmla="*/ 178 w 1120"/>
                <a:gd name="T33" fmla="*/ 212 h 252"/>
                <a:gd name="T34" fmla="*/ 126 w 1120"/>
                <a:gd name="T35" fmla="*/ 222 h 252"/>
                <a:gd name="T36" fmla="*/ 82 w 1120"/>
                <a:gd name="T37" fmla="*/ 232 h 252"/>
                <a:gd name="T38" fmla="*/ 46 w 1120"/>
                <a:gd name="T39" fmla="*/ 240 h 252"/>
                <a:gd name="T40" fmla="*/ 20 w 1120"/>
                <a:gd name="T41" fmla="*/ 246 h 252"/>
                <a:gd name="T42" fmla="*/ 6 w 1120"/>
                <a:gd name="T43" fmla="*/ 250 h 252"/>
                <a:gd name="T44" fmla="*/ 0 w 1120"/>
                <a:gd name="T45" fmla="*/ 252 h 252"/>
                <a:gd name="T46" fmla="*/ 0 w 1120"/>
                <a:gd name="T47" fmla="*/ 62 h 252"/>
                <a:gd name="T48" fmla="*/ 560 w 1120"/>
                <a:gd name="T49" fmla="*/ 0 h 252"/>
                <a:gd name="T50" fmla="*/ 1120 w 1120"/>
                <a:gd name="T51" fmla="*/ 62 h 252"/>
                <a:gd name="T52" fmla="*/ 1120 w 1120"/>
                <a:gd name="T53" fmla="*/ 252 h 252"/>
                <a:gd name="T54" fmla="*/ 1120 w 1120"/>
                <a:gd name="T55" fmla="*/ 252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DF5908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Rectangle 14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gradFill rotWithShape="1">
              <a:gsLst>
                <a:gs pos="0">
                  <a:schemeClr val="folHlink">
                    <a:gamma/>
                    <a:tint val="24314"/>
                    <a:invGamma/>
                  </a:schemeClr>
                </a:gs>
                <a:gs pos="100000">
                  <a:schemeClr val="folHlink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b="1" dirty="0" smtClean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PERJADIN</a:t>
              </a:r>
              <a:endParaRPr lang="en-US" b="1" dirty="0"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</p:grpSp>
      <p:sp>
        <p:nvSpPr>
          <p:cNvPr id="35" name="Line 20"/>
          <p:cNvSpPr>
            <a:spLocks noChangeShapeType="1"/>
          </p:cNvSpPr>
          <p:nvPr/>
        </p:nvSpPr>
        <p:spPr bwMode="auto">
          <a:xfrm>
            <a:off x="1447800" y="6024562"/>
            <a:ext cx="5943600" cy="0"/>
          </a:xfrm>
          <a:prstGeom prst="line">
            <a:avLst/>
          </a:prstGeom>
          <a:noFill/>
          <a:ln w="38100" cap="rnd">
            <a:solidFill>
              <a:srgbClr val="5F5F5F"/>
            </a:solidFill>
            <a:prstDash val="sysDot"/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Text Box 24"/>
          <p:cNvSpPr txBox="1">
            <a:spLocks noChangeArrowheads="1"/>
          </p:cNvSpPr>
          <p:nvPr/>
        </p:nvSpPr>
        <p:spPr bwMode="auto">
          <a:xfrm>
            <a:off x="2743200" y="6088260"/>
            <a:ext cx="192935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400" dirty="0" smtClean="0">
                <a:latin typeface="Verdana" charset="0"/>
              </a:rPr>
              <a:t>TRANSPORT LOKAL</a:t>
            </a:r>
            <a:endParaRPr lang="en-US" sz="1400" dirty="0">
              <a:latin typeface="Verdana" charset="0"/>
            </a:endParaRPr>
          </a:p>
        </p:txBody>
      </p:sp>
      <p:cxnSp>
        <p:nvCxnSpPr>
          <p:cNvPr id="37" name="AutoShape 17"/>
          <p:cNvCxnSpPr>
            <a:cxnSpLocks noChangeShapeType="1"/>
          </p:cNvCxnSpPr>
          <p:nvPr/>
        </p:nvCxnSpPr>
        <p:spPr bwMode="gray">
          <a:xfrm>
            <a:off x="1371600" y="5684837"/>
            <a:ext cx="4763" cy="715963"/>
          </a:xfrm>
          <a:prstGeom prst="straightConnector1">
            <a:avLst/>
          </a:prstGeom>
          <a:noFill/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38" name="TextBox 37"/>
          <p:cNvSpPr txBox="1"/>
          <p:nvPr/>
        </p:nvSpPr>
        <p:spPr>
          <a:xfrm>
            <a:off x="6553201" y="228600"/>
            <a:ext cx="2133600" cy="1631216"/>
          </a:xfrm>
          <a:prstGeom prst="rect">
            <a:avLst/>
          </a:prstGeom>
          <a:solidFill>
            <a:srgbClr val="2970FF"/>
          </a:solidFill>
          <a:effectLst>
            <a:reflection blurRad="6350" stA="50000" endA="295" endPos="92000" dist="101600" dir="5400000" sy="-100000" algn="bl" rotWithShape="0"/>
          </a:effectLst>
          <a:scene3d>
            <a:camera prst="perspectiveContrastingRightFacing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342900" indent="-342900">
              <a:buFontTx/>
              <a:buAutoNum type="arabicPeriod"/>
            </a:pPr>
            <a:r>
              <a:rPr lang="en-US" sz="2000" dirty="0" smtClean="0">
                <a:latin typeface="Arial Narrow"/>
                <a:cs typeface="Arial Narrow"/>
              </a:rPr>
              <a:t>SK</a:t>
            </a:r>
          </a:p>
          <a:p>
            <a:pPr marL="342900" indent="-342900">
              <a:buAutoNum type="arabicPeriod"/>
            </a:pPr>
            <a:r>
              <a:rPr lang="en-US" sz="2000" dirty="0" smtClean="0">
                <a:latin typeface="Arial Narrow"/>
                <a:cs typeface="Arial Narrow"/>
              </a:rPr>
              <a:t>120 </a:t>
            </a:r>
            <a:r>
              <a:rPr lang="en-US" sz="2000" dirty="0" err="1" smtClean="0">
                <a:latin typeface="Arial Narrow"/>
                <a:cs typeface="Arial Narrow"/>
              </a:rPr>
              <a:t>peserta</a:t>
            </a:r>
            <a:endParaRPr lang="en-US" sz="2000" dirty="0" smtClean="0">
              <a:latin typeface="Arial Narrow"/>
              <a:cs typeface="Arial Narrow"/>
            </a:endParaRPr>
          </a:p>
          <a:p>
            <a:pPr marL="342900" indent="-342900">
              <a:buAutoNum type="arabicPeriod"/>
            </a:pPr>
            <a:r>
              <a:rPr lang="en-US" sz="2000" dirty="0" smtClean="0">
                <a:latin typeface="Arial Narrow"/>
                <a:cs typeface="Arial Narrow"/>
              </a:rPr>
              <a:t>3 </a:t>
            </a:r>
            <a:r>
              <a:rPr lang="en-US" sz="2000" dirty="0" err="1" smtClean="0">
                <a:latin typeface="Arial Narrow"/>
                <a:cs typeface="Arial Narrow"/>
              </a:rPr>
              <a:t>hari</a:t>
            </a:r>
            <a:endParaRPr lang="en-US" sz="2000" dirty="0" smtClean="0">
              <a:latin typeface="Arial Narrow"/>
              <a:cs typeface="Arial Narrow"/>
            </a:endParaRPr>
          </a:p>
          <a:p>
            <a:pPr marL="342900" indent="-342900">
              <a:buAutoNum type="arabicPeriod"/>
            </a:pPr>
            <a:r>
              <a:rPr lang="en-US" sz="2000" dirty="0" err="1" smtClean="0">
                <a:latin typeface="Arial Narrow"/>
                <a:cs typeface="Arial Narrow"/>
              </a:rPr>
              <a:t>Modul</a:t>
            </a:r>
            <a:r>
              <a:rPr lang="en-US" sz="2000" dirty="0" smtClean="0">
                <a:latin typeface="Arial Narrow"/>
                <a:cs typeface="Arial Narrow"/>
              </a:rPr>
              <a:t> </a:t>
            </a:r>
            <a:r>
              <a:rPr lang="en-US" sz="2000" dirty="0" err="1" smtClean="0">
                <a:latin typeface="Arial Narrow"/>
                <a:cs typeface="Arial Narrow"/>
              </a:rPr>
              <a:t>pelatihan</a:t>
            </a:r>
            <a:endParaRPr lang="en-US" sz="2000" dirty="0" smtClean="0">
              <a:latin typeface="Arial Narrow"/>
              <a:cs typeface="Arial Narrow"/>
            </a:endParaRPr>
          </a:p>
          <a:p>
            <a:pPr marL="342900" indent="-342900">
              <a:buAutoNum type="arabicPeriod"/>
            </a:pPr>
            <a:r>
              <a:rPr lang="en-US" sz="2000" dirty="0" err="1" smtClean="0">
                <a:latin typeface="Arial Narrow"/>
                <a:cs typeface="Arial Narrow"/>
              </a:rPr>
              <a:t>Laporan</a:t>
            </a:r>
            <a:endParaRPr lang="en-US" sz="2000" dirty="0">
              <a:latin typeface="Arial Narrow"/>
              <a:cs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523937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3"/>
          <p:cNvSpPr>
            <a:spLocks noChangeArrowheads="1"/>
          </p:cNvSpPr>
          <p:nvPr/>
        </p:nvSpPr>
        <p:spPr bwMode="auto">
          <a:xfrm>
            <a:off x="1981200" y="3200400"/>
            <a:ext cx="1704975" cy="2590800"/>
          </a:xfrm>
          <a:prstGeom prst="roundRect">
            <a:avLst>
              <a:gd name="adj" fmla="val 13745"/>
            </a:avLst>
          </a:prstGeom>
          <a:solidFill>
            <a:srgbClr val="FFFFFF">
              <a:alpha val="31000"/>
            </a:srgbClr>
          </a:solidFill>
          <a:ln w="38100">
            <a:solidFill>
              <a:srgbClr val="C0C0C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342900" indent="-342900" algn="l">
              <a:buFont typeface="Arial"/>
              <a:buChar char="•"/>
            </a:pPr>
            <a:r>
              <a:rPr lang="en-US" sz="1200" dirty="0" smtClean="0">
                <a:solidFill>
                  <a:srgbClr val="000000"/>
                </a:solidFill>
                <a:latin typeface="Verdana" charset="0"/>
              </a:rPr>
              <a:t>KEMITRAAN</a:t>
            </a:r>
          </a:p>
          <a:p>
            <a:pPr marL="342900" indent="-342900" algn="l">
              <a:buFont typeface="Arial"/>
              <a:buChar char="•"/>
            </a:pPr>
            <a:r>
              <a:rPr lang="en-US" sz="1200" dirty="0" smtClean="0">
                <a:solidFill>
                  <a:srgbClr val="000000"/>
                </a:solidFill>
                <a:latin typeface="Verdana" charset="0"/>
              </a:rPr>
              <a:t>LEVEL</a:t>
            </a:r>
          </a:p>
          <a:p>
            <a:pPr marL="342900" indent="-342900" algn="l">
              <a:buFont typeface="Arial"/>
              <a:buChar char="•"/>
            </a:pPr>
            <a:r>
              <a:rPr lang="en-US" sz="1200" dirty="0" smtClean="0">
                <a:solidFill>
                  <a:srgbClr val="000000"/>
                </a:solidFill>
                <a:latin typeface="Verdana" charset="0"/>
              </a:rPr>
              <a:t>KATERING</a:t>
            </a:r>
          </a:p>
          <a:p>
            <a:pPr marL="342900" indent="-342900" algn="l">
              <a:buFont typeface="Arial"/>
              <a:buChar char="•"/>
            </a:pPr>
            <a:r>
              <a:rPr lang="en-US" sz="1200" dirty="0" smtClean="0">
                <a:solidFill>
                  <a:srgbClr val="000000"/>
                </a:solidFill>
                <a:latin typeface="Verdana" charset="0"/>
              </a:rPr>
              <a:t>AKOMODASI</a:t>
            </a:r>
          </a:p>
          <a:p>
            <a:pPr marL="342900" indent="-342900" algn="l">
              <a:buFont typeface="Arial"/>
              <a:buChar char="•"/>
            </a:pPr>
            <a:r>
              <a:rPr lang="en-US" sz="1200" dirty="0" smtClean="0">
                <a:solidFill>
                  <a:srgbClr val="000000"/>
                </a:solidFill>
                <a:latin typeface="Verdana" charset="0"/>
              </a:rPr>
              <a:t>KEAMANAN</a:t>
            </a:r>
          </a:p>
          <a:p>
            <a:pPr marL="342900" indent="-342900" algn="l">
              <a:buFont typeface="Arial"/>
              <a:buChar char="•"/>
            </a:pPr>
            <a:r>
              <a:rPr lang="en-US" sz="1200" dirty="0" smtClean="0">
                <a:solidFill>
                  <a:srgbClr val="000000"/>
                </a:solidFill>
                <a:latin typeface="Verdana" charset="0"/>
              </a:rPr>
              <a:t>CEK TARGET</a:t>
            </a:r>
          </a:p>
          <a:p>
            <a:pPr algn="l"/>
            <a:endParaRPr lang="en-US" sz="1200" dirty="0">
              <a:solidFill>
                <a:srgbClr val="000000"/>
              </a:solidFill>
              <a:latin typeface="Verdana" charset="0"/>
            </a:endParaRPr>
          </a:p>
        </p:txBody>
      </p:sp>
      <p:sp>
        <p:nvSpPr>
          <p:cNvPr id="5" name="AutoShape 4"/>
          <p:cNvSpPr>
            <a:spLocks noChangeArrowheads="1"/>
          </p:cNvSpPr>
          <p:nvPr/>
        </p:nvSpPr>
        <p:spPr bwMode="auto">
          <a:xfrm>
            <a:off x="152400" y="3200400"/>
            <a:ext cx="1828800" cy="2590800"/>
          </a:xfrm>
          <a:prstGeom prst="roundRect">
            <a:avLst>
              <a:gd name="adj" fmla="val 13745"/>
            </a:avLst>
          </a:prstGeom>
          <a:noFill/>
          <a:ln w="38100">
            <a:solidFill>
              <a:srgbClr val="C0C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>
                    <a:alpha val="31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285750" indent="-285750" algn="l">
              <a:buFont typeface="Arial"/>
              <a:buChar char="•"/>
            </a:pPr>
            <a:r>
              <a:rPr lang="en-US" sz="1200" dirty="0" smtClean="0">
                <a:solidFill>
                  <a:srgbClr val="000000"/>
                </a:solidFill>
                <a:latin typeface="Verdana" charset="0"/>
              </a:rPr>
              <a:t>CEK TARGET</a:t>
            </a:r>
          </a:p>
          <a:p>
            <a:pPr marL="285750" indent="-285750" algn="l">
              <a:buFont typeface="Arial"/>
              <a:buChar char="•"/>
            </a:pPr>
            <a:r>
              <a:rPr lang="en-US" sz="1200" dirty="0" smtClean="0">
                <a:solidFill>
                  <a:srgbClr val="000000"/>
                </a:solidFill>
                <a:latin typeface="Verdana" charset="0"/>
              </a:rPr>
              <a:t>SELEKSI INSTRUKTUR</a:t>
            </a:r>
          </a:p>
          <a:p>
            <a:pPr marL="285750" indent="-285750" algn="l">
              <a:buFont typeface="Arial"/>
              <a:buChar char="•"/>
            </a:pPr>
            <a:r>
              <a:rPr lang="en-US" sz="1200" dirty="0" smtClean="0">
                <a:solidFill>
                  <a:srgbClr val="000000"/>
                </a:solidFill>
                <a:latin typeface="Verdana" charset="0"/>
              </a:rPr>
              <a:t>UNDANGAN PESERTA</a:t>
            </a:r>
          </a:p>
          <a:p>
            <a:pPr marL="285750" indent="-285750" algn="l">
              <a:buFont typeface="Arial"/>
              <a:buChar char="•"/>
            </a:pPr>
            <a:r>
              <a:rPr lang="en-US" sz="1200" dirty="0" smtClean="0">
                <a:solidFill>
                  <a:srgbClr val="000000"/>
                </a:solidFill>
                <a:latin typeface="Verdana" charset="0"/>
              </a:rPr>
              <a:t>PENYUSUNAN MODUL</a:t>
            </a:r>
          </a:p>
          <a:p>
            <a:pPr marL="285750" indent="-285750" algn="l">
              <a:buFont typeface="Arial"/>
              <a:buChar char="•"/>
            </a:pPr>
            <a:r>
              <a:rPr lang="en-US" sz="1200" dirty="0" smtClean="0">
                <a:solidFill>
                  <a:srgbClr val="000000"/>
                </a:solidFill>
                <a:latin typeface="Verdana" charset="0"/>
              </a:rPr>
              <a:t>PENYUSUNAN PERSYARATAN</a:t>
            </a:r>
          </a:p>
          <a:p>
            <a:pPr marL="285750" indent="-285750" algn="l">
              <a:buFont typeface="Arial"/>
              <a:buChar char="•"/>
            </a:pPr>
            <a:r>
              <a:rPr lang="en-US" sz="1200" dirty="0" smtClean="0">
                <a:solidFill>
                  <a:srgbClr val="000000"/>
                </a:solidFill>
                <a:latin typeface="Verdana" charset="0"/>
              </a:rPr>
              <a:t>SOFTWARE</a:t>
            </a:r>
          </a:p>
          <a:p>
            <a:pPr marL="285750" indent="-285750" algn="l">
              <a:buFont typeface="Arial"/>
              <a:buChar char="•"/>
            </a:pPr>
            <a:endParaRPr lang="en-US" sz="1200" dirty="0">
              <a:solidFill>
                <a:srgbClr val="000000"/>
              </a:solidFill>
              <a:latin typeface="Verdana" charset="0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gray">
          <a:xfrm rot="3419336">
            <a:off x="573144" y="1931296"/>
            <a:ext cx="924560" cy="1004047"/>
          </a:xfrm>
          <a:prstGeom prst="rect">
            <a:avLst/>
          </a:prstGeom>
          <a:gradFill rotWithShape="1">
            <a:gsLst>
              <a:gs pos="0">
                <a:srgbClr val="FF6600"/>
              </a:gs>
              <a:gs pos="100000">
                <a:srgbClr val="FF6600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miter lim="800000"/>
            <a:headEnd/>
            <a:tailEnd/>
          </a:ln>
          <a:effectLst/>
          <a:scene3d>
            <a:camera prst="legacyPerspectiveFront">
              <a:rot lat="0" lon="1500000" rev="0"/>
            </a:camera>
            <a:lightRig rig="legacyFlat4" dir="b"/>
          </a:scene3d>
          <a:sp3d extrusionH="887400" prstMaterial="legacyMatte">
            <a:bevelT w="13500" h="13500" prst="angle"/>
            <a:bevelB w="13500" h="13500" prst="angle"/>
            <a:extrusionClr>
              <a:srgbClr val="FF6600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en-US"/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1537447" y="2103120"/>
            <a:ext cx="932329" cy="132080"/>
            <a:chOff x="2003" y="3439"/>
            <a:chExt cx="468" cy="244"/>
          </a:xfrm>
        </p:grpSpPr>
        <p:sp>
          <p:nvSpPr>
            <p:cNvPr id="8" name="Oval 8"/>
            <p:cNvSpPr>
              <a:spLocks noChangeArrowheads="1"/>
            </p:cNvSpPr>
            <p:nvPr/>
          </p:nvSpPr>
          <p:spPr bwMode="gray">
            <a:xfrm>
              <a:off x="2003" y="3439"/>
              <a:ext cx="79" cy="242"/>
            </a:xfrm>
            <a:prstGeom prst="ellipse">
              <a:avLst/>
            </a:prstGeom>
            <a:gradFill rotWithShape="0">
              <a:gsLst>
                <a:gs pos="0">
                  <a:srgbClr val="FFFFFF">
                    <a:gamma/>
                    <a:shade val="46275"/>
                    <a:invGamma/>
                  </a:srgbClr>
                </a:gs>
                <a:gs pos="50000">
                  <a:srgbClr val="FFFFFF"/>
                </a:gs>
                <a:gs pos="100000">
                  <a:srgbClr val="FFFFFF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Rectangle 9"/>
            <p:cNvSpPr>
              <a:spLocks noChangeArrowheads="1"/>
            </p:cNvSpPr>
            <p:nvPr/>
          </p:nvSpPr>
          <p:spPr bwMode="gray">
            <a:xfrm>
              <a:off x="2048" y="3441"/>
              <a:ext cx="388" cy="242"/>
            </a:xfrm>
            <a:prstGeom prst="rect">
              <a:avLst/>
            </a:prstGeom>
            <a:gradFill rotWithShape="0">
              <a:gsLst>
                <a:gs pos="0">
                  <a:srgbClr val="FFFFFF">
                    <a:gamma/>
                    <a:shade val="46275"/>
                    <a:invGamma/>
                  </a:srgbClr>
                </a:gs>
                <a:gs pos="50000">
                  <a:srgbClr val="FFFFFF"/>
                </a:gs>
                <a:gs pos="100000">
                  <a:srgbClr val="FFFFFF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Oval 10"/>
            <p:cNvSpPr>
              <a:spLocks noChangeArrowheads="1"/>
            </p:cNvSpPr>
            <p:nvPr/>
          </p:nvSpPr>
          <p:spPr bwMode="gray">
            <a:xfrm>
              <a:off x="2400" y="3443"/>
              <a:ext cx="71" cy="234"/>
            </a:xfrm>
            <a:prstGeom prst="ellipse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1270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Oval 11"/>
            <p:cNvSpPr>
              <a:spLocks noChangeArrowheads="1"/>
            </p:cNvSpPr>
            <p:nvPr/>
          </p:nvSpPr>
          <p:spPr bwMode="gray">
            <a:xfrm>
              <a:off x="2438" y="3519"/>
              <a:ext cx="20" cy="69"/>
            </a:xfrm>
            <a:prstGeom prst="ellipse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2" name="Rectangle 12"/>
          <p:cNvSpPr>
            <a:spLocks noChangeArrowheads="1"/>
          </p:cNvSpPr>
          <p:nvPr/>
        </p:nvSpPr>
        <p:spPr bwMode="gray">
          <a:xfrm rot="3419336">
            <a:off x="2294367" y="1865256"/>
            <a:ext cx="924560" cy="1004047"/>
          </a:xfrm>
          <a:prstGeom prst="rect">
            <a:avLst/>
          </a:prstGeom>
          <a:solidFill>
            <a:srgbClr val="5491D4"/>
          </a:solidFill>
          <a:ln w="9525">
            <a:miter lim="800000"/>
            <a:headEnd/>
            <a:tailEnd/>
          </a:ln>
          <a:effectLst/>
          <a:scene3d>
            <a:camera prst="legacyPerspectiveFront">
              <a:rot lat="0" lon="1500000" rev="0"/>
            </a:camera>
            <a:lightRig rig="legacyFlat4" dir="b"/>
          </a:scene3d>
          <a:sp3d extrusionH="887400" prstMaterial="legacyMatte">
            <a:bevelT w="13500" h="13500" prst="angle"/>
            <a:bevelB w="13500" h="13500" prst="angle"/>
            <a:extrusionClr>
              <a:srgbClr val="5491D4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en-US"/>
          </a:p>
        </p:txBody>
      </p: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3258671" y="2103120"/>
            <a:ext cx="932329" cy="132080"/>
            <a:chOff x="2003" y="3439"/>
            <a:chExt cx="468" cy="244"/>
          </a:xfrm>
        </p:grpSpPr>
        <p:sp>
          <p:nvSpPr>
            <p:cNvPr id="14" name="Oval 14"/>
            <p:cNvSpPr>
              <a:spLocks noChangeArrowheads="1"/>
            </p:cNvSpPr>
            <p:nvPr/>
          </p:nvSpPr>
          <p:spPr bwMode="gray">
            <a:xfrm>
              <a:off x="2003" y="3439"/>
              <a:ext cx="79" cy="242"/>
            </a:xfrm>
            <a:prstGeom prst="ellipse">
              <a:avLst/>
            </a:prstGeom>
            <a:gradFill rotWithShape="0">
              <a:gsLst>
                <a:gs pos="0">
                  <a:srgbClr val="FFFFFF">
                    <a:gamma/>
                    <a:shade val="46275"/>
                    <a:invGamma/>
                  </a:srgbClr>
                </a:gs>
                <a:gs pos="50000">
                  <a:srgbClr val="FFFFFF"/>
                </a:gs>
                <a:gs pos="100000">
                  <a:srgbClr val="FFFFFF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Rectangle 15"/>
            <p:cNvSpPr>
              <a:spLocks noChangeArrowheads="1"/>
            </p:cNvSpPr>
            <p:nvPr/>
          </p:nvSpPr>
          <p:spPr bwMode="gray">
            <a:xfrm>
              <a:off x="2048" y="3441"/>
              <a:ext cx="388" cy="242"/>
            </a:xfrm>
            <a:prstGeom prst="rect">
              <a:avLst/>
            </a:prstGeom>
            <a:gradFill rotWithShape="0">
              <a:gsLst>
                <a:gs pos="0">
                  <a:srgbClr val="FFFFFF">
                    <a:gamma/>
                    <a:shade val="46275"/>
                    <a:invGamma/>
                  </a:srgbClr>
                </a:gs>
                <a:gs pos="50000">
                  <a:srgbClr val="FFFFFF"/>
                </a:gs>
                <a:gs pos="100000">
                  <a:srgbClr val="FFFFFF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Oval 16"/>
            <p:cNvSpPr>
              <a:spLocks noChangeArrowheads="1"/>
            </p:cNvSpPr>
            <p:nvPr/>
          </p:nvSpPr>
          <p:spPr bwMode="gray">
            <a:xfrm>
              <a:off x="2400" y="3443"/>
              <a:ext cx="71" cy="234"/>
            </a:xfrm>
            <a:prstGeom prst="ellipse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1270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Oval 17"/>
            <p:cNvSpPr>
              <a:spLocks noChangeArrowheads="1"/>
            </p:cNvSpPr>
            <p:nvPr/>
          </p:nvSpPr>
          <p:spPr bwMode="gray">
            <a:xfrm>
              <a:off x="2438" y="3519"/>
              <a:ext cx="20" cy="69"/>
            </a:xfrm>
            <a:prstGeom prst="ellipse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8" name="Rectangle 18"/>
          <p:cNvSpPr>
            <a:spLocks noChangeArrowheads="1"/>
          </p:cNvSpPr>
          <p:nvPr/>
        </p:nvSpPr>
        <p:spPr bwMode="gray">
          <a:xfrm rot="3419336">
            <a:off x="3943873" y="1865256"/>
            <a:ext cx="924560" cy="1004047"/>
          </a:xfrm>
          <a:prstGeom prst="rect">
            <a:avLst/>
          </a:prstGeom>
          <a:solidFill>
            <a:srgbClr val="99CC00"/>
          </a:solidFill>
          <a:ln w="9525">
            <a:miter lim="800000"/>
            <a:headEnd/>
            <a:tailEnd/>
          </a:ln>
          <a:effectLst/>
          <a:scene3d>
            <a:camera prst="legacyPerspectiveFront">
              <a:rot lat="0" lon="1500000" rev="0"/>
            </a:camera>
            <a:lightRig rig="legacyFlat4" dir="b"/>
          </a:scene3d>
          <a:sp3d extrusionH="887400" prstMaterial="legacyMatte">
            <a:bevelT w="13500" h="13500" prst="angle"/>
            <a:bevelB w="13500" h="13500" prst="angle"/>
            <a:extrusionClr>
              <a:srgbClr val="99CC00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en-US"/>
          </a:p>
        </p:txBody>
      </p:sp>
      <p:grpSp>
        <p:nvGrpSpPr>
          <p:cNvPr id="7" name="Group 19"/>
          <p:cNvGrpSpPr>
            <a:grpSpLocks/>
          </p:cNvGrpSpPr>
          <p:nvPr/>
        </p:nvGrpSpPr>
        <p:grpSpPr bwMode="auto">
          <a:xfrm>
            <a:off x="4979894" y="2103120"/>
            <a:ext cx="1219200" cy="132080"/>
            <a:chOff x="2003" y="3439"/>
            <a:chExt cx="468" cy="244"/>
          </a:xfrm>
        </p:grpSpPr>
        <p:sp>
          <p:nvSpPr>
            <p:cNvPr id="20" name="Oval 20"/>
            <p:cNvSpPr>
              <a:spLocks noChangeArrowheads="1"/>
            </p:cNvSpPr>
            <p:nvPr/>
          </p:nvSpPr>
          <p:spPr bwMode="gray">
            <a:xfrm>
              <a:off x="2003" y="3439"/>
              <a:ext cx="79" cy="242"/>
            </a:xfrm>
            <a:prstGeom prst="ellipse">
              <a:avLst/>
            </a:prstGeom>
            <a:gradFill rotWithShape="0">
              <a:gsLst>
                <a:gs pos="0">
                  <a:srgbClr val="FFFFFF">
                    <a:gamma/>
                    <a:shade val="46275"/>
                    <a:invGamma/>
                  </a:srgbClr>
                </a:gs>
                <a:gs pos="50000">
                  <a:srgbClr val="FFFFFF"/>
                </a:gs>
                <a:gs pos="100000">
                  <a:srgbClr val="FFFFFF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Rectangle 21"/>
            <p:cNvSpPr>
              <a:spLocks noChangeArrowheads="1"/>
            </p:cNvSpPr>
            <p:nvPr/>
          </p:nvSpPr>
          <p:spPr bwMode="gray">
            <a:xfrm>
              <a:off x="2048" y="3441"/>
              <a:ext cx="388" cy="242"/>
            </a:xfrm>
            <a:prstGeom prst="rect">
              <a:avLst/>
            </a:prstGeom>
            <a:gradFill rotWithShape="0">
              <a:gsLst>
                <a:gs pos="0">
                  <a:srgbClr val="FFFFFF">
                    <a:gamma/>
                    <a:shade val="46275"/>
                    <a:invGamma/>
                  </a:srgbClr>
                </a:gs>
                <a:gs pos="50000">
                  <a:srgbClr val="FFFFFF"/>
                </a:gs>
                <a:gs pos="100000">
                  <a:srgbClr val="FFFFFF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Oval 22"/>
            <p:cNvSpPr>
              <a:spLocks noChangeArrowheads="1"/>
            </p:cNvSpPr>
            <p:nvPr/>
          </p:nvSpPr>
          <p:spPr bwMode="gray">
            <a:xfrm>
              <a:off x="2400" y="3443"/>
              <a:ext cx="71" cy="234"/>
            </a:xfrm>
            <a:prstGeom prst="ellipse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1270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Oval 23"/>
            <p:cNvSpPr>
              <a:spLocks noChangeArrowheads="1"/>
            </p:cNvSpPr>
            <p:nvPr/>
          </p:nvSpPr>
          <p:spPr bwMode="gray">
            <a:xfrm>
              <a:off x="2438" y="3519"/>
              <a:ext cx="20" cy="69"/>
            </a:xfrm>
            <a:prstGeom prst="ellipse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4" name="Rectangle 24"/>
          <p:cNvSpPr>
            <a:spLocks noChangeArrowheads="1"/>
          </p:cNvSpPr>
          <p:nvPr/>
        </p:nvSpPr>
        <p:spPr bwMode="gray">
          <a:xfrm rot="3419336">
            <a:off x="5665096" y="1865256"/>
            <a:ext cx="924560" cy="1004047"/>
          </a:xfrm>
          <a:prstGeom prst="rect">
            <a:avLst/>
          </a:prstGeom>
          <a:gradFill rotWithShape="1">
            <a:gsLst>
              <a:gs pos="0">
                <a:srgbClr val="009999"/>
              </a:gs>
              <a:gs pos="100000">
                <a:srgbClr val="009999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miter lim="800000"/>
            <a:headEnd/>
            <a:tailEnd/>
          </a:ln>
          <a:effectLst/>
          <a:scene3d>
            <a:camera prst="legacyPerspectiveFront">
              <a:rot lat="0" lon="1500000" rev="0"/>
            </a:camera>
            <a:lightRig rig="legacyFlat4" dir="b"/>
          </a:scene3d>
          <a:sp3d extrusionH="887400" prstMaterial="legacyMatte">
            <a:bevelT w="13500" h="13500" prst="angle"/>
            <a:bevelB w="13500" h="13500" prst="angle"/>
            <a:extrusionClr>
              <a:srgbClr val="009999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en-US"/>
          </a:p>
        </p:txBody>
      </p:sp>
      <p:sp>
        <p:nvSpPr>
          <p:cNvPr id="25" name="Text Box 25"/>
          <p:cNvSpPr txBox="1">
            <a:spLocks noChangeArrowheads="1"/>
          </p:cNvSpPr>
          <p:nvPr/>
        </p:nvSpPr>
        <p:spPr bwMode="gray">
          <a:xfrm>
            <a:off x="792114" y="2216150"/>
            <a:ext cx="44142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FFFF"/>
                </a:solidFill>
              </a:rPr>
              <a:t>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6" name="Text Box 26"/>
          <p:cNvSpPr txBox="1">
            <a:spLocks noChangeArrowheads="1"/>
          </p:cNvSpPr>
          <p:nvPr/>
        </p:nvSpPr>
        <p:spPr bwMode="gray">
          <a:xfrm>
            <a:off x="2544714" y="2216150"/>
            <a:ext cx="44142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FFFF"/>
                </a:solidFill>
              </a:rPr>
              <a:t>14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7" name="Text Box 27"/>
          <p:cNvSpPr txBox="1">
            <a:spLocks noChangeArrowheads="1"/>
          </p:cNvSpPr>
          <p:nvPr/>
        </p:nvSpPr>
        <p:spPr bwMode="gray">
          <a:xfrm>
            <a:off x="4285303" y="2216150"/>
            <a:ext cx="31304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8" name="Text Box 28"/>
          <p:cNvSpPr txBox="1">
            <a:spLocks noChangeArrowheads="1"/>
          </p:cNvSpPr>
          <p:nvPr/>
        </p:nvSpPr>
        <p:spPr bwMode="gray">
          <a:xfrm>
            <a:off x="5897514" y="2216150"/>
            <a:ext cx="44142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FFFF"/>
                </a:solidFill>
              </a:rPr>
              <a:t>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9" name="AutoShape 29"/>
          <p:cNvSpPr>
            <a:spLocks noChangeArrowheads="1"/>
          </p:cNvSpPr>
          <p:nvPr/>
        </p:nvSpPr>
        <p:spPr bwMode="auto">
          <a:xfrm>
            <a:off x="5575300" y="3200400"/>
            <a:ext cx="1616075" cy="2590800"/>
          </a:xfrm>
          <a:prstGeom prst="roundRect">
            <a:avLst>
              <a:gd name="adj" fmla="val 13745"/>
            </a:avLst>
          </a:prstGeom>
          <a:solidFill>
            <a:srgbClr val="FFFFFF">
              <a:alpha val="31000"/>
            </a:srgbClr>
          </a:solidFill>
          <a:ln w="38100">
            <a:solidFill>
              <a:srgbClr val="C0C0C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285750" indent="-285750" algn="l">
              <a:buFont typeface="Arial"/>
              <a:buChar char="•"/>
            </a:pPr>
            <a:r>
              <a:rPr lang="en-US" sz="1200" dirty="0" smtClean="0">
                <a:solidFill>
                  <a:srgbClr val="000000"/>
                </a:solidFill>
                <a:latin typeface="Verdana" charset="0"/>
              </a:rPr>
              <a:t>PELATIHAN</a:t>
            </a:r>
          </a:p>
          <a:p>
            <a:pPr marL="285750" indent="-285750" algn="l">
              <a:buFont typeface="Arial"/>
              <a:buChar char="•"/>
            </a:pPr>
            <a:r>
              <a:rPr lang="en-US" sz="1200" dirty="0" smtClean="0">
                <a:solidFill>
                  <a:srgbClr val="000000"/>
                </a:solidFill>
                <a:latin typeface="Verdana" charset="0"/>
              </a:rPr>
              <a:t>NON TEKNIS (TEAM)</a:t>
            </a:r>
          </a:p>
          <a:p>
            <a:pPr marL="285750" indent="-285750" algn="l">
              <a:buFont typeface="Arial"/>
              <a:buChar char="•"/>
            </a:pPr>
            <a:r>
              <a:rPr lang="en-US" sz="1200" dirty="0" smtClean="0">
                <a:solidFill>
                  <a:srgbClr val="000000"/>
                </a:solidFill>
                <a:latin typeface="Verdana" charset="0"/>
              </a:rPr>
              <a:t>KEUANGAN</a:t>
            </a:r>
          </a:p>
          <a:p>
            <a:pPr marL="285750" indent="-285750" algn="l">
              <a:buFont typeface="Arial"/>
              <a:buChar char="•"/>
            </a:pPr>
            <a:r>
              <a:rPr lang="en-US" sz="1200" dirty="0" smtClean="0">
                <a:solidFill>
                  <a:srgbClr val="000000"/>
                </a:solidFill>
                <a:latin typeface="Verdana" charset="0"/>
              </a:rPr>
              <a:t>CEK TARGET</a:t>
            </a:r>
            <a:endParaRPr lang="en-US" sz="1200" dirty="0">
              <a:solidFill>
                <a:srgbClr val="000000"/>
              </a:solidFill>
              <a:latin typeface="Verdana" charset="0"/>
            </a:endParaRPr>
          </a:p>
        </p:txBody>
      </p:sp>
      <p:sp>
        <p:nvSpPr>
          <p:cNvPr id="30" name="AutoShape 30"/>
          <p:cNvSpPr>
            <a:spLocks noChangeArrowheads="1"/>
          </p:cNvSpPr>
          <p:nvPr/>
        </p:nvSpPr>
        <p:spPr bwMode="auto">
          <a:xfrm>
            <a:off x="3810000" y="3200400"/>
            <a:ext cx="1828800" cy="2590800"/>
          </a:xfrm>
          <a:prstGeom prst="roundRect">
            <a:avLst>
              <a:gd name="adj" fmla="val 13745"/>
            </a:avLst>
          </a:prstGeom>
          <a:noFill/>
          <a:ln w="38100">
            <a:solidFill>
              <a:srgbClr val="C0C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>
                    <a:alpha val="31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285750" indent="-285750" algn="l">
              <a:buFont typeface="Arial"/>
              <a:buChar char="•"/>
            </a:pPr>
            <a:r>
              <a:rPr lang="en-US" sz="1200" dirty="0" smtClean="0">
                <a:solidFill>
                  <a:srgbClr val="000000"/>
                </a:solidFill>
                <a:latin typeface="Verdana" charset="0"/>
              </a:rPr>
              <a:t>PELAKSANAAN</a:t>
            </a:r>
          </a:p>
          <a:p>
            <a:pPr marL="285750" indent="-285750" algn="l">
              <a:buFont typeface="Arial"/>
              <a:buChar char="•"/>
            </a:pPr>
            <a:r>
              <a:rPr lang="en-US" sz="1200" dirty="0" smtClean="0">
                <a:solidFill>
                  <a:srgbClr val="000000"/>
                </a:solidFill>
                <a:latin typeface="Verdana" charset="0"/>
              </a:rPr>
              <a:t>CEK TARGET</a:t>
            </a:r>
            <a:endParaRPr lang="en-US" sz="1200" dirty="0">
              <a:solidFill>
                <a:srgbClr val="000000"/>
              </a:solidFill>
              <a:latin typeface="Verdana" charset="0"/>
            </a:endParaRPr>
          </a:p>
        </p:txBody>
      </p:sp>
      <p:grpSp>
        <p:nvGrpSpPr>
          <p:cNvPr id="13" name="Group 19"/>
          <p:cNvGrpSpPr>
            <a:grpSpLocks/>
          </p:cNvGrpSpPr>
          <p:nvPr/>
        </p:nvGrpSpPr>
        <p:grpSpPr bwMode="auto">
          <a:xfrm>
            <a:off x="6781800" y="2073396"/>
            <a:ext cx="1219200" cy="132080"/>
            <a:chOff x="2003" y="3439"/>
            <a:chExt cx="468" cy="244"/>
          </a:xfrm>
        </p:grpSpPr>
        <p:sp>
          <p:nvSpPr>
            <p:cNvPr id="32" name="Oval 20"/>
            <p:cNvSpPr>
              <a:spLocks noChangeArrowheads="1"/>
            </p:cNvSpPr>
            <p:nvPr/>
          </p:nvSpPr>
          <p:spPr bwMode="gray">
            <a:xfrm>
              <a:off x="2003" y="3439"/>
              <a:ext cx="79" cy="242"/>
            </a:xfrm>
            <a:prstGeom prst="ellipse">
              <a:avLst/>
            </a:prstGeom>
            <a:gradFill rotWithShape="0">
              <a:gsLst>
                <a:gs pos="0">
                  <a:srgbClr val="FFFFFF">
                    <a:gamma/>
                    <a:shade val="46275"/>
                    <a:invGamma/>
                  </a:srgbClr>
                </a:gs>
                <a:gs pos="50000">
                  <a:srgbClr val="FFFFFF"/>
                </a:gs>
                <a:gs pos="100000">
                  <a:srgbClr val="FFFFFF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Rectangle 21"/>
            <p:cNvSpPr>
              <a:spLocks noChangeArrowheads="1"/>
            </p:cNvSpPr>
            <p:nvPr/>
          </p:nvSpPr>
          <p:spPr bwMode="gray">
            <a:xfrm>
              <a:off x="2048" y="3441"/>
              <a:ext cx="388" cy="242"/>
            </a:xfrm>
            <a:prstGeom prst="rect">
              <a:avLst/>
            </a:prstGeom>
            <a:gradFill rotWithShape="0">
              <a:gsLst>
                <a:gs pos="0">
                  <a:srgbClr val="FFFFFF">
                    <a:gamma/>
                    <a:shade val="46275"/>
                    <a:invGamma/>
                  </a:srgbClr>
                </a:gs>
                <a:gs pos="50000">
                  <a:srgbClr val="FFFFFF"/>
                </a:gs>
                <a:gs pos="100000">
                  <a:srgbClr val="FFFFFF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Oval 22"/>
            <p:cNvSpPr>
              <a:spLocks noChangeArrowheads="1"/>
            </p:cNvSpPr>
            <p:nvPr/>
          </p:nvSpPr>
          <p:spPr bwMode="gray">
            <a:xfrm>
              <a:off x="2400" y="3443"/>
              <a:ext cx="71" cy="234"/>
            </a:xfrm>
            <a:prstGeom prst="ellipse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1270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Oval 23"/>
            <p:cNvSpPr>
              <a:spLocks noChangeArrowheads="1"/>
            </p:cNvSpPr>
            <p:nvPr/>
          </p:nvSpPr>
          <p:spPr bwMode="gray">
            <a:xfrm>
              <a:off x="2438" y="3519"/>
              <a:ext cx="20" cy="69"/>
            </a:xfrm>
            <a:prstGeom prst="ellipse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6" name="Rectangle 24"/>
          <p:cNvSpPr>
            <a:spLocks noChangeArrowheads="1"/>
          </p:cNvSpPr>
          <p:nvPr/>
        </p:nvSpPr>
        <p:spPr bwMode="gray">
          <a:xfrm rot="3419336">
            <a:off x="7467002" y="1835532"/>
            <a:ext cx="924560" cy="1004047"/>
          </a:xfrm>
          <a:prstGeom prst="rect">
            <a:avLst/>
          </a:prstGeom>
          <a:gradFill rotWithShape="1">
            <a:gsLst>
              <a:gs pos="0">
                <a:srgbClr val="009999"/>
              </a:gs>
              <a:gs pos="100000">
                <a:srgbClr val="009999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miter lim="800000"/>
            <a:headEnd/>
            <a:tailEnd/>
          </a:ln>
          <a:effectLst/>
          <a:scene3d>
            <a:camera prst="legacyPerspectiveFront">
              <a:rot lat="0" lon="1500000" rev="0"/>
            </a:camera>
            <a:lightRig rig="legacyFlat4" dir="b"/>
          </a:scene3d>
          <a:sp3d extrusionH="887400" prstMaterial="legacyMatte">
            <a:bevelT w="13500" h="13500" prst="angle"/>
            <a:bevelB w="13500" h="13500" prst="angle"/>
            <a:extrusionClr>
              <a:srgbClr val="009999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en-US"/>
          </a:p>
        </p:txBody>
      </p:sp>
      <p:sp>
        <p:nvSpPr>
          <p:cNvPr id="37" name="Text Box 28"/>
          <p:cNvSpPr txBox="1">
            <a:spLocks noChangeArrowheads="1"/>
          </p:cNvSpPr>
          <p:nvPr/>
        </p:nvSpPr>
        <p:spPr bwMode="gray">
          <a:xfrm>
            <a:off x="7699420" y="2186426"/>
            <a:ext cx="44142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FFFF"/>
                </a:solidFill>
              </a:rPr>
              <a:t>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8" name="AutoShape 29"/>
          <p:cNvSpPr>
            <a:spLocks noChangeArrowheads="1"/>
          </p:cNvSpPr>
          <p:nvPr/>
        </p:nvSpPr>
        <p:spPr bwMode="auto">
          <a:xfrm>
            <a:off x="7239000" y="3170676"/>
            <a:ext cx="1616075" cy="2590800"/>
          </a:xfrm>
          <a:prstGeom prst="roundRect">
            <a:avLst>
              <a:gd name="adj" fmla="val 13745"/>
            </a:avLst>
          </a:prstGeom>
          <a:solidFill>
            <a:srgbClr val="FFFFFF">
              <a:alpha val="31000"/>
            </a:srgbClr>
          </a:solidFill>
          <a:ln w="38100">
            <a:solidFill>
              <a:srgbClr val="C0C0C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285750" indent="-285750" algn="l">
              <a:buFont typeface="Arial"/>
              <a:buChar char="•"/>
            </a:pPr>
            <a:endParaRPr lang="en-US" sz="1200" dirty="0" smtClean="0">
              <a:solidFill>
                <a:srgbClr val="000000"/>
              </a:solidFill>
              <a:latin typeface="Verdana" charset="0"/>
            </a:endParaRPr>
          </a:p>
          <a:p>
            <a:pPr marL="285750" indent="-285750" algn="l">
              <a:buFont typeface="Arial"/>
              <a:buChar char="•"/>
            </a:pPr>
            <a:r>
              <a:rPr lang="en-US" sz="1200" dirty="0" smtClean="0">
                <a:solidFill>
                  <a:srgbClr val="000000"/>
                </a:solidFill>
                <a:latin typeface="Verdana" charset="0"/>
              </a:rPr>
              <a:t>PELAPORAN KEGIATAN</a:t>
            </a:r>
          </a:p>
          <a:p>
            <a:pPr marL="285750" indent="-285750" algn="l">
              <a:buFont typeface="Arial"/>
              <a:buChar char="•"/>
            </a:pPr>
            <a:r>
              <a:rPr lang="en-US" sz="1200" dirty="0" smtClean="0">
                <a:solidFill>
                  <a:srgbClr val="000000"/>
                </a:solidFill>
                <a:latin typeface="Verdana" charset="0"/>
              </a:rPr>
              <a:t>PELAPORAN KEUANGAN</a:t>
            </a:r>
          </a:p>
          <a:p>
            <a:pPr marL="285750" indent="-285750" algn="l">
              <a:buFont typeface="Arial"/>
              <a:buChar char="•"/>
            </a:pPr>
            <a:r>
              <a:rPr lang="en-US" sz="1200" dirty="0" smtClean="0">
                <a:solidFill>
                  <a:srgbClr val="000000"/>
                </a:solidFill>
                <a:latin typeface="Verdana" charset="0"/>
              </a:rPr>
              <a:t>CEK TARGET</a:t>
            </a:r>
          </a:p>
          <a:p>
            <a:pPr marL="285750" indent="-285750" algn="l">
              <a:buFont typeface="Arial"/>
              <a:buChar char="•"/>
            </a:pPr>
            <a:endParaRPr lang="en-US" sz="1200" dirty="0">
              <a:solidFill>
                <a:srgbClr val="000000"/>
              </a:solidFill>
              <a:latin typeface="Verdana" charset="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283644" y="1490246"/>
            <a:ext cx="1780656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en-US" sz="1600" b="1" dirty="0" smtClean="0">
                <a:ln w="50800"/>
                <a:solidFill>
                  <a:srgbClr val="000000"/>
                </a:solidFill>
              </a:rPr>
              <a:t>PERENCANAAN</a:t>
            </a:r>
            <a:endParaRPr lang="en-US" sz="1600" b="1" dirty="0">
              <a:ln w="50800"/>
              <a:solidFill>
                <a:srgbClr val="000000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2057400" y="1219200"/>
            <a:ext cx="1529786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en-US" sz="1600" b="1" dirty="0" smtClean="0">
                <a:ln w="50800"/>
                <a:solidFill>
                  <a:srgbClr val="000000"/>
                </a:solidFill>
              </a:rPr>
              <a:t>IDENTIFIKASI</a:t>
            </a:r>
            <a:endParaRPr lang="en-US" sz="1600" b="1" dirty="0">
              <a:ln w="50800"/>
              <a:solidFill>
                <a:srgbClr val="000000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562628" y="1447800"/>
            <a:ext cx="1719742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en-US" sz="1600" b="1" dirty="0" smtClean="0">
                <a:ln w="50800"/>
                <a:solidFill>
                  <a:srgbClr val="000000"/>
                </a:solidFill>
              </a:rPr>
              <a:t>IMPLEMENTASI</a:t>
            </a:r>
            <a:endParaRPr lang="en-US" sz="1600" b="1" dirty="0">
              <a:ln w="50800"/>
              <a:solidFill>
                <a:srgbClr val="000000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727319" y="1261646"/>
            <a:ext cx="120688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en-US" sz="1600" b="1" dirty="0" smtClean="0">
                <a:ln w="50800"/>
                <a:solidFill>
                  <a:srgbClr val="000000"/>
                </a:solidFill>
              </a:rPr>
              <a:t>EVALUASI</a:t>
            </a:r>
            <a:endParaRPr lang="en-US" sz="1600" b="1" dirty="0">
              <a:ln w="50800"/>
              <a:solidFill>
                <a:srgbClr val="000000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7271728" y="1447800"/>
            <a:ext cx="1446229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en-US" sz="1600" b="1" dirty="0" smtClean="0">
                <a:ln w="50800"/>
                <a:solidFill>
                  <a:srgbClr val="000000"/>
                </a:solidFill>
              </a:rPr>
              <a:t>PENUTUPAN</a:t>
            </a:r>
            <a:endParaRPr lang="en-US" sz="1600" b="1" dirty="0">
              <a:ln w="50800"/>
              <a:solidFill>
                <a:srgbClr val="000000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533400" y="5096470"/>
            <a:ext cx="723250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77 HARI 1 KEGIATAN</a:t>
            </a:r>
            <a:endParaRPr lang="en-US" sz="5400" b="1" spc="50" dirty="0">
              <a:ln w="12700" cmpd="sng">
                <a:solidFill>
                  <a:schemeClr val="accent6">
                    <a:satMod val="120000"/>
                    <a:shade val="80000"/>
                  </a:schemeClr>
                </a:solidFill>
                <a:prstDash val="solid"/>
              </a:ln>
              <a:solidFill>
                <a:schemeClr val="accent6">
                  <a:tint val="1000"/>
                </a:schemeClr>
              </a:solidFill>
              <a:effectLst>
                <a:glow rad="53100">
                  <a:schemeClr val="accent6">
                    <a:satMod val="180000"/>
                    <a:alpha val="30000"/>
                  </a:schemeClr>
                </a:glow>
              </a:effectLst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362200" y="5791200"/>
            <a:ext cx="655719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2618 HARI - 261</a:t>
            </a:r>
            <a:endParaRPr lang="en-US" sz="5400" b="1" spc="50" dirty="0">
              <a:ln w="12700" cmpd="sng">
                <a:solidFill>
                  <a:schemeClr val="accent6">
                    <a:satMod val="120000"/>
                    <a:shade val="8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glow rad="53100">
                  <a:schemeClr val="accent6">
                    <a:satMod val="180000"/>
                    <a:alpha val="30000"/>
                  </a:schemeClr>
                </a:glow>
              </a:effectLst>
            </a:endParaRPr>
          </a:p>
        </p:txBody>
      </p:sp>
      <p:grpSp>
        <p:nvGrpSpPr>
          <p:cNvPr id="19" name="Group 22"/>
          <p:cNvGrpSpPr>
            <a:grpSpLocks/>
          </p:cNvGrpSpPr>
          <p:nvPr/>
        </p:nvGrpSpPr>
        <p:grpSpPr bwMode="auto">
          <a:xfrm>
            <a:off x="304800" y="228601"/>
            <a:ext cx="1752600" cy="1143000"/>
            <a:chOff x="3223" y="1438"/>
            <a:chExt cx="1193" cy="959"/>
          </a:xfrm>
        </p:grpSpPr>
        <p:grpSp>
          <p:nvGrpSpPr>
            <p:cNvPr id="31" name="Group 23"/>
            <p:cNvGrpSpPr>
              <a:grpSpLocks/>
            </p:cNvGrpSpPr>
            <p:nvPr/>
          </p:nvGrpSpPr>
          <p:grpSpPr bwMode="auto">
            <a:xfrm>
              <a:off x="3223" y="1438"/>
              <a:ext cx="1193" cy="959"/>
              <a:chOff x="2057" y="862"/>
              <a:chExt cx="1549" cy="1351"/>
            </a:xfrm>
          </p:grpSpPr>
          <p:sp>
            <p:nvSpPr>
              <p:cNvPr id="49" name="AutoShape 24"/>
              <p:cNvSpPr>
                <a:spLocks noChangeArrowheads="1"/>
              </p:cNvSpPr>
              <p:nvPr/>
            </p:nvSpPr>
            <p:spPr bwMode="gray">
              <a:xfrm>
                <a:off x="2070" y="885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" name="AutoShape 25"/>
              <p:cNvSpPr>
                <a:spLocks noChangeArrowheads="1"/>
              </p:cNvSpPr>
              <p:nvPr/>
            </p:nvSpPr>
            <p:spPr bwMode="gray">
              <a:xfrm>
                <a:off x="2057" y="862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" name="AutoShape 26"/>
              <p:cNvSpPr>
                <a:spLocks noChangeArrowheads="1"/>
              </p:cNvSpPr>
              <p:nvPr/>
            </p:nvSpPr>
            <p:spPr bwMode="gray">
              <a:xfrm>
                <a:off x="2147" y="942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85B9C3">
                      <a:gamma/>
                      <a:shade val="46275"/>
                      <a:invGamma/>
                    </a:srgbClr>
                  </a:gs>
                  <a:gs pos="100000">
                    <a:srgbClr val="85B9C3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8" name="Text Box 27"/>
            <p:cNvSpPr txBox="1">
              <a:spLocks noChangeArrowheads="1"/>
            </p:cNvSpPr>
            <p:nvPr/>
          </p:nvSpPr>
          <p:spPr bwMode="gray">
            <a:xfrm>
              <a:off x="3499" y="1780"/>
              <a:ext cx="64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 dirty="0" smtClean="0">
                  <a:solidFill>
                    <a:srgbClr val="FFFFFF"/>
                  </a:solidFill>
                </a:rPr>
                <a:t>WAKTU</a:t>
              </a:r>
              <a:endParaRPr lang="en-US" dirty="0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89224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153400" cy="990600"/>
          </a:xfrm>
        </p:spPr>
        <p:txBody>
          <a:bodyPr/>
          <a:lstStyle/>
          <a:p>
            <a:r>
              <a:rPr lang="en-US" dirty="0" smtClean="0"/>
              <a:t>STAKEHOLDERS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7769352" cy="4267200"/>
          </a:xfr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/>
          <a:lstStyle/>
          <a:p>
            <a:r>
              <a:rPr lang="en-US" sz="2400" dirty="0" smtClean="0">
                <a:solidFill>
                  <a:srgbClr val="000090"/>
                </a:solidFill>
              </a:rPr>
              <a:t>BENDAHARAWAN UMUM (MENTERI KEUANGAN)</a:t>
            </a:r>
          </a:p>
          <a:p>
            <a:r>
              <a:rPr lang="en-US" sz="2400" dirty="0" smtClean="0">
                <a:solidFill>
                  <a:srgbClr val="000090"/>
                </a:solidFill>
              </a:rPr>
              <a:t>PENGGUNA ANGGARAN (MENTERI TEKNIS)</a:t>
            </a:r>
          </a:p>
          <a:p>
            <a:r>
              <a:rPr lang="en-US" sz="2400" dirty="0" smtClean="0">
                <a:solidFill>
                  <a:srgbClr val="000090"/>
                </a:solidFill>
              </a:rPr>
              <a:t>KUASA PENGGUNA ANGGARAN</a:t>
            </a:r>
          </a:p>
          <a:p>
            <a:r>
              <a:rPr lang="en-US" sz="2400" dirty="0" smtClean="0">
                <a:solidFill>
                  <a:srgbClr val="000090"/>
                </a:solidFill>
              </a:rPr>
              <a:t>PEJABAT PEMBUAT KOMITMEN</a:t>
            </a:r>
          </a:p>
          <a:p>
            <a:r>
              <a:rPr lang="en-US" sz="2400" dirty="0" smtClean="0">
                <a:solidFill>
                  <a:srgbClr val="000090"/>
                </a:solidFill>
              </a:rPr>
              <a:t>BENDAHARA</a:t>
            </a:r>
          </a:p>
          <a:p>
            <a:r>
              <a:rPr lang="en-US" sz="2400" dirty="0" smtClean="0">
                <a:solidFill>
                  <a:srgbClr val="000090"/>
                </a:solidFill>
              </a:rPr>
              <a:t>PENGUJI TAGIHAN</a:t>
            </a:r>
          </a:p>
          <a:p>
            <a:r>
              <a:rPr lang="en-US" sz="2400" dirty="0" smtClean="0">
                <a:solidFill>
                  <a:srgbClr val="000090"/>
                </a:solidFill>
              </a:rPr>
              <a:t>PENERBIT SPM</a:t>
            </a:r>
          </a:p>
          <a:p>
            <a:r>
              <a:rPr lang="en-US" sz="2400" dirty="0" smtClean="0">
                <a:solidFill>
                  <a:srgbClr val="000090"/>
                </a:solidFill>
              </a:rPr>
              <a:t>UNIT AKUNTANSI INSTANSI</a:t>
            </a:r>
          </a:p>
          <a:p>
            <a:r>
              <a:rPr lang="en-US" sz="2400" dirty="0" smtClean="0">
                <a:solidFill>
                  <a:srgbClr val="000090"/>
                </a:solidFill>
              </a:rPr>
              <a:t>PEMEGANG UANG MUKA</a:t>
            </a:r>
          </a:p>
        </p:txBody>
      </p:sp>
      <p:sp>
        <p:nvSpPr>
          <p:cNvPr id="4" name="Rectangle 3"/>
          <p:cNvSpPr/>
          <p:nvPr/>
        </p:nvSpPr>
        <p:spPr>
          <a:xfrm>
            <a:off x="581546" y="6172200"/>
            <a:ext cx="7800454" cy="44627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300" dirty="0">
                <a:solidFill>
                  <a:srgbClr val="000090"/>
                </a:solidFill>
              </a:rPr>
              <a:t>PENANGGUNGJAWABAN </a:t>
            </a:r>
            <a:r>
              <a:rPr lang="en-US" sz="2300" dirty="0" smtClean="0">
                <a:solidFill>
                  <a:srgbClr val="000090"/>
                </a:solidFill>
              </a:rPr>
              <a:t>PROGRAM DAN PELAPORAN</a:t>
            </a:r>
            <a:endParaRPr lang="en-US" sz="2300" dirty="0">
              <a:solidFill>
                <a:srgbClr val="00009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63478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KONTRIBUSI UNTUK PELAKSANAAN E-GOVERNMENT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85800" y="1600200"/>
            <a:ext cx="8229600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hr-HR" sz="1600" dirty="0"/>
              <a:t> Merujuk kepada Instruksi Presiden No 3 tahun 2003 tentang Kebijakan dan Strategi Nasional Pengembangan E-government, pengembangan </a:t>
            </a:r>
            <a:r>
              <a:rPr lang="hr-HR" sz="1600" i="1" dirty="0"/>
              <a:t>e-government</a:t>
            </a:r>
            <a:r>
              <a:rPr lang="hr-HR" sz="1600" dirty="0"/>
              <a:t> merupakan upaya untuk mengembangkan penyelenggaraan kepemerintahan yang berbasis (menggunakan) elektronik dalam rangka meningkatkan kualitas layanan publik secara efektif dan efisien, LAKSANA berfungsi </a:t>
            </a:r>
            <a:r>
              <a:rPr lang="hr-HR" sz="1600" dirty="0" smtClean="0"/>
              <a:t>untuk:</a:t>
            </a:r>
            <a:endParaRPr lang="en-US" sz="1600" dirty="0"/>
          </a:p>
          <a:p>
            <a:pPr marL="342900" indent="-342900" algn="just">
              <a:buFont typeface="+mj-lt"/>
              <a:buAutoNum type="arabicPeriod"/>
            </a:pPr>
            <a:r>
              <a:rPr lang="hr-HR" sz="1600" dirty="0" smtClean="0"/>
              <a:t>Mendukung </a:t>
            </a:r>
            <a:r>
              <a:rPr lang="hr-HR" sz="1600" dirty="0"/>
              <a:t>percepatan terlaksananya e-Government baik di pemerintah pusat maupun pemerintah daerah melalui pengembangan aplikasi pengelolaan dan pengendalian kegiatan dan keuangan;</a:t>
            </a:r>
            <a:endParaRPr lang="en-US" sz="1600" dirty="0"/>
          </a:p>
          <a:p>
            <a:pPr marL="342900" indent="-342900" algn="just">
              <a:buFont typeface="+mj-lt"/>
              <a:buAutoNum type="arabicPeriod"/>
            </a:pPr>
            <a:r>
              <a:rPr lang="hr-HR" sz="1600" dirty="0" smtClean="0"/>
              <a:t>Meningkatkan </a:t>
            </a:r>
            <a:r>
              <a:rPr lang="hr-HR" sz="1600" dirty="0"/>
              <a:t>kapabilitas pegawai negeri dan masyarakat dalam memanfaatkan TIK yang pada gilirannya akan memberikan implikasi terhadap peningkatan hubungan antara aparatur negara dengan masyarakat umum serta memberikan kesempatan seluas-luasnya kepada masyarakat untuk memperoleh akses terhadap informasi;</a:t>
            </a:r>
            <a:endParaRPr lang="en-US" sz="1600" dirty="0"/>
          </a:p>
          <a:p>
            <a:pPr marL="342900" indent="-342900" algn="just">
              <a:buFont typeface="+mj-lt"/>
              <a:buAutoNum type="arabicPeriod"/>
            </a:pPr>
            <a:r>
              <a:rPr lang="hr-HR" sz="1600" dirty="0" smtClean="0"/>
              <a:t>Melakukan </a:t>
            </a:r>
            <a:r>
              <a:rPr lang="hr-HR" sz="1600" dirty="0"/>
              <a:t>fungsi pengendalian sejak perencanaan hingga implementasi dan pelaporan  kegiatan dan keuangan pemerintah;</a:t>
            </a:r>
            <a:endParaRPr lang="en-US" sz="1600" dirty="0"/>
          </a:p>
          <a:p>
            <a:pPr marL="342900" indent="-342900" algn="just">
              <a:buFont typeface="+mj-lt"/>
              <a:buAutoNum type="arabicPeriod"/>
            </a:pPr>
            <a:r>
              <a:rPr lang="hr-HR" sz="1600" dirty="0" smtClean="0"/>
              <a:t>Mengedepankan </a:t>
            </a:r>
            <a:r>
              <a:rPr lang="hr-HR" sz="1600" dirty="0"/>
              <a:t>aspek transparansi dan akuntabilitas dalam pengelolaan kegiatan dan keuangan pemerintah melalui pendekatan TIK;</a:t>
            </a:r>
            <a:endParaRPr lang="en-US" sz="1600" dirty="0"/>
          </a:p>
          <a:p>
            <a:pPr marL="342900" indent="-342900" algn="just">
              <a:buFont typeface="+mj-lt"/>
              <a:buAutoNum type="arabicPeriod"/>
            </a:pPr>
            <a:r>
              <a:rPr lang="hr-HR" sz="1600" dirty="0" smtClean="0"/>
              <a:t>Mendukung </a:t>
            </a:r>
            <a:r>
              <a:rPr lang="hr-HR" sz="1600" dirty="0"/>
              <a:t>reformasi birokrasi dan gerakan</a:t>
            </a:r>
            <a:r>
              <a:rPr lang="hr-HR" sz="1600" i="1" dirty="0"/>
              <a:t> Green ICT</a:t>
            </a:r>
            <a:r>
              <a:rPr lang="hr-HR" sz="1600" dirty="0"/>
              <a:t> melalui </a:t>
            </a:r>
            <a:r>
              <a:rPr lang="hr-HR" sz="1600" i="1" dirty="0"/>
              <a:t>re-engineering</a:t>
            </a:r>
            <a:r>
              <a:rPr lang="hr-HR" sz="1600" dirty="0"/>
              <a:t> proses perencanaan, implementasi , dan pelaporan DIPA yang efisien dan menjunjung prinsip </a:t>
            </a:r>
            <a:r>
              <a:rPr lang="hr-HR" sz="1600" i="1" dirty="0"/>
              <a:t>good governance.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2734302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4"/>
          <p:cNvGrpSpPr/>
          <p:nvPr/>
        </p:nvGrpSpPr>
        <p:grpSpPr>
          <a:xfrm>
            <a:off x="0" y="838200"/>
            <a:ext cx="2438400" cy="4343400"/>
            <a:chOff x="1752600" y="457200"/>
            <a:chExt cx="2971800" cy="4343400"/>
          </a:xfrm>
        </p:grpSpPr>
        <p:sp>
          <p:nvSpPr>
            <p:cNvPr id="51" name="Arc 50"/>
            <p:cNvSpPr/>
            <p:nvPr/>
          </p:nvSpPr>
          <p:spPr>
            <a:xfrm rot="13272414">
              <a:off x="1966185" y="2488196"/>
              <a:ext cx="903117" cy="959399"/>
            </a:xfrm>
            <a:prstGeom prst="arc">
              <a:avLst/>
            </a:prstGeom>
            <a:ln w="76200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39" name="Picture 13" descr="134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52600" y="2362200"/>
              <a:ext cx="990600" cy="762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0" name="Picture 25" descr="14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28800" y="3352800"/>
              <a:ext cx="762000" cy="7789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" name="Picture 23" descr="018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24200" y="3886200"/>
              <a:ext cx="609600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" name="Picture 15" descr="3D_14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05200" y="1981200"/>
              <a:ext cx="1066800" cy="685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5" name="Picture 25" descr="220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86200" y="2971800"/>
              <a:ext cx="838200" cy="990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6" name="Picture 18" descr="024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52600" y="457200"/>
              <a:ext cx="1524000" cy="1981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8" name="Arc 47"/>
            <p:cNvSpPr/>
            <p:nvPr/>
          </p:nvSpPr>
          <p:spPr>
            <a:xfrm>
              <a:off x="3505200" y="2667000"/>
              <a:ext cx="822960" cy="822960"/>
            </a:xfrm>
            <a:prstGeom prst="arc">
              <a:avLst/>
            </a:prstGeom>
            <a:ln w="76200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9" name="Arc 48"/>
            <p:cNvSpPr/>
            <p:nvPr/>
          </p:nvSpPr>
          <p:spPr>
            <a:xfrm rot="6288969">
              <a:off x="3404264" y="3304487"/>
              <a:ext cx="903117" cy="959399"/>
            </a:xfrm>
            <a:prstGeom prst="arc">
              <a:avLst/>
            </a:prstGeom>
            <a:ln w="76200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0" name="Arc 49"/>
            <p:cNvSpPr/>
            <p:nvPr/>
          </p:nvSpPr>
          <p:spPr>
            <a:xfrm rot="9593615">
              <a:off x="2434673" y="3384640"/>
              <a:ext cx="903117" cy="959399"/>
            </a:xfrm>
            <a:prstGeom prst="arc">
              <a:avLst/>
            </a:prstGeom>
            <a:ln w="76200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grpSp>
          <p:nvGrpSpPr>
            <p:cNvPr id="5" name="Group 16"/>
            <p:cNvGrpSpPr>
              <a:grpSpLocks/>
            </p:cNvGrpSpPr>
            <p:nvPr/>
          </p:nvGrpSpPr>
          <p:grpSpPr bwMode="auto">
            <a:xfrm>
              <a:off x="2590800" y="2895600"/>
              <a:ext cx="1365250" cy="839787"/>
              <a:chOff x="2356" y="1919"/>
              <a:chExt cx="1192" cy="959"/>
            </a:xfrm>
          </p:grpSpPr>
          <p:grpSp>
            <p:nvGrpSpPr>
              <p:cNvPr id="6" name="Group 17"/>
              <p:cNvGrpSpPr>
                <a:grpSpLocks/>
              </p:cNvGrpSpPr>
              <p:nvPr/>
            </p:nvGrpSpPr>
            <p:grpSpPr bwMode="auto">
              <a:xfrm>
                <a:off x="2356" y="1919"/>
                <a:ext cx="1192" cy="959"/>
                <a:chOff x="3174" y="2656"/>
                <a:chExt cx="1549" cy="1351"/>
              </a:xfrm>
            </p:grpSpPr>
            <p:sp>
              <p:nvSpPr>
                <p:cNvPr id="57" name="AutoShape 18"/>
                <p:cNvSpPr>
                  <a:spLocks noChangeArrowheads="1"/>
                </p:cNvSpPr>
                <p:nvPr/>
              </p:nvSpPr>
              <p:spPr bwMode="gray">
                <a:xfrm>
                  <a:off x="3187" y="2679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solidFill>
                  <a:srgbClr val="80808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C0C0C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8" name="AutoShape 19"/>
                <p:cNvSpPr>
                  <a:spLocks noChangeArrowheads="1"/>
                </p:cNvSpPr>
                <p:nvPr/>
              </p:nvSpPr>
              <p:spPr bwMode="gray">
                <a:xfrm>
                  <a:off x="3174" y="2656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adFill rotWithShape="1">
                  <a:gsLst>
                    <a:gs pos="0">
                      <a:srgbClr val="E6E6E6"/>
                    </a:gs>
                    <a:gs pos="7499">
                      <a:srgbClr val="7D8496"/>
                    </a:gs>
                    <a:gs pos="26500">
                      <a:srgbClr val="E6E6E6"/>
                    </a:gs>
                    <a:gs pos="34000">
                      <a:srgbClr val="7D8496"/>
                    </a:gs>
                    <a:gs pos="46500">
                      <a:srgbClr val="E6E6E6"/>
                    </a:gs>
                    <a:gs pos="50000">
                      <a:srgbClr val="FFFFFF"/>
                    </a:gs>
                    <a:gs pos="53501">
                      <a:srgbClr val="E6E6E6"/>
                    </a:gs>
                    <a:gs pos="66001">
                      <a:srgbClr val="7D8496"/>
                    </a:gs>
                    <a:gs pos="73500">
                      <a:srgbClr val="E6E6E6"/>
                    </a:gs>
                    <a:gs pos="92501">
                      <a:srgbClr val="7D8496"/>
                    </a:gs>
                    <a:gs pos="100000">
                      <a:srgbClr val="E6E6E6"/>
                    </a:gs>
                  </a:gsLst>
                  <a:lin ang="2700000" scaled="1"/>
                </a:gradFill>
                <a:ln w="9525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" name="AutoShape 20"/>
                <p:cNvSpPr>
                  <a:spLocks noChangeArrowheads="1"/>
                </p:cNvSpPr>
                <p:nvPr/>
              </p:nvSpPr>
              <p:spPr bwMode="gray">
                <a:xfrm>
                  <a:off x="3264" y="2736"/>
                  <a:ext cx="1350" cy="1168"/>
                </a:xfrm>
                <a:prstGeom prst="hexagon">
                  <a:avLst>
                    <a:gd name="adj" fmla="val 28896"/>
                    <a:gd name="vf" fmla="val 115470"/>
                  </a:avLst>
                </a:prstGeom>
                <a:gradFill rotWithShape="1">
                  <a:gsLst>
                    <a:gs pos="0">
                      <a:srgbClr val="3366CC">
                        <a:gamma/>
                        <a:shade val="46275"/>
                        <a:invGamma/>
                      </a:srgbClr>
                    </a:gs>
                    <a:gs pos="100000">
                      <a:srgbClr val="3366CC"/>
                    </a:gs>
                  </a:gsLst>
                  <a:lin ang="27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56" name="Text Box 21"/>
              <p:cNvSpPr txBox="1">
                <a:spLocks noChangeArrowheads="1"/>
              </p:cNvSpPr>
              <p:nvPr/>
            </p:nvSpPr>
            <p:spPr bwMode="gray">
              <a:xfrm>
                <a:off x="2489" y="2150"/>
                <a:ext cx="676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2400" b="1" dirty="0" smtClean="0">
                    <a:solidFill>
                      <a:srgbClr val="FF0000"/>
                    </a:solidFill>
                  </a:rPr>
                  <a:t>MUTU</a:t>
                </a:r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p:grpSp>
      </p:grpSp>
      <p:sp>
        <p:nvSpPr>
          <p:cNvPr id="4" name="TextBox 3"/>
          <p:cNvSpPr txBox="1"/>
          <p:nvPr/>
        </p:nvSpPr>
        <p:spPr>
          <a:xfrm>
            <a:off x="2362200" y="1600200"/>
            <a:ext cx="64008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AutoNum type="arabicPeriod"/>
            </a:pPr>
            <a:r>
              <a:rPr lang="en-US" sz="1600" dirty="0" smtClean="0"/>
              <a:t>PERENCANAAN YANG MATANG DAN HATI-HATI TIDAK AKAN MENGHINDARKAN SUATU PROYEK MENGALAMI KETERLAMBATAN</a:t>
            </a:r>
          </a:p>
          <a:p>
            <a:pPr marL="342900" indent="-342900" algn="just">
              <a:buAutoNum type="arabicPeriod"/>
            </a:pPr>
            <a:endParaRPr lang="en-US" sz="1600" dirty="0" smtClean="0"/>
          </a:p>
          <a:p>
            <a:pPr marL="342900" indent="-342900" algn="just">
              <a:buAutoNum type="arabicPeriod"/>
            </a:pPr>
            <a:r>
              <a:rPr lang="en-US" sz="1600" dirty="0" smtClean="0"/>
              <a:t>TIDAK ADA SATUPUN PROYEK BESAR YANG TEPAT WAKTU, TEPAT ANGGARAN, DAN DIMULAI DAN DIAKHIRI OLEH TIM KERJA YANG SAMA</a:t>
            </a:r>
          </a:p>
          <a:p>
            <a:pPr marL="342900" indent="-342900" algn="just">
              <a:buAutoNum type="arabicPeriod"/>
            </a:pPr>
            <a:endParaRPr lang="en-US" sz="1600" dirty="0" smtClean="0"/>
          </a:p>
          <a:p>
            <a:pPr marL="342900" indent="-342900" algn="just">
              <a:buAutoNum type="arabicPeriod"/>
            </a:pPr>
            <a:r>
              <a:rPr lang="en-US" sz="1600" dirty="0" smtClean="0"/>
              <a:t>UMUMNYA PROYEK AKAN BERGERAK CEPAT HINGGA MENCAPAI PENYELESAIAN 90%, DAN </a:t>
            </a:r>
            <a:r>
              <a:rPr lang="en-US" sz="1600" dirty="0"/>
              <a:t>SELAMANYA</a:t>
            </a:r>
            <a:r>
              <a:rPr lang="en-US" sz="1600" dirty="0" smtClean="0"/>
              <a:t> 90% SELESAI</a:t>
            </a:r>
          </a:p>
          <a:p>
            <a:pPr marL="342900" indent="-342900" algn="just">
              <a:buAutoNum type="arabicPeriod"/>
            </a:pPr>
            <a:endParaRPr lang="en-US" sz="1600" dirty="0"/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PENUTUP</a:t>
            </a:r>
            <a:endParaRPr lang="en-US"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524000" y="5257800"/>
            <a:ext cx="6553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PENGELOLAAN KEGIATAN ADALAH </a:t>
            </a:r>
            <a:r>
              <a:rPr lang="en-US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GABUNGAN ANTARA ILMU DAN INTUISI</a:t>
            </a:r>
          </a:p>
        </p:txBody>
      </p:sp>
    </p:spTree>
    <p:extLst>
      <p:ext uri="{BB962C8B-B14F-4D97-AF65-F5344CB8AC3E}">
        <p14:creationId xmlns:p14="http://schemas.microsoft.com/office/powerpoint/2010/main" val="2942172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PENYERAPAN YANG EFISIEN</a:t>
            </a:r>
            <a:br>
              <a:rPr lang="en-US" dirty="0" smtClean="0"/>
            </a:br>
            <a:r>
              <a:rPr lang="en-US" dirty="0" smtClean="0"/>
              <a:t>DAN AKUNTABEL</a:t>
            </a:r>
            <a:endParaRPr lang="en-US" dirty="0"/>
          </a:p>
        </p:txBody>
      </p:sp>
      <p:grpSp>
        <p:nvGrpSpPr>
          <p:cNvPr id="3" name="Group 34"/>
          <p:cNvGrpSpPr/>
          <p:nvPr/>
        </p:nvGrpSpPr>
        <p:grpSpPr>
          <a:xfrm>
            <a:off x="762000" y="1447800"/>
            <a:ext cx="7391400" cy="4038600"/>
            <a:chOff x="152400" y="1295400"/>
            <a:chExt cx="7391400" cy="3581400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" y="1295400"/>
              <a:ext cx="7391400" cy="3581400"/>
            </a:xfrm>
            <a:prstGeom prst="rect">
              <a:avLst/>
            </a:prstGeom>
          </p:spPr>
        </p:pic>
        <p:sp>
          <p:nvSpPr>
            <p:cNvPr id="8" name="Freeform 7"/>
            <p:cNvSpPr/>
            <p:nvPr/>
          </p:nvSpPr>
          <p:spPr>
            <a:xfrm>
              <a:off x="3048000" y="1828800"/>
              <a:ext cx="2819400" cy="1447801"/>
            </a:xfrm>
            <a:custGeom>
              <a:avLst/>
              <a:gdLst>
                <a:gd name="connsiteX0" fmla="*/ 0 w 3321285"/>
                <a:gd name="connsiteY0" fmla="*/ 1707581 h 1707581"/>
                <a:gd name="connsiteX1" fmla="*/ 1018713 w 3321285"/>
                <a:gd name="connsiteY1" fmla="*/ 549170 h 1707581"/>
                <a:gd name="connsiteX2" fmla="*/ 2163021 w 3321285"/>
                <a:gd name="connsiteY2" fmla="*/ 18813 h 1707581"/>
                <a:gd name="connsiteX3" fmla="*/ 3321285 w 3321285"/>
                <a:gd name="connsiteY3" fmla="*/ 1177224 h 1707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21285" h="1707581">
                  <a:moveTo>
                    <a:pt x="0" y="1707581"/>
                  </a:moveTo>
                  <a:cubicBezTo>
                    <a:pt x="329105" y="1269106"/>
                    <a:pt x="658210" y="830631"/>
                    <a:pt x="1018713" y="549170"/>
                  </a:cubicBezTo>
                  <a:cubicBezTo>
                    <a:pt x="1379217" y="267709"/>
                    <a:pt x="1779259" y="-85863"/>
                    <a:pt x="2163021" y="18813"/>
                  </a:cubicBezTo>
                  <a:cubicBezTo>
                    <a:pt x="2546783" y="123489"/>
                    <a:pt x="3321285" y="1177224"/>
                    <a:pt x="3321285" y="1177224"/>
                  </a:cubicBezTo>
                </a:path>
              </a:pathLst>
            </a:custGeom>
            <a:ln w="76200" cmpd="sng">
              <a:solidFill>
                <a:srgbClr val="FFFF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FFFF00"/>
                  </a:solidFill>
                </a:ln>
              </a:endParaRP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7086600" y="4724400"/>
            <a:ext cx="1828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EXPOSÉ</a:t>
            </a:r>
            <a:endParaRPr lang="en-US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  <a:p>
            <a:pPr marL="342900" indent="-342900">
              <a:buAutoNum type="arabicPeriod"/>
            </a:pPr>
            <a:endParaRPr lang="en-US" dirty="0" smtClean="0"/>
          </a:p>
          <a:p>
            <a:pPr marL="342900" indent="-342900">
              <a:buAutoNum type="arabicPeriod"/>
            </a:pPr>
            <a:endParaRPr lang="en-US" dirty="0"/>
          </a:p>
        </p:txBody>
      </p:sp>
      <p:sp>
        <p:nvSpPr>
          <p:cNvPr id="36" name="Rectangle 35"/>
          <p:cNvSpPr/>
          <p:nvPr/>
        </p:nvSpPr>
        <p:spPr>
          <a:xfrm>
            <a:off x="762000" y="4800600"/>
            <a:ext cx="18521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PENYESUAIAN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55410" y="5726668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KEPATUHAN KETAT</a:t>
            </a:r>
            <a:endParaRPr lang="en-US" b="1" spc="50" dirty="0">
              <a:ln w="12700" cmpd="sng">
                <a:solidFill>
                  <a:schemeClr val="accent6">
                    <a:satMod val="120000"/>
                    <a:shade val="80000"/>
                  </a:schemeClr>
                </a:solidFill>
                <a:prstDash val="solid"/>
              </a:ln>
              <a:solidFill>
                <a:schemeClr val="accent6">
                  <a:tint val="1000"/>
                </a:schemeClr>
              </a:solidFill>
              <a:effectLst>
                <a:glow rad="53100">
                  <a:schemeClr val="accent6">
                    <a:satMod val="180000"/>
                    <a:alpha val="3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00577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APLIKASI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TOLONG DIISI YA PAK IMAM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3625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USER ACCEPTANCE TEST &amp; TESTIMONI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NANTI SAYA MINTA KE RENITA REKAPNYA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51482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Inspiration">
      <a:majorFont>
        <a:latin typeface="News Gothic MT"/>
        <a:ea typeface=""/>
        <a:cs typeface=""/>
        <a:font script="Jpan" typeface="メイリオ"/>
      </a:majorFont>
      <a:minorFont>
        <a:latin typeface="News Gothic MT"/>
        <a:ea typeface=""/>
        <a:cs typeface=""/>
        <a:font script="Jpan" typeface="メイリオ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Median">
    <a:dk1>
      <a:sysClr val="windowText" lastClr="000000"/>
    </a:dk1>
    <a:lt1>
      <a:sysClr val="window" lastClr="FFFFFF"/>
    </a:lt1>
    <a:dk2>
      <a:srgbClr val="775F55"/>
    </a:dk2>
    <a:lt2>
      <a:srgbClr val="EBDDC3"/>
    </a:lt2>
    <a:accent1>
      <a:srgbClr val="94B6D2"/>
    </a:accent1>
    <a:accent2>
      <a:srgbClr val="DD8047"/>
    </a:accent2>
    <a:accent3>
      <a:srgbClr val="A5AB81"/>
    </a:accent3>
    <a:accent4>
      <a:srgbClr val="D8B25C"/>
    </a:accent4>
    <a:accent5>
      <a:srgbClr val="7BA79D"/>
    </a:accent5>
    <a:accent6>
      <a:srgbClr val="968C8C"/>
    </a:accent6>
    <a:hlink>
      <a:srgbClr val="F7B615"/>
    </a:hlink>
    <a:folHlink>
      <a:srgbClr val="70440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Presentasi ALAF.potx</Template>
  <TotalTime>477</TotalTime>
  <Words>510</Words>
  <Application>Microsoft Macintosh PowerPoint</Application>
  <PresentationFormat>On-screen Show (4:3)</PresentationFormat>
  <Paragraphs>243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Median</vt:lpstr>
      <vt:lpstr>PowerPoint Presentation</vt:lpstr>
      <vt:lpstr>ISI PRESENTASI</vt:lpstr>
      <vt:lpstr>PERENCANAAN PROGRAM DAN KEUANGAN</vt:lpstr>
      <vt:lpstr>PERMASALAHAN</vt:lpstr>
      <vt:lpstr>PERMASALAHAN</vt:lpstr>
      <vt:lpstr>GARANSI KEGAGALAN KEGIATAN</vt:lpstr>
      <vt:lpstr>PowerPoint Presentation</vt:lpstr>
      <vt:lpstr>MATRIKS :  SWAKELOLA ATAU KONTRAKTUAL?</vt:lpstr>
      <vt:lpstr>SWAKELOLA VS KONTRAKTUAL</vt:lpstr>
      <vt:lpstr>SIKLUS KEGIATAN</vt:lpstr>
      <vt:lpstr>LINGKUP KENDALI MUTU</vt:lpstr>
      <vt:lpstr>KEUNIKAN </vt:lpstr>
      <vt:lpstr>METODOLOGI</vt:lpstr>
      <vt:lpstr>PowerPoint Presentation</vt:lpstr>
      <vt:lpstr>PowerPoint Presentation</vt:lpstr>
      <vt:lpstr>STAKEHOLDERS</vt:lpstr>
      <vt:lpstr>KONTRIBUSI UNTUK PELAKSANAAN E-GOVERNMENT</vt:lpstr>
      <vt:lpstr>PENUTUP</vt:lpstr>
      <vt:lpstr>PENYERAPAN YANG EFISIEN DAN AKUNTABEL</vt:lpstr>
      <vt:lpstr>APLIKASI </vt:lpstr>
      <vt:lpstr>USER ACCEPTANCE TEST &amp; TESTIMONI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Athaya</dc:creator>
  <cp:lastModifiedBy>Fadhilah Mathar</cp:lastModifiedBy>
  <cp:revision>47</cp:revision>
  <dcterms:created xsi:type="dcterms:W3CDTF">2012-04-21T07:25:05Z</dcterms:created>
  <dcterms:modified xsi:type="dcterms:W3CDTF">2012-08-24T14:42:28Z</dcterms:modified>
</cp:coreProperties>
</file>