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61" r:id="rId2"/>
    <p:sldId id="277" r:id="rId3"/>
    <p:sldId id="309" r:id="rId4"/>
    <p:sldId id="311" r:id="rId5"/>
    <p:sldId id="328" r:id="rId6"/>
    <p:sldId id="329" r:id="rId7"/>
    <p:sldId id="323" r:id="rId8"/>
    <p:sldId id="312" r:id="rId9"/>
    <p:sldId id="313" r:id="rId10"/>
    <p:sldId id="314" r:id="rId11"/>
    <p:sldId id="315" r:id="rId12"/>
    <p:sldId id="316" r:id="rId13"/>
    <p:sldId id="317" r:id="rId14"/>
    <p:sldId id="320" r:id="rId15"/>
    <p:sldId id="324" r:id="rId16"/>
    <p:sldId id="325" r:id="rId17"/>
    <p:sldId id="326" r:id="rId18"/>
    <p:sldId id="327" r:id="rId19"/>
    <p:sldId id="307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9pPr>
  </p:defaultTextStyle>
  <p:extLst>
    <p:ext uri="{521415D9-36F7-43E2-AB2F-B90AF26B5E84}">
      <p14:sectionLst xmlns="" xmlns:p14="http://schemas.microsoft.com/office/powerpoint/2010/main">
        <p14:section name="Default Section" id="{40E78840-A4EB-2648-BBA1-83A48D02C16C}">
          <p14:sldIdLst>
            <p14:sldId id="261"/>
            <p14:sldId id="286"/>
            <p14:sldId id="265"/>
            <p14:sldId id="287"/>
            <p14:sldId id="264"/>
          </p14:sldIdLst>
        </p14:section>
        <p14:section name="2" id="{EAB808D0-C20A-BC4F-B33F-DF325C7FC3A3}">
          <p14:sldIdLst>
            <p14:sldId id="263"/>
            <p14:sldId id="277"/>
            <p14:sldId id="291"/>
            <p14:sldId id="288"/>
            <p14:sldId id="275"/>
            <p14:sldId id="270"/>
            <p14:sldId id="271"/>
            <p14:sldId id="292"/>
            <p14:sldId id="293"/>
            <p14:sldId id="294"/>
            <p14:sldId id="295"/>
            <p14:sldId id="309"/>
            <p14:sldId id="274"/>
            <p14:sldId id="297"/>
            <p14:sldId id="300"/>
            <p14:sldId id="302"/>
            <p14:sldId id="306"/>
            <p14:sldId id="308"/>
            <p14:sldId id="304"/>
            <p14:sldId id="30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  <a:srgbClr val="777777"/>
    <a:srgbClr val="253327"/>
    <a:srgbClr val="415B45"/>
    <a:srgbClr val="9DB9A2"/>
    <a:srgbClr val="D1F3D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807" autoAdjust="0"/>
  </p:normalViewPr>
  <p:slideViewPr>
    <p:cSldViewPr>
      <p:cViewPr>
        <p:scale>
          <a:sx n="90" d="100"/>
          <a:sy n="90" d="100"/>
        </p:scale>
        <p:origin x="-816" y="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F61AD-8022-7D46-8F26-7E2DCFE00931}" type="datetimeFigureOut">
              <a:rPr lang="en-US" smtClean="0"/>
              <a:pPr/>
              <a:t>12/10/2012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303BB-8C15-974D-A9BC-CA4CB17A4D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33571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307C6-A628-0D4C-8ECC-B679E302CFB9}" type="datetimeFigureOut">
              <a:rPr lang="en-US" smtClean="0"/>
              <a:pPr/>
              <a:t>12/10/2012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B018E-682F-574D-BDDA-F6A7FE973A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41624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19400" y="2438400"/>
            <a:ext cx="6324600" cy="838200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19400" y="3200400"/>
            <a:ext cx="5943600" cy="838200"/>
          </a:xfrm>
        </p:spPr>
        <p:txBody>
          <a:bodyPr/>
          <a:lstStyle>
            <a:lvl1pPr marL="0" indent="0">
              <a:buFontTx/>
              <a:buNone/>
              <a:defRPr sz="2000">
                <a:solidFill>
                  <a:srgbClr val="D1F3DF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B9E1CE18-6211-EC4C-B051-E367AEDF72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CE0336-5311-234C-B62A-F9A34F19E8C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88365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17ECF1-92B4-CB4A-89DF-E2AFDF7A4D3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13518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CE2110-DFE0-9942-8800-1AF06FE5FD4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2987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8AF281-2D4A-9445-9A77-EFFCDB1EA59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19520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B87CE8-FE2A-0645-A777-1E137B1D4E2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30380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0C095E-FC3C-3541-9AC3-3D9D1F55C6A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31732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91577B-9BEE-9C42-8BE8-2A59D0C2618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308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BD59BC-C913-4144-BE65-1DA726A88E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6584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9DAE33-AC23-034D-85C0-DBA1C1C353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5819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E77948-7994-554F-9DB7-FCC6D3DED82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2246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67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FBCED96-9302-B746-A6BD-F654133710B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253327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253327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rgbClr val="253327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rgbClr val="253327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253327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253327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253327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253327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253327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hyperlink" Target="http://rnd1.bprtik.kominfo.go.id:6060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2.pn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114.134.75.86/library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LAYA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096000"/>
          </a:xfrm>
          <a:prstGeom prst="rect">
            <a:avLst/>
          </a:prstGeom>
        </p:spPr>
      </p:pic>
      <p:sp>
        <p:nvSpPr>
          <p:cNvPr id="819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57200" y="5867400"/>
            <a:ext cx="5943600" cy="838200"/>
          </a:xfrm>
        </p:spPr>
        <p:txBody>
          <a:bodyPr/>
          <a:lstStyle/>
          <a:p>
            <a:endParaRPr lang="en-US" sz="1600" dirty="0" smtClean="0">
              <a:solidFill>
                <a:schemeClr val="bg1"/>
              </a:solidFill>
            </a:endParaRPr>
          </a:p>
          <a:p>
            <a:r>
              <a:rPr lang="en-US" sz="1600" dirty="0" smtClean="0">
                <a:solidFill>
                  <a:schemeClr val="bg1"/>
                </a:solidFill>
              </a:rPr>
              <a:t>IMAM M SHOFI &amp; M FAUZI MURTADLO</a:t>
            </a:r>
          </a:p>
          <a:p>
            <a:r>
              <a:rPr lang="en-US" sz="1600" dirty="0" smtClean="0">
                <a:solidFill>
                  <a:schemeClr val="bg1"/>
                </a:solidFill>
              </a:rPr>
              <a:t>PUSAT TIK NASIONAL BLSDM KEMKOMINFO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6200" y="2057400"/>
            <a:ext cx="4876800" cy="1371600"/>
          </a:xfr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2800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  <a:reflection blurRad="6350" stA="55000" endA="50" endPos="85000" dist="60007" dir="5400000" sy="-100000" algn="bl" rotWithShape="0"/>
                </a:effectLst>
              </a:rPr>
              <a:t>PENGANTAR</a:t>
            </a:r>
            <a:br>
              <a:rPr lang="en-US" sz="2800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  <a:reflection blurRad="6350" stA="55000" endA="50" endPos="85000" dist="60007" dir="5400000" sy="-100000" algn="bl" rotWithShape="0"/>
                </a:effectLst>
              </a:rPr>
            </a:br>
            <a:r>
              <a:rPr lang="en-US" sz="2800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  <a:reflection blurRad="6350" stA="55000" endA="50" endPos="85000" dist="60007" dir="5400000" sy="-100000" algn="bl" rotWithShape="0"/>
                </a:effectLst>
              </a:rPr>
              <a:t>Aplikasi</a:t>
            </a:r>
            <a:r>
              <a:rPr lang="en-US" sz="2800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  <a:reflection blurRad="6350" stA="55000" endA="50" endPos="85000" dist="60007" dir="5400000" sy="-100000" algn="bl" rotWithShape="0"/>
                </a:effectLst>
              </a:rPr>
              <a:t> </a:t>
            </a:r>
            <a:r>
              <a:rPr lang="en-US" sz="2800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  <a:reflection blurRad="6350" stA="55000" endA="50" endPos="85000" dist="60007" dir="5400000" sy="-100000" algn="bl" rotWithShape="0"/>
                </a:effectLst>
              </a:rPr>
              <a:t>Perpustakaan</a:t>
            </a:r>
            <a:r>
              <a:rPr lang="en-US" sz="2800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  <a:reflection blurRad="6350" stA="55000" endA="50" endPos="85000" dist="60007" dir="5400000" sy="-100000" algn="bl" rotWithShape="0"/>
                </a:effectLst>
              </a:rPr>
              <a:t> </a:t>
            </a:r>
            <a:r>
              <a:rPr lang="en-US" sz="2800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  <a:reflection blurRad="6350" stA="55000" endA="50" endPos="85000" dist="60007" dir="5400000" sy="-100000" algn="bl" rotWithShape="0"/>
                </a:effectLst>
              </a:rPr>
              <a:t>Jaringan</a:t>
            </a:r>
            <a:r>
              <a:rPr lang="en-US" sz="2800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  <a:reflection blurRad="6350" stA="55000" endA="50" endPos="85000" dist="60007" dir="5400000" sy="-100000" algn="bl" rotWithShape="0"/>
                </a:effectLst>
              </a:rPr>
              <a:t> </a:t>
            </a:r>
            <a:r>
              <a:rPr lang="en-US" sz="2800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  <a:reflection blurRad="6350" stA="55000" endA="50" endPos="85000" dist="60007" dir="5400000" sy="-100000" algn="bl" rotWithShape="0"/>
                </a:effectLst>
              </a:rPr>
              <a:t>Nasional</a:t>
            </a:r>
            <a:endParaRPr lang="en-US" sz="28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  <a:reflection blurRad="6350" stA="55000" endA="50" endPos="85000" dist="60007" dir="5400000" sy="-100000" algn="bl" rotWithShape="0"/>
              </a:effectLst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4648200" y="2209800"/>
            <a:ext cx="4495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0" cap="none" spc="50" normalizeH="0" baseline="0" noProof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  <a:reflection blurRad="6350" stA="55000" endA="50" endPos="85000" dist="60007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(PRAJNA)</a:t>
            </a:r>
            <a:endParaRPr kumimoji="0" lang="en-US" sz="6000" b="1" i="0" u="none" strike="noStrike" kern="0" cap="none" spc="50" normalizeH="0" baseline="0" noProof="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  <a:reflection blurRad="6350" stA="55000" endA="50" endPos="85000" dist="60007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914400"/>
          </a:xfrm>
        </p:spPr>
        <p:txBody>
          <a:bodyPr/>
          <a:lstStyle/>
          <a:p>
            <a:r>
              <a:rPr lang="en-US" dirty="0" smtClean="0"/>
              <a:t>APA ITU PRAJNA?</a:t>
            </a:r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pPr algn="just">
              <a:defRPr/>
            </a:pPr>
            <a:r>
              <a:rPr lang="en-US" dirty="0" err="1" smtClean="0">
                <a:latin typeface="Krungthep"/>
                <a:cs typeface="Krungthep"/>
              </a:rPr>
              <a:t>Merupakan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en-US" dirty="0" err="1" smtClean="0">
                <a:latin typeface="Krungthep"/>
                <a:cs typeface="Krungthep"/>
              </a:rPr>
              <a:t>Aplikasi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en-US" dirty="0" err="1" smtClean="0">
                <a:latin typeface="Krungthep"/>
                <a:cs typeface="Krungthep"/>
              </a:rPr>
              <a:t>untuk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en-US" dirty="0" err="1" smtClean="0">
                <a:latin typeface="Krungthep"/>
                <a:cs typeface="Krungthep"/>
              </a:rPr>
              <a:t>mengelola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en-US" dirty="0" err="1" smtClean="0">
                <a:latin typeface="Krungthep"/>
                <a:cs typeface="Krungthep"/>
              </a:rPr>
              <a:t>perpustakaan</a:t>
            </a:r>
            <a:r>
              <a:rPr lang="id-ID" dirty="0" smtClean="0">
                <a:latin typeface="Krungthep"/>
                <a:cs typeface="Krungthep"/>
              </a:rPr>
              <a:t> &amp; karya ilmiah (jurnal)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en-US" dirty="0" err="1" smtClean="0">
                <a:latin typeface="Krungthep"/>
                <a:cs typeface="Krungthep"/>
              </a:rPr>
              <a:t>suatu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en-US" dirty="0" err="1" smtClean="0">
                <a:latin typeface="Krungthep"/>
                <a:cs typeface="Krungthep"/>
              </a:rPr>
              <a:t>satker</a:t>
            </a:r>
            <a:r>
              <a:rPr lang="en-US" dirty="0" smtClean="0">
                <a:latin typeface="Krungthep"/>
                <a:cs typeface="Krungthep"/>
              </a:rPr>
              <a:t>/unit/</a:t>
            </a:r>
            <a:r>
              <a:rPr lang="en-US" dirty="0" err="1" smtClean="0">
                <a:latin typeface="Krungthep"/>
                <a:cs typeface="Krungthep"/>
              </a:rPr>
              <a:t>kementerian</a:t>
            </a:r>
            <a:r>
              <a:rPr lang="en-US" dirty="0" smtClean="0">
                <a:latin typeface="Krungthep"/>
                <a:cs typeface="Krungthep"/>
              </a:rPr>
              <a:t>/</a:t>
            </a:r>
            <a:r>
              <a:rPr lang="en-US" dirty="0" err="1" smtClean="0">
                <a:latin typeface="Krungthep"/>
                <a:cs typeface="Krungthep"/>
              </a:rPr>
              <a:t>lembaga</a:t>
            </a:r>
            <a:r>
              <a:rPr lang="id-ID" dirty="0" smtClean="0">
                <a:latin typeface="Krungthep"/>
                <a:cs typeface="Krungthep"/>
              </a:rPr>
              <a:t>/satuan organisasi </a:t>
            </a:r>
            <a:r>
              <a:rPr lang="id-ID" dirty="0" smtClean="0">
                <a:latin typeface="Krungthep"/>
                <a:cs typeface="Krungthep"/>
              </a:rPr>
              <a:t>lainnya (Sekolah, Universitas, dll.). </a:t>
            </a:r>
            <a:r>
              <a:rPr lang="id-ID" dirty="0" smtClean="0">
                <a:latin typeface="Krungthep"/>
                <a:cs typeface="Krungthep"/>
              </a:rPr>
              <a:t>Koleksinya merupakan gabungan dari perpustakaan yang tergabung </a:t>
            </a:r>
            <a:r>
              <a:rPr lang="id-ID" dirty="0" smtClean="0">
                <a:latin typeface="Krungthep"/>
                <a:cs typeface="Krungthep"/>
              </a:rPr>
              <a:t>(dalam jaringan</a:t>
            </a:r>
            <a:r>
              <a:rPr lang="id-ID" dirty="0" smtClean="0">
                <a:latin typeface="Krungthep"/>
                <a:cs typeface="Krungthep"/>
              </a:rPr>
              <a:t>) di PRAJNA.</a:t>
            </a:r>
            <a:endParaRPr lang="en-US" dirty="0" smtClean="0">
              <a:latin typeface="Krungthep"/>
              <a:cs typeface="Krungthep"/>
            </a:endParaRPr>
          </a:p>
          <a:p>
            <a:pPr algn="just">
              <a:defRPr/>
            </a:pPr>
            <a:r>
              <a:rPr lang="en-US" dirty="0" err="1" smtClean="0">
                <a:latin typeface="Krungthep"/>
                <a:cs typeface="Krungthep"/>
              </a:rPr>
              <a:t>Pengelolaan</a:t>
            </a:r>
            <a:r>
              <a:rPr lang="en-US" dirty="0" smtClean="0">
                <a:latin typeface="Krungthep"/>
                <a:cs typeface="Krungthep"/>
              </a:rPr>
              <a:t> yang </a:t>
            </a:r>
            <a:r>
              <a:rPr lang="en-US" dirty="0" err="1" smtClean="0">
                <a:latin typeface="Krungthep"/>
                <a:cs typeface="Krungthep"/>
              </a:rPr>
              <a:t>dilakukan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en-US" dirty="0" err="1" smtClean="0">
                <a:latin typeface="Krungthep"/>
                <a:cs typeface="Krungthep"/>
              </a:rPr>
              <a:t>meliputi</a:t>
            </a:r>
            <a:r>
              <a:rPr lang="en-US" dirty="0" smtClean="0">
                <a:latin typeface="Krungthep"/>
                <a:cs typeface="Krungthep"/>
              </a:rPr>
              <a:t>: </a:t>
            </a:r>
            <a:r>
              <a:rPr lang="en-US" dirty="0" err="1" smtClean="0">
                <a:latin typeface="Krungthep"/>
                <a:cs typeface="Krungthep"/>
              </a:rPr>
              <a:t>perencanaan</a:t>
            </a:r>
            <a:r>
              <a:rPr lang="id-ID" dirty="0" smtClean="0">
                <a:latin typeface="Krungthep"/>
                <a:cs typeface="Krungthep"/>
              </a:rPr>
              <a:t> dan pengadaan</a:t>
            </a:r>
            <a:r>
              <a:rPr lang="en-US" dirty="0" smtClean="0">
                <a:latin typeface="Krungthep"/>
                <a:cs typeface="Krungthep"/>
              </a:rPr>
              <a:t>, </a:t>
            </a:r>
            <a:r>
              <a:rPr lang="id-ID" dirty="0" smtClean="0">
                <a:latin typeface="Krungthep"/>
                <a:cs typeface="Krungthep"/>
              </a:rPr>
              <a:t>pendataan, peminjaman, pengembalian</a:t>
            </a:r>
            <a:r>
              <a:rPr lang="en-US" dirty="0" smtClean="0">
                <a:latin typeface="Krungthep"/>
                <a:cs typeface="Krungthep"/>
              </a:rPr>
              <a:t>, </a:t>
            </a:r>
            <a:r>
              <a:rPr lang="en-US" dirty="0" err="1" smtClean="0">
                <a:latin typeface="Krungthep"/>
                <a:cs typeface="Krungthep"/>
              </a:rPr>
              <a:t>sampai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en-US" dirty="0" err="1" smtClean="0">
                <a:latin typeface="Krungthep"/>
                <a:cs typeface="Krungthep"/>
              </a:rPr>
              <a:t>dengan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en-US" dirty="0" err="1" smtClean="0">
                <a:latin typeface="Krungthep"/>
                <a:cs typeface="Krungthep"/>
              </a:rPr>
              <a:t>pelaporan</a:t>
            </a:r>
            <a:r>
              <a:rPr lang="id-ID" dirty="0" smtClean="0">
                <a:latin typeface="Krungthep"/>
                <a:cs typeface="Krungthep"/>
              </a:rPr>
              <a:t>.</a:t>
            </a:r>
          </a:p>
          <a:p>
            <a:pPr algn="just">
              <a:defRPr/>
            </a:pPr>
            <a:r>
              <a:rPr lang="id-ID" dirty="0" smtClean="0">
                <a:latin typeface="Krungthep"/>
                <a:cs typeface="Krungthep"/>
              </a:rPr>
              <a:t>Teridi-dari 3 Aplikasi: </a:t>
            </a:r>
            <a:endParaRPr lang="en-US" dirty="0" smtClean="0">
              <a:latin typeface="Krungthep"/>
              <a:cs typeface="Krungthep"/>
            </a:endParaRPr>
          </a:p>
          <a:p>
            <a:pPr lvl="1" algn="just">
              <a:defRPr/>
            </a:pPr>
            <a:r>
              <a:rPr lang="id-ID" dirty="0" smtClean="0">
                <a:latin typeface="Krungthep"/>
                <a:cs typeface="Krungthep"/>
              </a:rPr>
              <a:t>Aplikasi buat Pengelola(admin): b</a:t>
            </a:r>
            <a:r>
              <a:rPr lang="en-US" dirty="0" err="1" smtClean="0">
                <a:latin typeface="Krungthep"/>
                <a:cs typeface="Krungthep"/>
              </a:rPr>
              <a:t>erbasis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id-ID" dirty="0" smtClean="0">
                <a:latin typeface="Krungthep"/>
                <a:cs typeface="Krungthep"/>
              </a:rPr>
              <a:t>w</a:t>
            </a:r>
            <a:r>
              <a:rPr lang="en-US" dirty="0" err="1" smtClean="0">
                <a:latin typeface="Krungthep"/>
                <a:cs typeface="Krungthep"/>
              </a:rPr>
              <a:t>eb</a:t>
            </a:r>
            <a:r>
              <a:rPr lang="en-US" dirty="0" smtClean="0">
                <a:latin typeface="Krungthep"/>
                <a:cs typeface="Krungthep"/>
              </a:rPr>
              <a:t>, </a:t>
            </a:r>
            <a:r>
              <a:rPr lang="en-US" dirty="0" err="1" smtClean="0">
                <a:latin typeface="Krungthep"/>
                <a:cs typeface="Krungthep"/>
              </a:rPr>
              <a:t>dikembangkan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en-US" dirty="0" err="1" smtClean="0">
                <a:latin typeface="Krungthep"/>
                <a:cs typeface="Krungthep"/>
              </a:rPr>
              <a:t>dengan</a:t>
            </a:r>
            <a:r>
              <a:rPr lang="en-US" dirty="0" smtClean="0">
                <a:latin typeface="Krungthep"/>
                <a:cs typeface="Krungthep"/>
              </a:rPr>
              <a:t> Java, </a:t>
            </a:r>
            <a:r>
              <a:rPr lang="en-US" dirty="0" err="1" smtClean="0">
                <a:latin typeface="Krungthep"/>
                <a:cs typeface="Krungthep"/>
              </a:rPr>
              <a:t>Zkoss</a:t>
            </a:r>
            <a:r>
              <a:rPr lang="en-US" dirty="0" smtClean="0">
                <a:latin typeface="Krungthep"/>
                <a:cs typeface="Krungthep"/>
              </a:rPr>
              <a:t> framework, hibernate, </a:t>
            </a:r>
            <a:r>
              <a:rPr lang="en-US" dirty="0" err="1" smtClean="0">
                <a:latin typeface="Krungthep"/>
                <a:cs typeface="Krungthep"/>
              </a:rPr>
              <a:t>dan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en-US" dirty="0" err="1" smtClean="0">
                <a:latin typeface="Krungthep"/>
                <a:cs typeface="Krungthep"/>
              </a:rPr>
              <a:t>PostgreSQL</a:t>
            </a:r>
            <a:endParaRPr lang="id-ID" dirty="0" smtClean="0">
              <a:latin typeface="Krungthep"/>
              <a:cs typeface="Krungthep"/>
            </a:endParaRPr>
          </a:p>
          <a:p>
            <a:pPr lvl="1" algn="just">
              <a:defRPr/>
            </a:pPr>
            <a:r>
              <a:rPr lang="id-ID" dirty="0" smtClean="0">
                <a:latin typeface="Krungthep"/>
                <a:cs typeface="Krungthep"/>
              </a:rPr>
              <a:t>Portal PRAJNA: dikembangkan dengan platform portal liferay</a:t>
            </a:r>
          </a:p>
          <a:p>
            <a:pPr lvl="1" algn="just">
              <a:defRPr/>
            </a:pPr>
            <a:r>
              <a:rPr lang="id-ID" dirty="0" smtClean="0">
                <a:latin typeface="Krungthep"/>
                <a:cs typeface="Krungthep"/>
              </a:rPr>
              <a:t>Aplikasi buat petugas perpustakaan: aplikasi desktop (java)</a:t>
            </a:r>
            <a:endParaRPr lang="en-US" dirty="0" smtClean="0">
              <a:latin typeface="Krungthep"/>
              <a:cs typeface="Krungthep"/>
            </a:endParaRPr>
          </a:p>
          <a:p>
            <a:pPr algn="just">
              <a:defRPr/>
            </a:pPr>
            <a:endParaRPr lang="en-US" sz="2000" dirty="0" smtClean="0">
              <a:latin typeface="Krungthep"/>
              <a:cs typeface="Krungthep"/>
            </a:endParaRPr>
          </a:p>
          <a:p>
            <a:pPr algn="just">
              <a:defRPr/>
            </a:pPr>
            <a:endParaRPr lang="en-US" sz="2000" dirty="0">
              <a:latin typeface="Krungthep"/>
              <a:cs typeface="Krungthep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FITUR </a:t>
            </a:r>
            <a:r>
              <a:rPr lang="id-ID" dirty="0" smtClean="0"/>
              <a:t>PRAJNA</a:t>
            </a:r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id-ID" dirty="0" smtClean="0">
                <a:latin typeface="Krungthep"/>
                <a:cs typeface="Krungthep"/>
              </a:rPr>
              <a:t>Aplikasi Admin</a:t>
            </a:r>
          </a:p>
          <a:p>
            <a:pPr lvl="1">
              <a:defRPr/>
            </a:pPr>
            <a:r>
              <a:rPr lang="en-US" dirty="0" err="1" smtClean="0">
                <a:latin typeface="Krungthep"/>
                <a:cs typeface="Krungthep"/>
              </a:rPr>
              <a:t>Pengaturan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en-US" dirty="0" err="1" smtClean="0">
                <a:latin typeface="Krungthep"/>
                <a:cs typeface="Krungthep"/>
              </a:rPr>
              <a:t>Pengguna</a:t>
            </a:r>
            <a:endParaRPr lang="en-US" dirty="0">
              <a:latin typeface="Krungthep"/>
              <a:cs typeface="Krungthep"/>
            </a:endParaRPr>
          </a:p>
          <a:p>
            <a:pPr lvl="1">
              <a:defRPr/>
            </a:pPr>
            <a:r>
              <a:rPr lang="en-US" dirty="0" err="1" smtClean="0">
                <a:latin typeface="Krungthep"/>
                <a:cs typeface="Krungthep"/>
              </a:rPr>
              <a:t>Daftar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en-US" dirty="0" err="1" smtClean="0">
                <a:latin typeface="Krungthep"/>
                <a:cs typeface="Krungthep"/>
              </a:rPr>
              <a:t>Kunjungan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en-US" dirty="0" err="1" smtClean="0">
                <a:latin typeface="Krungthep"/>
                <a:cs typeface="Krungthep"/>
              </a:rPr>
              <a:t>Pengguna</a:t>
            </a:r>
            <a:endParaRPr lang="en-US" dirty="0" smtClean="0">
              <a:latin typeface="Krungthep"/>
              <a:cs typeface="Krungthep"/>
            </a:endParaRPr>
          </a:p>
          <a:p>
            <a:pPr lvl="1">
              <a:defRPr/>
            </a:pPr>
            <a:r>
              <a:rPr lang="en-US" dirty="0" err="1" smtClean="0">
                <a:latin typeface="Krungthep"/>
                <a:cs typeface="Krungthep"/>
              </a:rPr>
              <a:t>Pendataan</a:t>
            </a:r>
            <a:r>
              <a:rPr lang="en-US" dirty="0" smtClean="0">
                <a:latin typeface="Krungthep"/>
                <a:cs typeface="Krungthep"/>
              </a:rPr>
              <a:t> Master Data</a:t>
            </a:r>
          </a:p>
          <a:p>
            <a:pPr lvl="1">
              <a:defRPr/>
            </a:pPr>
            <a:r>
              <a:rPr lang="id-ID" dirty="0" smtClean="0">
                <a:latin typeface="Krungthep"/>
                <a:cs typeface="Krungthep"/>
              </a:rPr>
              <a:t>Pengadaan dan Perencanaan</a:t>
            </a:r>
            <a:endParaRPr lang="en-US" dirty="0" smtClean="0">
              <a:latin typeface="Krungthep"/>
              <a:cs typeface="Krungthep"/>
            </a:endParaRPr>
          </a:p>
          <a:p>
            <a:pPr lvl="1">
              <a:defRPr/>
            </a:pPr>
            <a:r>
              <a:rPr lang="id-ID" dirty="0" smtClean="0">
                <a:latin typeface="Krungthep"/>
                <a:cs typeface="Krungthep"/>
              </a:rPr>
              <a:t>Peminjaman dan Pengembalian</a:t>
            </a:r>
            <a:endParaRPr lang="en-US" dirty="0" smtClean="0">
              <a:latin typeface="Krungthep"/>
              <a:cs typeface="Krungthep"/>
            </a:endParaRPr>
          </a:p>
          <a:p>
            <a:pPr lvl="1">
              <a:defRPr/>
            </a:pPr>
            <a:r>
              <a:rPr lang="en-US" dirty="0" err="1" smtClean="0">
                <a:latin typeface="Krungthep"/>
                <a:cs typeface="Krungthep"/>
              </a:rPr>
              <a:t>Laporan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en-US" dirty="0" err="1" smtClean="0">
                <a:latin typeface="Krungthep"/>
                <a:cs typeface="Krungthep"/>
              </a:rPr>
              <a:t>dengan</a:t>
            </a:r>
            <a:r>
              <a:rPr lang="en-US" dirty="0" smtClean="0">
                <a:latin typeface="Krungthep"/>
                <a:cs typeface="Krungthep"/>
              </a:rPr>
              <a:t> </a:t>
            </a:r>
            <a:r>
              <a:rPr lang="en-US" dirty="0" err="1" smtClean="0">
                <a:latin typeface="Krungthep"/>
                <a:cs typeface="Krungthep"/>
              </a:rPr>
              <a:t>berbagai</a:t>
            </a:r>
            <a:r>
              <a:rPr lang="en-US" dirty="0" smtClean="0">
                <a:latin typeface="Krungthep"/>
                <a:cs typeface="Krungthep"/>
              </a:rPr>
              <a:t> format (</a:t>
            </a:r>
            <a:r>
              <a:rPr lang="en-US" dirty="0" err="1" smtClean="0">
                <a:latin typeface="Krungthep"/>
                <a:cs typeface="Krungthep"/>
              </a:rPr>
              <a:t>pdf</a:t>
            </a:r>
            <a:r>
              <a:rPr lang="en-US" dirty="0" smtClean="0">
                <a:latin typeface="Krungthep"/>
                <a:cs typeface="Krungthep"/>
              </a:rPr>
              <a:t>, </a:t>
            </a:r>
            <a:r>
              <a:rPr lang="en-US" dirty="0" err="1" smtClean="0">
                <a:latin typeface="Krungthep"/>
                <a:cs typeface="Krungthep"/>
              </a:rPr>
              <a:t>xls</a:t>
            </a:r>
            <a:r>
              <a:rPr lang="en-US" dirty="0" smtClean="0">
                <a:latin typeface="Krungthep"/>
                <a:cs typeface="Krungthep"/>
              </a:rPr>
              <a:t>, doc, </a:t>
            </a:r>
            <a:r>
              <a:rPr lang="en-US" dirty="0" err="1" smtClean="0">
                <a:latin typeface="Krungthep"/>
                <a:cs typeface="Krungthep"/>
              </a:rPr>
              <a:t>dll</a:t>
            </a:r>
            <a:r>
              <a:rPr lang="en-US" dirty="0" smtClean="0">
                <a:latin typeface="Krungthep"/>
                <a:cs typeface="Krungthep"/>
              </a:rPr>
              <a:t>)</a:t>
            </a:r>
          </a:p>
          <a:p>
            <a:pPr>
              <a:defRPr/>
            </a:pPr>
            <a:r>
              <a:rPr lang="id-ID" dirty="0" smtClean="0">
                <a:latin typeface="Krungthep"/>
                <a:cs typeface="Krungthep"/>
              </a:rPr>
              <a:t>Portal PRAJNA</a:t>
            </a:r>
          </a:p>
          <a:p>
            <a:pPr lvl="1">
              <a:defRPr/>
            </a:pPr>
            <a:r>
              <a:rPr lang="id-ID" dirty="0" smtClean="0">
                <a:latin typeface="Krungthep"/>
                <a:cs typeface="Krungthep"/>
              </a:rPr>
              <a:t>Melihat, mencari, dan memesan koleksi</a:t>
            </a:r>
          </a:p>
          <a:p>
            <a:pPr lvl="1">
              <a:defRPr/>
            </a:pPr>
            <a:r>
              <a:rPr lang="id-ID" dirty="0" smtClean="0">
                <a:latin typeface="Krungthep"/>
                <a:cs typeface="Krungthep"/>
              </a:rPr>
              <a:t>Melihat&amp;mencari publikasi jurnal/paper</a:t>
            </a:r>
          </a:p>
          <a:p>
            <a:pPr lvl="1">
              <a:defRPr/>
            </a:pPr>
            <a:r>
              <a:rPr lang="id-ID" dirty="0" smtClean="0">
                <a:latin typeface="Krungthep"/>
                <a:cs typeface="Krungthep"/>
              </a:rPr>
              <a:t>Kolaborasi jurnal/paper</a:t>
            </a:r>
          </a:p>
          <a:p>
            <a:pPr>
              <a:defRPr/>
            </a:pPr>
            <a:r>
              <a:rPr lang="id-ID" dirty="0" smtClean="0">
                <a:latin typeface="Krungthep"/>
                <a:cs typeface="Krungthep"/>
              </a:rPr>
              <a:t>Aplikasi Desktop</a:t>
            </a:r>
          </a:p>
          <a:p>
            <a:pPr lvl="1">
              <a:defRPr/>
            </a:pPr>
            <a:r>
              <a:rPr lang="id-ID" dirty="0" smtClean="0">
                <a:latin typeface="Krungthep"/>
                <a:cs typeface="Krungthep"/>
              </a:rPr>
              <a:t>Proses peminjaman&amp;pengembalian koleksi</a:t>
            </a:r>
            <a:endParaRPr lang="en-US" dirty="0" smtClean="0">
              <a:latin typeface="Krungthep"/>
              <a:cs typeface="Krungthep"/>
            </a:endParaRPr>
          </a:p>
          <a:p>
            <a:pPr>
              <a:defRPr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MEMULAI </a:t>
            </a:r>
            <a:r>
              <a:rPr lang="id-ID" dirty="0" smtClean="0"/>
              <a:t>PRAJNA (PORTAL)</a:t>
            </a:r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 err="1" smtClean="0">
                <a:latin typeface="Krungthep"/>
                <a:cs typeface="Krungthep"/>
              </a:rPr>
              <a:t>Buka</a:t>
            </a:r>
            <a:r>
              <a:rPr lang="en-US" sz="2000" dirty="0" smtClean="0">
                <a:latin typeface="Krungthep"/>
                <a:cs typeface="Krungthep"/>
              </a:rPr>
              <a:t> browser </a:t>
            </a:r>
            <a:r>
              <a:rPr lang="en-US" sz="2000" dirty="0" err="1" smtClean="0">
                <a:latin typeface="Krungthep"/>
                <a:cs typeface="Krungthep"/>
              </a:rPr>
              <a:t>dari</a:t>
            </a:r>
            <a:r>
              <a:rPr lang="en-US" sz="2000" dirty="0" smtClean="0">
                <a:latin typeface="Krungthep"/>
                <a:cs typeface="Krungthep"/>
              </a:rPr>
              <a:t> </a:t>
            </a:r>
            <a:r>
              <a:rPr lang="en-US" sz="2000" dirty="0" err="1" smtClean="0">
                <a:latin typeface="Krungthep"/>
                <a:cs typeface="Krungthep"/>
              </a:rPr>
              <a:t>komputer</a:t>
            </a:r>
            <a:r>
              <a:rPr lang="en-US" sz="2000" dirty="0" smtClean="0">
                <a:latin typeface="Krungthep"/>
                <a:cs typeface="Krungthep"/>
              </a:rPr>
              <a:t> </a:t>
            </a:r>
            <a:r>
              <a:rPr lang="en-US" sz="2000" dirty="0" err="1" smtClean="0">
                <a:latin typeface="Krungthep"/>
                <a:cs typeface="Krungthep"/>
              </a:rPr>
              <a:t>Anda</a:t>
            </a:r>
            <a:r>
              <a:rPr lang="en-US" sz="2000" dirty="0" smtClean="0">
                <a:latin typeface="Krungthep"/>
                <a:cs typeface="Krungthep"/>
              </a:rPr>
              <a:t> </a:t>
            </a:r>
            <a:endParaRPr lang="en-US" sz="2000" dirty="0">
              <a:latin typeface="Krungthep"/>
              <a:cs typeface="Krungthep"/>
            </a:endParaRPr>
          </a:p>
          <a:p>
            <a:pPr>
              <a:defRPr/>
            </a:pPr>
            <a:r>
              <a:rPr lang="en-US" sz="2000" dirty="0" err="1" smtClean="0">
                <a:latin typeface="Krungthep"/>
                <a:cs typeface="Krungthep"/>
              </a:rPr>
              <a:t>Ketik</a:t>
            </a:r>
            <a:r>
              <a:rPr lang="en-US" sz="2000" dirty="0" smtClean="0">
                <a:latin typeface="Krungthep"/>
                <a:cs typeface="Krungthep"/>
              </a:rPr>
              <a:t> URL </a:t>
            </a:r>
            <a:r>
              <a:rPr lang="id-ID" sz="2000" dirty="0" smtClean="0">
                <a:latin typeface="Krungthep"/>
                <a:cs typeface="Krungthep"/>
              </a:rPr>
              <a:t>PRAJNA </a:t>
            </a:r>
            <a:r>
              <a:rPr lang="en-US" sz="2000" dirty="0" smtClean="0">
                <a:latin typeface="Krungthep"/>
                <a:cs typeface="Krungthep"/>
              </a:rPr>
              <a:t>(</a:t>
            </a:r>
            <a:r>
              <a:rPr lang="en-US" sz="2000" dirty="0" smtClean="0">
                <a:latin typeface="Krungthep"/>
                <a:cs typeface="Krungthep"/>
                <a:hlinkClick r:id="rId2"/>
              </a:rPr>
              <a:t>http://rnd1.bprtik.kominfo.go.i</a:t>
            </a:r>
            <a:r>
              <a:rPr lang="id-ID" sz="2000" dirty="0" smtClean="0">
                <a:latin typeface="Krungthep"/>
                <a:cs typeface="Krungthep"/>
                <a:hlinkClick r:id="rId2"/>
              </a:rPr>
              <a:t>d:6060</a:t>
            </a:r>
            <a:r>
              <a:rPr lang="en-US" sz="2000" dirty="0" smtClean="0">
                <a:latin typeface="Krungthep"/>
                <a:cs typeface="Krungthep"/>
              </a:rPr>
              <a:t>)</a:t>
            </a:r>
          </a:p>
          <a:p>
            <a:pPr>
              <a:defRPr/>
            </a:pPr>
            <a:r>
              <a:rPr lang="id-ID" sz="2000" dirty="0" smtClean="0">
                <a:latin typeface="Krungthep"/>
                <a:cs typeface="Krungthep"/>
              </a:rPr>
              <a:t>Jika sudah mempunya akun, dapat mem</a:t>
            </a:r>
            <a:r>
              <a:rPr lang="en-US" sz="2000" dirty="0" err="1" smtClean="0">
                <a:latin typeface="Krungthep"/>
                <a:cs typeface="Krungthep"/>
              </a:rPr>
              <a:t>asukan</a:t>
            </a:r>
            <a:r>
              <a:rPr lang="en-US" sz="2000" dirty="0" smtClean="0">
                <a:latin typeface="Krungthep"/>
                <a:cs typeface="Krungthep"/>
              </a:rPr>
              <a:t> user &amp; </a:t>
            </a:r>
            <a:r>
              <a:rPr lang="en-US" sz="2000" dirty="0" err="1" smtClean="0">
                <a:latin typeface="Krungthep"/>
                <a:cs typeface="Krungthep"/>
              </a:rPr>
              <a:t>pasword</a:t>
            </a:r>
            <a:r>
              <a:rPr lang="en-US" sz="2000" dirty="0" smtClean="0">
                <a:latin typeface="Krungthep"/>
                <a:cs typeface="Krungthep"/>
              </a:rPr>
              <a:t> </a:t>
            </a:r>
            <a:r>
              <a:rPr lang="en-US" sz="2000" dirty="0" err="1" smtClean="0">
                <a:latin typeface="Krungthep"/>
                <a:cs typeface="Krungthep"/>
              </a:rPr>
              <a:t>Anda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Mozill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14600"/>
            <a:ext cx="1528763" cy="1528763"/>
          </a:xfrm>
          <a:prstGeom prst="rect">
            <a:avLst/>
          </a:prstGeom>
        </p:spPr>
      </p:pic>
      <p:pic>
        <p:nvPicPr>
          <p:cNvPr id="6" name="Picture 5" descr="chro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514600"/>
            <a:ext cx="1574321" cy="1524000"/>
          </a:xfrm>
          <a:prstGeom prst="rect">
            <a:avLst/>
          </a:prstGeom>
        </p:spPr>
      </p:pic>
      <p:pic>
        <p:nvPicPr>
          <p:cNvPr id="7" name="Picture 6" descr="i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2514600"/>
            <a:ext cx="1524000" cy="1524000"/>
          </a:xfrm>
          <a:prstGeom prst="rect">
            <a:avLst/>
          </a:prstGeom>
        </p:spPr>
      </p:pic>
      <p:pic>
        <p:nvPicPr>
          <p:cNvPr id="8" name="Picture 7" descr="Oper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2514600"/>
            <a:ext cx="1533525" cy="1533525"/>
          </a:xfrm>
          <a:prstGeom prst="rect">
            <a:avLst/>
          </a:prstGeom>
        </p:spPr>
      </p:pic>
      <p:pic>
        <p:nvPicPr>
          <p:cNvPr id="9" name="Picture 8" descr="safari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514600"/>
            <a:ext cx="1533525" cy="1533525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-13834" y="1"/>
            <a:ext cx="915783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0" y="76200"/>
            <a:ext cx="9144000" cy="678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-1" y="20781"/>
            <a:ext cx="9144001" cy="6837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Publikasi Paper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843" y="1295400"/>
            <a:ext cx="9023957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2106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28575" y="0"/>
            <a:ext cx="92011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" y="452438"/>
            <a:ext cx="9753599" cy="595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Online Book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04900"/>
            <a:ext cx="9144000" cy="575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MEMULAI </a:t>
            </a:r>
            <a:r>
              <a:rPr lang="id-ID" dirty="0" smtClean="0"/>
              <a:t>PRAJNA (ADMIN)</a:t>
            </a:r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 err="1" smtClean="0">
                <a:latin typeface="Krungthep"/>
                <a:cs typeface="Krungthep"/>
              </a:rPr>
              <a:t>Buka</a:t>
            </a:r>
            <a:r>
              <a:rPr lang="en-US" sz="2000" dirty="0" smtClean="0">
                <a:latin typeface="Krungthep"/>
                <a:cs typeface="Krungthep"/>
              </a:rPr>
              <a:t> browser </a:t>
            </a:r>
            <a:r>
              <a:rPr lang="en-US" sz="2000" dirty="0" err="1" smtClean="0">
                <a:latin typeface="Krungthep"/>
                <a:cs typeface="Krungthep"/>
              </a:rPr>
              <a:t>dari</a:t>
            </a:r>
            <a:r>
              <a:rPr lang="en-US" sz="2000" dirty="0" smtClean="0">
                <a:latin typeface="Krungthep"/>
                <a:cs typeface="Krungthep"/>
              </a:rPr>
              <a:t> </a:t>
            </a:r>
            <a:r>
              <a:rPr lang="en-US" sz="2000" dirty="0" err="1" smtClean="0">
                <a:latin typeface="Krungthep"/>
                <a:cs typeface="Krungthep"/>
              </a:rPr>
              <a:t>komputer</a:t>
            </a:r>
            <a:r>
              <a:rPr lang="en-US" sz="2000" dirty="0" smtClean="0">
                <a:latin typeface="Krungthep"/>
                <a:cs typeface="Krungthep"/>
              </a:rPr>
              <a:t> </a:t>
            </a:r>
            <a:r>
              <a:rPr lang="en-US" sz="2000" dirty="0" err="1" smtClean="0">
                <a:latin typeface="Krungthep"/>
                <a:cs typeface="Krungthep"/>
              </a:rPr>
              <a:t>Anda</a:t>
            </a:r>
            <a:r>
              <a:rPr lang="en-US" sz="2000" dirty="0" smtClean="0">
                <a:latin typeface="Krungthep"/>
                <a:cs typeface="Krungthep"/>
              </a:rPr>
              <a:t> </a:t>
            </a:r>
            <a:endParaRPr lang="en-US" sz="2000" dirty="0">
              <a:latin typeface="Krungthep"/>
              <a:cs typeface="Krungthep"/>
            </a:endParaRPr>
          </a:p>
          <a:p>
            <a:pPr>
              <a:defRPr/>
            </a:pPr>
            <a:r>
              <a:rPr lang="en-US" sz="2000" dirty="0" err="1" smtClean="0">
                <a:latin typeface="Krungthep"/>
                <a:cs typeface="Krungthep"/>
              </a:rPr>
              <a:t>Ketik</a:t>
            </a:r>
            <a:r>
              <a:rPr lang="en-US" sz="2000" dirty="0" smtClean="0">
                <a:latin typeface="Krungthep"/>
                <a:cs typeface="Krungthep"/>
              </a:rPr>
              <a:t> URL </a:t>
            </a:r>
            <a:r>
              <a:rPr lang="id-ID" sz="2000" dirty="0" smtClean="0">
                <a:latin typeface="Krungthep"/>
                <a:cs typeface="Krungthep"/>
              </a:rPr>
              <a:t>ADMIN PRAJNA </a:t>
            </a:r>
            <a:r>
              <a:rPr lang="en-US" sz="2000" dirty="0" smtClean="0">
                <a:latin typeface="Krungthep"/>
                <a:cs typeface="Krungthep"/>
              </a:rPr>
              <a:t>(</a:t>
            </a:r>
            <a:r>
              <a:rPr lang="id-ID" sz="2000" dirty="0" smtClean="0">
                <a:latin typeface="Krungthep"/>
                <a:cs typeface="Krungthep"/>
              </a:rPr>
              <a:t> </a:t>
            </a:r>
            <a:r>
              <a:rPr lang="en-US" sz="2000" dirty="0" smtClean="0">
                <a:latin typeface="Krungthep"/>
                <a:cs typeface="Krungthep"/>
                <a:hlinkClick r:id="rId2"/>
              </a:rPr>
              <a:t>http</a:t>
            </a:r>
            <a:r>
              <a:rPr lang="en-US" sz="2000" dirty="0" smtClean="0">
                <a:latin typeface="Krungthep"/>
                <a:cs typeface="Krungthep"/>
                <a:hlinkClick r:id="rId2"/>
              </a:rPr>
              <a:t>://</a:t>
            </a:r>
            <a:r>
              <a:rPr lang="en-US" sz="2000" dirty="0" smtClean="0">
                <a:latin typeface="Krungthep"/>
                <a:cs typeface="Krungthep"/>
                <a:hlinkClick r:id="rId2"/>
              </a:rPr>
              <a:t>114.134.75.86/library</a:t>
            </a:r>
            <a:r>
              <a:rPr lang="id-ID" sz="2000" dirty="0" smtClean="0">
                <a:latin typeface="Krungthep"/>
                <a:cs typeface="Krungthep"/>
              </a:rPr>
              <a:t> </a:t>
            </a:r>
            <a:r>
              <a:rPr lang="en-US" sz="2000" dirty="0" smtClean="0">
                <a:latin typeface="Krungthep"/>
                <a:cs typeface="Krungthep"/>
              </a:rPr>
              <a:t>)</a:t>
            </a:r>
            <a:endParaRPr lang="en-US" sz="2000" dirty="0" smtClean="0">
              <a:latin typeface="Krungthep"/>
              <a:cs typeface="Krungthep"/>
            </a:endParaRPr>
          </a:p>
          <a:p>
            <a:pPr>
              <a:defRPr/>
            </a:pPr>
            <a:r>
              <a:rPr lang="id-ID" sz="2000" dirty="0" smtClean="0">
                <a:latin typeface="Krungthep"/>
                <a:cs typeface="Krungthep"/>
              </a:rPr>
              <a:t>M</a:t>
            </a:r>
            <a:r>
              <a:rPr lang="en-US" sz="2000" dirty="0" err="1" smtClean="0">
                <a:latin typeface="Krungthep"/>
                <a:cs typeface="Krungthep"/>
              </a:rPr>
              <a:t>asukan</a:t>
            </a:r>
            <a:r>
              <a:rPr lang="en-US" sz="2000" dirty="0" smtClean="0">
                <a:latin typeface="Krungthep"/>
                <a:cs typeface="Krungthep"/>
              </a:rPr>
              <a:t> user &amp; </a:t>
            </a:r>
            <a:r>
              <a:rPr lang="en-US" sz="2000" dirty="0" err="1" smtClean="0">
                <a:latin typeface="Krungthep"/>
                <a:cs typeface="Krungthep"/>
              </a:rPr>
              <a:t>pasword</a:t>
            </a:r>
            <a:r>
              <a:rPr lang="en-US" sz="2000" dirty="0" smtClean="0">
                <a:latin typeface="Krungthep"/>
                <a:cs typeface="Krungthep"/>
              </a:rPr>
              <a:t> </a:t>
            </a:r>
            <a:r>
              <a:rPr lang="en-US" sz="2000" dirty="0" err="1" smtClean="0">
                <a:latin typeface="Krungthep"/>
                <a:cs typeface="Krungthep"/>
              </a:rPr>
              <a:t>Anda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2495550"/>
            <a:ext cx="5553075" cy="398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Tampilan</a:t>
            </a:r>
            <a:r>
              <a:rPr lang="en-US" dirty="0" smtClean="0"/>
              <a:t> </a:t>
            </a:r>
            <a:r>
              <a:rPr lang="en-US" dirty="0" err="1" smtClean="0"/>
              <a:t>Awal</a:t>
            </a:r>
            <a:endParaRPr lang="en-US" dirty="0"/>
          </a:p>
        </p:txBody>
      </p:sp>
      <p:pic>
        <p:nvPicPr>
          <p:cNvPr id="4" name="Picture 3" descr="tampilanaw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2600"/>
            <a:ext cx="9144000" cy="441110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Menu </a:t>
            </a:r>
            <a:r>
              <a:rPr lang="id-ID" dirty="0" smtClean="0"/>
              <a:t>PRAJNA (ADMIN)</a:t>
            </a:r>
            <a:endParaRPr lang="en-US" dirty="0"/>
          </a:p>
        </p:txBody>
      </p:sp>
      <p:pic>
        <p:nvPicPr>
          <p:cNvPr id="9" name="Picture 8" descr="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5128"/>
            <a:ext cx="9144000" cy="4434672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7400" y="1981200"/>
            <a:ext cx="2333625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1000" y="3429000"/>
            <a:ext cx="2114550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1000" y="3810000"/>
            <a:ext cx="2162175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81000" y="3914775"/>
            <a:ext cx="2333625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Pendataan Item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88410"/>
            <a:ext cx="9144000" cy="5140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1438275"/>
            <a:ext cx="9144000" cy="526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447800"/>
            <a:ext cx="9144000" cy="529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Pendataan Anggota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381417"/>
            <a:ext cx="8991600" cy="547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</a:t>
            </a:r>
            <a:r>
              <a:rPr lang="id-ID" dirty="0" smtClean="0"/>
              <a:t>minjaman &amp; Pengembalian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93244"/>
            <a:ext cx="9144000" cy="5312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Pengelolaan Karya Ilmiah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31436"/>
            <a:ext cx="9144000" cy="5440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95401"/>
            <a:ext cx="9144000" cy="5526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282012"/>
            <a:ext cx="9144000" cy="549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Beberapa</a:t>
            </a:r>
            <a:r>
              <a:rPr lang="en-US" dirty="0" smtClean="0"/>
              <a:t> </a:t>
            </a:r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 smtClean="0"/>
              <a:t>Laporan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83761"/>
            <a:ext cx="9144000" cy="5398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1371600"/>
            <a:ext cx="9143999" cy="5440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371600"/>
            <a:ext cx="9144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MEMULAI </a:t>
            </a:r>
            <a:r>
              <a:rPr lang="id-ID" dirty="0" smtClean="0"/>
              <a:t>PRAJNA (DESKTOP)</a:t>
            </a:r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id-ID" sz="2000" dirty="0" smtClean="0">
                <a:latin typeface="Krungthep"/>
                <a:cs typeface="Krungthep"/>
              </a:rPr>
              <a:t>Klik file LibraryClient.jar</a:t>
            </a:r>
            <a:r>
              <a:rPr lang="en-US" sz="2000" dirty="0" smtClean="0">
                <a:latin typeface="Krungthep"/>
                <a:cs typeface="Krungthep"/>
              </a:rPr>
              <a:t> </a:t>
            </a:r>
            <a:endParaRPr lang="en-US" sz="2000" dirty="0">
              <a:latin typeface="Krungthep"/>
              <a:cs typeface="Krungthep"/>
            </a:endParaRPr>
          </a:p>
          <a:p>
            <a:pPr>
              <a:defRPr/>
            </a:pPr>
            <a:r>
              <a:rPr lang="id-ID" sz="2000" dirty="0" smtClean="0">
                <a:latin typeface="Krungthep"/>
                <a:cs typeface="Krungthep"/>
              </a:rPr>
              <a:t>M</a:t>
            </a:r>
            <a:r>
              <a:rPr lang="en-US" sz="2000" dirty="0" err="1" smtClean="0">
                <a:latin typeface="Krungthep"/>
                <a:cs typeface="Krungthep"/>
              </a:rPr>
              <a:t>asukan</a:t>
            </a:r>
            <a:r>
              <a:rPr lang="en-US" sz="2000" dirty="0" smtClean="0">
                <a:latin typeface="Krungthep"/>
                <a:cs typeface="Krungthep"/>
              </a:rPr>
              <a:t> user &amp; </a:t>
            </a:r>
            <a:r>
              <a:rPr lang="en-US" sz="2000" dirty="0" err="1" smtClean="0">
                <a:latin typeface="Krungthep"/>
                <a:cs typeface="Krungthep"/>
              </a:rPr>
              <a:t>pasword</a:t>
            </a:r>
            <a:r>
              <a:rPr lang="en-US" sz="2000" dirty="0" smtClean="0">
                <a:latin typeface="Krungthep"/>
                <a:cs typeface="Krungthep"/>
              </a:rPr>
              <a:t> </a:t>
            </a:r>
            <a:r>
              <a:rPr lang="en-US" sz="2000" dirty="0" err="1" smtClean="0">
                <a:latin typeface="Krungthep"/>
                <a:cs typeface="Krungthep"/>
              </a:rPr>
              <a:t>Anda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3425" y="1352550"/>
            <a:ext cx="7677150" cy="512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Tampilan</a:t>
            </a:r>
            <a:r>
              <a:rPr lang="en-US" dirty="0" smtClean="0"/>
              <a:t> </a:t>
            </a:r>
            <a:r>
              <a:rPr lang="en-US" dirty="0" err="1" smtClean="0"/>
              <a:t>Awal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83761"/>
            <a:ext cx="9144000" cy="5398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Peminjaman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31436"/>
            <a:ext cx="9144000" cy="5526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Pengembalian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45829"/>
            <a:ext cx="9144000" cy="5483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141325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LAYA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096000"/>
          </a:xfrm>
          <a:prstGeom prst="rect">
            <a:avLst/>
          </a:prstGeom>
        </p:spPr>
      </p:pic>
      <p:sp>
        <p:nvSpPr>
          <p:cNvPr id="819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57200" y="5867400"/>
            <a:ext cx="5943600" cy="838200"/>
          </a:xfrm>
        </p:spPr>
        <p:txBody>
          <a:bodyPr/>
          <a:lstStyle/>
          <a:p>
            <a:endParaRPr lang="en-US" sz="1600" dirty="0" smtClean="0">
              <a:solidFill>
                <a:schemeClr val="bg1"/>
              </a:solidFill>
            </a:endParaRPr>
          </a:p>
          <a:p>
            <a:r>
              <a:rPr lang="en-US" sz="1600" dirty="0" smtClean="0">
                <a:solidFill>
                  <a:schemeClr val="bg1"/>
                </a:solidFill>
              </a:rPr>
              <a:t>IMAM M SHOFI &amp; M FAUZI MURTADLO</a:t>
            </a:r>
          </a:p>
          <a:p>
            <a:r>
              <a:rPr lang="en-US" sz="1600" dirty="0" smtClean="0">
                <a:solidFill>
                  <a:schemeClr val="bg1"/>
                </a:solidFill>
              </a:rPr>
              <a:t>PUSAT TIK NASIONAL BLSDM KEMKOMINFO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81000" y="2438400"/>
            <a:ext cx="6324600" cy="838200"/>
          </a:xfr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  <a:reflection blurRad="6350" stA="55000" endA="50" endPos="85000" dist="60007" dir="5400000" sy="-100000" algn="bl" rotWithShape="0"/>
                </a:effectLst>
              </a:rPr>
              <a:t>TERIMA KASIH</a:t>
            </a:r>
            <a:br>
              <a:rPr lang="en-US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  <a:reflection blurRad="6350" stA="55000" endA="50" endPos="85000" dist="60007" dir="5400000" sy="-100000" algn="bl" rotWithShape="0"/>
                </a:effectLst>
              </a:rPr>
            </a:br>
            <a:r>
              <a:rPr lang="en-US" sz="28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  <a:reflection blurRad="6350" stA="55000" endA="50" endPos="85000" dist="60007" dir="5400000" sy="-100000" algn="bl" rotWithShape="0"/>
                </a:effectLst>
              </a:rPr>
              <a:t>	</a:t>
            </a:r>
            <a:r>
              <a:rPr lang="en-US" sz="2800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  <a:reflection blurRad="6350" stA="55000" endA="50" endPos="85000" dist="60007" dir="5400000" sy="-100000" algn="bl" rotWithShape="0"/>
                </a:effectLst>
              </a:rPr>
              <a:t>				</a:t>
            </a:r>
            <a:endParaRPr lang="en-US" sz="28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  <a:reflection blurRad="6350" stA="55000" endA="50" endPos="85000" dist="6000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68744367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23techno">
  <a:themeElements>
    <a:clrScheme name="123techn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23techno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23techn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3techn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3techn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3techn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3techn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3techn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3techn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3techn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3techn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3techn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3techn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3techn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123techno.pot</Template>
  <TotalTime>4344</TotalTime>
  <Words>281</Words>
  <Application>Microsoft Office PowerPoint</Application>
  <PresentationFormat>On-screen Show (4:3)</PresentationFormat>
  <Paragraphs>53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123techno</vt:lpstr>
      <vt:lpstr>PENGANTAR Aplikasi Perpustakaan Jaringan Nasional</vt:lpstr>
      <vt:lpstr>APA ITU PRAJNA?</vt:lpstr>
      <vt:lpstr>FITUR PRAJNA</vt:lpstr>
      <vt:lpstr>MEMULAI PRAJNA (PORTAL)</vt:lpstr>
      <vt:lpstr>Publikasi Paper</vt:lpstr>
      <vt:lpstr>Online Book</vt:lpstr>
      <vt:lpstr>MEMULAI PRAJNA (ADMIN)</vt:lpstr>
      <vt:lpstr>Tampilan Awal</vt:lpstr>
      <vt:lpstr>Menu PRAJNA (ADMIN)</vt:lpstr>
      <vt:lpstr>Pendataan Item</vt:lpstr>
      <vt:lpstr>Pendataan Anggota</vt:lpstr>
      <vt:lpstr>Peminjaman &amp; Pengembalian</vt:lpstr>
      <vt:lpstr>Pengelolaan Karya Ilmiah</vt:lpstr>
      <vt:lpstr>Beberapa Contoh Laporan</vt:lpstr>
      <vt:lpstr>MEMULAI PRAJNA (DESKTOP)</vt:lpstr>
      <vt:lpstr>Tampilan Awal</vt:lpstr>
      <vt:lpstr>Peminjaman</vt:lpstr>
      <vt:lpstr>Pengembalian</vt:lpstr>
      <vt:lpstr>TERIMA KASIH      </vt:lpstr>
    </vt:vector>
  </TitlesOfParts>
  <Company>eclipsed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2 3 TECHNO</dc:title>
  <dc:creator>eclipse</dc:creator>
  <cp:lastModifiedBy>Imam</cp:lastModifiedBy>
  <cp:revision>173</cp:revision>
  <dcterms:created xsi:type="dcterms:W3CDTF">2002-12-17T19:18:19Z</dcterms:created>
  <dcterms:modified xsi:type="dcterms:W3CDTF">2012-10-11T20:50:32Z</dcterms:modified>
</cp:coreProperties>
</file>