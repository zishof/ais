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sampul proposal penawaran sistem informasi terpadu untuk Taruna Bakti University (TBU) di bawah Yayasan Taruna Bakti.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 eksekutif: nilai inti dan angka kunci penawaran.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Tantangan utama yang menjadi dasar kebutuhan sistem terpadu.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Transisi ke bagian solusi: ekosistem modul terintegrasi.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seluruh 53 modul dikelompokkan ke 9 area fungsional, termasuk kelompok Kecerdasan Buatan &amp; Otomasi.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penerimaan (PMB/RPL), setup, dasbor pimpinan, dan master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Sembilan modul inti akademik &amp; pembelajaran.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Penjelasan rinci modul Kurikulum OBE: rantai PL-CPL-CPMK-SubCPMK-Asesmen dan fitur pendukung akreditasi.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Rincian LMS: tugas, ujian CBT, anti-curang, materi/video/audio, absensi online, kuesioner.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Integrasi Neo Feeder, SISTER, dan sistem pusat Yayasan Taruna Bakti.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Keuangan mahasiswa, e-wallet/POS/koperasi, akuntansi &amp; anggaran terintegrasi Yayasan.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SDM &amp; kepegawaian, payroll, kinerja/KPI, EDOM, kursus, prestasi, kedisiplinan, pengaduan.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Penelitian/PPM/BKD, repository, perpustakaan, DMS, akreditasi multi-LAM, SPMI/AMI, SPI, SOP/workflow.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Persuratan, pengajuan, wisuda, alumni/tracer, anjungan, kunjungan, antar jemput, SIM klinik/RS.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Notifikasi WhatsApp: broadcast resmi, template Meta, otomasi pemicu, dan log pengiriman multi-kanal.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Multi-portal per peran pengguna dan dukungan dua kurikulum berjalan bersamaan dengan tabel ekivalensi.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Integrasi AI: generate kurikulum OBE, soal &amp; koreksi ujian, generate catatan, serta analisis &amp; rekomendasi lintas modul. Model dapat berjalan on-premise sehingga data tidak keluar kampus, dan seluruh keluaran AI wajib ditinjau manusia.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Keunggulan UI/UX diperkuat tangkapan layar dasbor pimpinan aktual dari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tampilan modul PMB dan peta seluruh modul dari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Aplikasi mobile TBU (Android/iOS) dan tampilan web responsif khusus mobile — tangkapan layar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 tangkapan layar mockup modul: Portal Akademik &amp; KRS, Kurikulum OBE, e-Learning / LMS, Penjadwalan (drag &amp; drop), Manajemen Kehadiran, Bimbingan &amp; Sidang, Kelulusan &amp; Wisuda, Alumni &amp; Tracer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 tangkapan layar mockup modul: Pembayaran &amp; Tagihan, e-Wallet, POS &amp; Koperasi, SDM &amp; Kepegawaian, Perpustakaan &amp; eLibrary, Persuratan &amp; SOP, SPMI &amp; Audit Mutu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 tangkapan layar mockup modul: Setup &amp; Utility, Pendataan / Master Data, Integrasi Neo Feeder, Integrasi SISTER, Akuntansi Yayasan, Anggaran &amp; Realisasi, Pengadaan &amp; Logistik, Pembayaran Vendor (DPC)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 tangkapan layar mockup modul: Payroll, Kinerja (SKP &amp; KPI), Angket &amp; EDOM, Penelitian &amp; PPM, Repository Institusi, Akreditasi (Multi-LAM), Pengaduan Terpadu, Anjungan &amp; Layanan Mandiri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 tangkapan layar mockup modul: Pengujian &amp; Sidang, Penilaian Terintegrasi, Sertifikat &amp; Pelatihan, Kursus Internal (Udemy-like), Prestasi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 tangkapan layar mockup modul: Kedisiplinan, Manajemen Dokumen (DMS), Satuan Pengawasan Internal, SIM Klinik / Rumah Sakit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 tangkapan layar mockup modul: Asisten AI Terintegrasi, Notifikasi WhatsApp, PKL, KKN &amp; Magang MBKM, Beasiswa, Multi-Portal &amp; Kurikulum Ganda, POS &amp; Perangkat Kasir, eMedic &amp; SIRS (BPJS)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fase implementasi selama dua tahun, dari fondasi hingga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prioritas Semester 1 Tahun 1 berdasarkan analisis urgensi: fondasi, pendapatan, kepatuhan.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Semester 2 Tahun 1: kehadiran, LMS, layanan, dasbor pimpinan, perpustakaan, unit usaha.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Tahun kedua: modul lanjutan, governance mutu, dan integrasi penuh dengan Yayasan.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Kerangka penentuan prioritas: fondasi &gt; pendapatan/waktu &gt; kepatuhan &gt; operasional &gt; governance &gt; lanjutan.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kategori manfaat utama bagi TBU dan Yayasan.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 dan ajakan tindak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5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120640" cy="512064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22307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658368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738">
                <a:alpha val="45000"/>
              </a:srgbClr>
            </a:outerShdw>
          </a:effectLst>
        </p:spPr>
      </p:sp>
      <p:pic>
        <p:nvPicPr>
          <p:cNvPr id="6" name="Image 0" descr="logo/logo-tb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868680"/>
            <a:ext cx="3136392" cy="9912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17720" y="1024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TARUNA BAKTI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17720" y="13350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Taruna Bakti University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Penawaran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Informasi Akademik &amp; Manajemen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Perguruan Tinggi Terpadu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77240" y="48006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modul terintegrasi · UI/UX modern &amp; responsif · Integrasi Neo Feeder, SISTER &amp; Yayasan · Roadmap implementasi 2 tahun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580644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806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 TBU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83280" y="580644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5806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Digital Kampus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platform untuk seluruh ekosistem kampus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menawarkan sistem informasi terpadu yang menyatukan penerimaan, akademik, pembelajaran, keuangan, SDM, mutu, dan layanan dalam satu platform modern — terintegrasi penuh dengan Yayasan Taruna Bakti serta pelaporan nasional (Neo Feeder &amp; SISTER).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926080"/>
            <a:ext cx="548640" cy="12801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59536" y="4160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terintegrasi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65176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5032" y="2926080"/>
            <a:ext cx="54864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648456" y="4160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nasional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Feeder &amp; SISTER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2926080"/>
            <a:ext cx="548640" cy="12801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37376" y="4160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Terhubung pusat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Taruna Bakti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265176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62872" y="2926080"/>
            <a:ext cx="548640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9226296" y="4160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roadmap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bertahap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166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yang diharapkan: efisiensi operasional, data akurat &amp; real-time untuk pengambilan keputusan pimpinan, kepatuhan pelaporan, serta pengalaman pengguna modern bagi mahasiswa, dosen, dan tendik.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Tantangan pengelolaan kampus saat ini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7393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73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terfragmentasi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377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berbeda-beda antar unit menyulitkan konsolidasi data dan pelaporan yang akurat.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77393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773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16636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 manual &amp; lambat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7136" y="2377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Pendaftaran, pembayaran, persuratan, dan persetujuan masih banyak manual dan berisiko human error.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6448" y="177393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773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82396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Kepatuhan pelaporan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4736" y="2377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Neo Feeder/SISTER dan persiapan akreditasi memakan waktu bila data tidak rapi.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55701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508760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Yayasan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Keuangan, SDM, dan pengadaan kampus perlu selaras dengan sistem pusat Yayasan.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3375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355701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166360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Pengalaman pengguna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17136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lama kurang ramah dan tidak responsif di perangkat mobile.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3375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6448" y="355701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8156448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8823960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Visibilitas pimpinan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4736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sulit memantau seluruh aktivitas kampus secara real-time dalam satu layar.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KAMI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Ekosistem 53 modul yang benar-benar terintegrasi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basis data, satu alur kerja, satu pengalaman — dari calon mahasiswa hingga alumni; dari ruang kelas hingga laporan keuangan Yayasan.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5029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029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5029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5029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&amp; LMS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5029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5029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 &amp; Usaha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5029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5029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 &amp; Kinerja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5029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5029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 &amp; Akreditasi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5029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5029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&amp; Fasilitas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SISTEM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53 modul dalam 9 kelompok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9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9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27632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715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Penerimaan, Setup &amp; Pimpinan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44368" y="1600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1819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127248" y="1819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45536" y="2715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Akademik &amp; Pembelajaran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48656" y="1600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31536" y="1819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31536" y="1819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36208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49824" y="2715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Nasional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52944" y="1600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35824" y="1819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735824" y="1819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40496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54112" y="2715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Keuangan, Usaha &amp; Akuntansi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857232" y="1600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40112" y="1819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10040112" y="1819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844784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0" y="2715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SDM, Kinerja &amp; Pengembangan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3886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" y="4105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105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627632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1248" y="5001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Penelitian, Mutu &amp; Dokumen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944368" y="3886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27248" y="4105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B8860B"/>
          </a:solidFill>
          <a:ln/>
        </p:spPr>
      </p:sp>
      <p:sp>
        <p:nvSpPr>
          <p:cNvPr id="36" name="Text 34"/>
          <p:cNvSpPr/>
          <p:nvPr/>
        </p:nvSpPr>
        <p:spPr>
          <a:xfrm>
            <a:off x="3127248" y="4105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3931920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145536" y="5001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Layanan, Persuratan &amp; Workflow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248656" y="3886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31536" y="4105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431536" y="4105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236208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49824" y="5001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Kecerdasan Buatan &amp; Otomasi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552944" y="3886200"/>
            <a:ext cx="214884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735824" y="4105656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7735824" y="4105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8540496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754112" y="50017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Fasilitas Kampus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Penerimaan, Setup &amp; Data Master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1691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PMB / PPDB &amp; RPL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mahasiswa baru, jalur RPL, parameter &amp; form custom, pembayaran calon multi-channel.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76872" y="1691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Utility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28232" y="2212848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institusi, parameter sistem, hak akses &amp; utilitas.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090672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23697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53312" y="32278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Dasbor Pimpinan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749040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 eksekutif seluruh aktivitas &amp; modul kampus real-time.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3090672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323697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76872" y="32278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Pendataan (Master Data)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28232" y="3749040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data master PT: mahasiswa, dosen, prodi, kelas, dsb.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782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Sorotan PMB / RPL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52578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52303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Gelombang &amp; kuota fleksibel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52578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52303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parameter dapat dikustom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01000" y="52578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52303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RPL (rekognisi pembelajaran lampau)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59710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5943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berkas &amp; seleksi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34840" y="59710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5943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 ulang otomatis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01000" y="59710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5943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bayar: VA, QRIS, e-wallet, retail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Akademik &amp; Pembelajaran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Penjadwalan / Timetable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dosen/mahasiswa/kelas, pencegahan jam bentrok otomatis.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62272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5504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Akademik Terpadu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KRS, penilaian, kurikulum, KKN, PKL, magang, beasiswa, kerjasama instansi.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84464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97696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Kurikulum OBE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9056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CPL, CPMK, Sub-CPMK, pemetaan, RPS &amp; asesmen capaian.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53312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 (e-Learning)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Tugas, ujian, anti-curang, materi, video/audio, absensi online.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2272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75504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Kehadiran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26864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 dosen/mahasiswa/tendik + dasbor &amp; statistik.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84464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0768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97696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Bimbingan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49056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TA/Skripsi, KKN, PKL, akademik, magang — jadwal, nilai, statistik.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B8860B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53312" y="5166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Pengujian &amp; Sidang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4672" y="568756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TA/Skripsi: jadwal, penguji, nilai, dasbor.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62272" y="502920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08576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11D48"/>
          </a:solidFill>
          <a:ln/>
        </p:spPr>
      </p:sp>
      <p:sp>
        <p:nvSpPr>
          <p:cNvPr id="41" name="Text 39"/>
          <p:cNvSpPr/>
          <p:nvPr/>
        </p:nvSpPr>
        <p:spPr>
          <a:xfrm>
            <a:off x="4608576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75504" y="5166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Penilaian Terintegrasi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26864" y="568756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 otomatis terhubung LMS &amp; feeder.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84464" y="502920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30768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8430768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97696" y="5166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Sertifikat &amp; Pelatihan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49056" y="568756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sertifikat &amp; pelatihan, terintegrasi LMS.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Kurikulum OBE — Outcome-Based Education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kurikulum berbasis capaian: dari profil lulusan hingga asesmen yang terukur dan tertelusur.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2121408"/>
            <a:ext cx="685800" cy="502920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Lulusan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87168" y="19659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26080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121408"/>
            <a:ext cx="685800" cy="502920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35808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Lulusan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73168" y="19659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212080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2121408"/>
            <a:ext cx="685800" cy="502920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CPMK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21808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per Mata Kuliah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59168" y="19659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498080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2121408"/>
            <a:ext cx="6858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Sub-CPMK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07808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per pertemuan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45168" y="19659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784080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469880" y="2121408"/>
            <a:ext cx="685800" cy="50292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46988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Asesmen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93808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&amp; bobot nilai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65760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" y="3877056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128016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Pemetaan CPL–CPMK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9536" y="42245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korelasi CPL ke mata kuliah dan bahan kajian, lengkap dengan bobot.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7680" y="365760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98848" y="3877056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RPS Otomatis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17136" y="42245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Pembelajaran Semester tersusun dari CPMK/Sub-CPMK &amp; rujukan.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55280" y="365760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56448" y="3877056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Asesmen Terukur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174736" y="42245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penilaian per Sub-CPMK, terhubung langsung ke nilai di LMS.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502920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1248" y="5248656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128016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Ketercapaian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59536" y="55961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 ketercapaian CPL per mahasiswa, kelas, dan program studi.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97680" y="502920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98848" y="5248656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Kurikulum Ganda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17136" y="55961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kurikulum OBE dan non-OBE berdampingan.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55280" y="502920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156448" y="5248656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1" name="Text 49"/>
          <p:cNvSpPr/>
          <p:nvPr/>
        </p:nvSpPr>
        <p:spPr>
          <a:xfrm>
            <a:off x="859536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 Akreditasi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174736" y="55961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OBE mendukung dokumen akreditasi LAM secara langsung.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 — Learning Management System modern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1051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364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&amp; Pengumpulan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individu/kelompok, unggah berkas, unduh massal (ZIP).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181051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364" dirty="0"/>
          </a:p>
        </p:txBody>
      </p:sp>
      <p:sp>
        <p:nvSpPr>
          <p:cNvPr id="12" name="Text 10"/>
          <p:cNvSpPr/>
          <p:nvPr/>
        </p:nvSpPr>
        <p:spPr>
          <a:xfrm>
            <a:off x="52120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Ujian &amp; Bank Soal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dengan bank soal, acak, koreksi otomatis &amp; esai.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181051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88696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Anti-Curang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93024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layar, batas waktu, deteksi kecurangan per ujian.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35935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593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64" dirty="0"/>
          </a:p>
        </p:txBody>
      </p:sp>
      <p:sp>
        <p:nvSpPr>
          <p:cNvPr id="22" name="Text 20"/>
          <p:cNvSpPr/>
          <p:nvPr/>
        </p:nvSpPr>
        <p:spPr>
          <a:xfrm>
            <a:off x="155448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 &amp; Bahan Ajar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Materi, buku referensi, bahan ajar dosen, video &amp; audio.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3375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17136" y="35935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3593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364" dirty="0"/>
          </a:p>
        </p:txBody>
      </p:sp>
      <p:sp>
        <p:nvSpPr>
          <p:cNvPr id="27" name="Text 25"/>
          <p:cNvSpPr/>
          <p:nvPr/>
        </p:nvSpPr>
        <p:spPr>
          <a:xfrm>
            <a:off x="521208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Absensi Online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35424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Absensi mahasiswa &amp; dosen terhubung kehadiran &amp; jadwal.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3375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35935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B8860B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593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364" dirty="0"/>
          </a:p>
        </p:txBody>
      </p:sp>
      <p:sp>
        <p:nvSpPr>
          <p:cNvPr id="32" name="Text 30"/>
          <p:cNvSpPr/>
          <p:nvPr/>
        </p:nvSpPr>
        <p:spPr>
          <a:xfrm>
            <a:off x="886968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Kuesioner &amp; Diskusi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93024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Kuesioner pembelajaran &amp; forum diskusi per pertemuan.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44068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440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 terintegrasi otomatis ke rekap nilai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54406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5440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 di ponsel &amp; desktop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KONEKTIVITAS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Nasional &amp; Yayasan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83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105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 Feeder (PDDikti)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dua arah data akademik, perbandingan &amp; samakan data, log &amp; status.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1783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8105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SISTER (Kemdikbud)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53712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data SDM dosen, sertifikasi, dan penelitian ke SISTER.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255C"/>
          </a:solidFill>
          <a:ln/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Terhubung Yayasan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Taruna Bakti (Pusat)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2697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Akuntansi, SDM, Payroll, Pengadaan &amp; DPC selaras dengan sistem pusat.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 integrasi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06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nasional cepat &amp; akurat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251960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06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entri data ganda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18888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7731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Konsolidasi keuangan otomatis ke Yayasan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818888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7731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 untuk payroll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385816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340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SDM tunggal kampus–Yayasan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85816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5340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lintas sistem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Keuangan, Usaha &amp; Akuntansi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Mahasiswa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Tagihan bulanan/insidentil, diskon, tabungan (Top-up), multi-channel.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62272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5504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e-Wallet, POS &amp; Koperasi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kampus, POS kantin/unit usaha, penjualan &amp; koperasi.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84464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97696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Akuntansi Yayasan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9056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kampus terintegrasi akuntansi Yayasan (Pusat).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53312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Anggaran &amp; Realisasi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besar/kecil, uang muka, LPJ, PR/PO/BAST, termin, DPC.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2272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75504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Pengadaan &amp; Logistik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26864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&amp; inventaris, peminjaman, vendor &amp; seleksi — via Yayasan.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84464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0768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97696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Pembayaran Vendor (DPC)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49056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transfer &amp; pembayaran vendor terintegrasi Yayasan.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8920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bayar: VA (BNI/BRI/Mandiri/BSI), QRIS, e-wallet, retail, kartu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489204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4892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terpadu untuk unit usaha kampus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SDM, Kinerja &amp; Pengembangan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SDM &amp; Kepegawaian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 dosen/tendik, data kepegawaian — terhubung Yayasan.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674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3367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85032" y="221284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Penggajian terintegrasi SDM &amp; pembayaran Yayasan (Standing Instruction).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1403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Kinerja (SKP &amp; KPI)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221284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kinerja dosen/pegawai terhubung Key Performance Indicator.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81160" y="15544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2746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42746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9439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Angket &amp; Survey (EDOM)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45752" y="221284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dosen (EDOM), survey sarpras, layanan &amp; fasilitas.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B8860B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5331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Kursus &amp; Pelatihan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95020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kursus subscribe internal kampus (referensi: Udemy).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20440" y="329184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6674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66674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3367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Prestasi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85032" y="395020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Prestasi dosen/mahasiswa/tendik, hak cipta, organisasi, sertifikat.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329184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4710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11D48"/>
          </a:solidFill>
          <a:ln/>
        </p:spPr>
      </p:sp>
      <p:sp>
        <p:nvSpPr>
          <p:cNvPr id="36" name="Text 34"/>
          <p:cNvSpPr/>
          <p:nvPr/>
        </p:nvSpPr>
        <p:spPr>
          <a:xfrm>
            <a:off x="654710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1403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Kedisiplinan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65392" y="395020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Kedisiplinan dosen/mahasiswa/tendik termasuk punishment.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281160" y="329184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42746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942746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9439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Pengaduan Terpadu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445752" y="395020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E-ticketing + tindak lanjut, progress &amp; dasbor.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Penelitian, Mutu, Akreditasi &amp; Dokumen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Penelitian &amp; PPM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Penelitian, pengabdian, jurnal, karya ilmiah, termasuk BKD.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674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3367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Institusi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85032" y="221284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mandiri (referensi DSpace/EPrints), sinkron otomatis.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1403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Perpustakaan &amp; eLibrary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221284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Sirkulasi, katalog, barcoding, baca online — terhubung repository.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81160" y="15544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2746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942746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9439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Dokumen (DMS)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45752" y="221284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penting kampus termasuk dokumen akreditasi.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5331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Akreditasi (Multi-LAM)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95020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BAN-PT, LAMEMBA, LAM-INFOKOM, LAMDIK, LAM Teknik, LAMSAMA, LAMKes.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20440" y="329184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6674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366674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3367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SPMI &amp; AMI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85032" y="395020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Penjaminan Mutu Internal + Dasbor Audit Mutu Internal &amp; pengajuan audit.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329184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4710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654710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1403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Satuan Pengawasan Internal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65392" y="395020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terintegrasi dengan Yayasan.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281160" y="329184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42746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942746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9439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&amp; Workflow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445752" y="3950208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proses custom mendukung seluruh modul pengajuan.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Layanan, Persuratan &amp; Fasilitas Kampus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Persuratan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izin penelitian, keterangan lulus, dll — via anjungan informasi.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62272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5504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Pengajuan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Cuti, izin, penundaan bayar, perpanjangan studi (mahasiswa &amp; dosen).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84464" y="155448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97696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Kelulusan &amp; Wisuda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9056" y="221284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Seleksi &amp; pengajuan daftar wisuda mahasiswa.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53312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Alumni &amp; Tracer Study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study + kuesioner alumni &amp; atasan alumni.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2272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75504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Notifikasi WhatsApp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26864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WA resmi, template pesan, otomasi pemicu &amp; log kirim.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84464" y="32918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0768" y="34381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97696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Anjungan &amp; Kunjungan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49056" y="395020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 layanan mandiri, kunjungan pustaka &amp; buku tamu.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11D48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53312" y="5166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Antar Jemput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4672" y="568756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antar jemput mahasiswa, dosen &amp; tendik.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62272" y="502920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08576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E3A8A"/>
          </a:solidFill>
          <a:ln/>
        </p:spPr>
      </p:sp>
      <p:sp>
        <p:nvSpPr>
          <p:cNvPr id="41" name="Text 39"/>
          <p:cNvSpPr/>
          <p:nvPr/>
        </p:nvSpPr>
        <p:spPr>
          <a:xfrm>
            <a:off x="4608576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75504" y="5166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eMedic &amp; SIRS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26864" y="5687568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klinik/RS: RME, klaim BPJS/JKN, SATUSEHAT &amp; pelaporan RL 1–5.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Notifikasi WhatsApp &amp; Multi-Kanal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7784" y="1517904"/>
            <a:ext cx="6199632" cy="4692004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notifik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035040" cy="4527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291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mockup: komposer broadcast, template resmi &amp; log pengiriman.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49440" y="1746504"/>
            <a:ext cx="256032" cy="256032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8" name="Text 5"/>
          <p:cNvSpPr/>
          <p:nvPr/>
        </p:nvSpPr>
        <p:spPr>
          <a:xfrm>
            <a:off x="7370064" y="16459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 resmi WhatsApp Business API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70064" y="20116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massal ke mahasiswa, orang tua, dosen, dan pendaftar dari akun terverifikasi.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2715768"/>
            <a:ext cx="256032" cy="256032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1" name="Text 8"/>
          <p:cNvSpPr/>
          <p:nvPr/>
        </p:nvSpPr>
        <p:spPr>
          <a:xfrm>
            <a:off x="7370064" y="26151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pesan tersertifikasi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70064" y="298094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disetujui Meta dengan variabel dinamis: nama, NIM, nominal, jatuh tempo.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3685032"/>
            <a:ext cx="256032" cy="256032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4" name="Text 11"/>
          <p:cNvSpPr/>
          <p:nvPr/>
        </p:nvSpPr>
        <p:spPr>
          <a:xfrm>
            <a:off x="7370064" y="35844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Otomasi pemicu tanpa operator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370064" y="395020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Tagihan jatuh tempo, kehadiran di bawah batas, dan status PMB terkirim otomatis.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0" y="4654296"/>
            <a:ext cx="256032" cy="256032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7" name="Text 14"/>
          <p:cNvSpPr/>
          <p:nvPr/>
        </p:nvSpPr>
        <p:spPr>
          <a:xfrm>
            <a:off x="7370064" y="45537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kirim &amp; status baca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370064" y="491947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Terkirim, dibaca, atau gagal — terekam lengkap untuk audit dan tindak lanjut.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49440" y="5623560"/>
            <a:ext cx="256032" cy="256032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20" name="Text 17"/>
          <p:cNvSpPr/>
          <p:nvPr/>
        </p:nvSpPr>
        <p:spPr>
          <a:xfrm>
            <a:off x="7370064" y="55229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tempat, banyak kanal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370064" y="588873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email, SMS, dan notifikasi aplikasi mobile dikelola terpusat.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SOROTAN KAPABILITAS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Multi-Portal Pengguna &amp; Kurikulum Ganda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7784" y="1517904"/>
            <a:ext cx="6199632" cy="4692004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035040" cy="4527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291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portal peran dan dua kurikulum berjalan paralel dalam satu sistem.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49440" y="1746504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8" name="Text 5"/>
          <p:cNvSpPr/>
          <p:nvPr/>
        </p:nvSpPr>
        <p:spPr>
          <a:xfrm>
            <a:off x="7370064" y="16459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sistem, enam portal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70064" y="20116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Pimpinan, dosen, mahasiswa, tendik, orang tua/wali, serta alumni &amp; mitra.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2715768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1" name="Text 8"/>
          <p:cNvSpPr/>
          <p:nvPr/>
        </p:nvSpPr>
        <p:spPr>
          <a:xfrm>
            <a:off x="7370064" y="26151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mengikuti peran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70064" y="298094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akses dan menu tampil otomatis sesuai peran — tanpa aplikasi terpisah.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3685032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4" name="Text 11"/>
          <p:cNvSpPr/>
          <p:nvPr/>
        </p:nvSpPr>
        <p:spPr>
          <a:xfrm>
            <a:off x="7370064" y="35844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Orang Tua / Wali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370064" y="395020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 memantau nilai, kehadiran, dan tagihan anak secara transparan.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0" y="4654296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7" name="Text 14"/>
          <p:cNvSpPr/>
          <p:nvPr/>
        </p:nvSpPr>
        <p:spPr>
          <a:xfrm>
            <a:off x="7370064" y="45537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kurikulum paralel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370064" y="491947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K-2020 untuk angkatan 2021–2023 dan K-2024 OBE/MBKM untuk angkatan 2024+.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49440" y="5623560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7"/>
          <p:cNvSpPr/>
          <p:nvPr/>
        </p:nvSpPr>
        <p:spPr>
          <a:xfrm>
            <a:off x="7370064" y="55229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Ekivalensi lintas kurikulum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370064" y="588873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mata kuliah terpetakan otomatis bagi mahasiswa yang mengulang.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286000"/>
            <a:ext cx="5486400" cy="54864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KECERDASAN BUATAN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yang menyatu di dalam modul — bukan aplikasi terpisah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57784" y="1655064"/>
            <a:ext cx="6108192" cy="4623407"/>
          </a:xfrm>
          <a:prstGeom prst="roundRect">
            <a:avLst>
              <a:gd name="adj" fmla="val 1384"/>
            </a:avLst>
          </a:prstGeom>
          <a:solidFill>
            <a:srgbClr val="0B1020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6" name="Image 0" descr="shots/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943600" cy="44588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825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Asisten AI — empat pilar, mesin AI, dan log tinjauan.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9440" y="1828800"/>
            <a:ext cx="237744" cy="23774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7333488" y="172821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Generate Kurikulum OBE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33488" y="203911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CPL, CPMK, Sub-CPMK &amp; bobot, deskripsi, bahan kajian, pustaka, rubrik, sampai RPS 16 pertemuan.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49440" y="2615184"/>
            <a:ext cx="237744" cy="23774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7333488" y="25146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Soal &amp; Koreksi Ujian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33488" y="2825496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soal PG/esai berkonteks OBE dan anti-duplikat; koreksi esai otomatis berikut skor &amp; umpan balik.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49440" y="3401568"/>
            <a:ext cx="237744" cy="23774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2"/>
          <p:cNvSpPr/>
          <p:nvPr/>
        </p:nvSpPr>
        <p:spPr>
          <a:xfrm>
            <a:off x="7333488" y="33009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Generate Catatan &amp; Dokumen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33488" y="361188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Generate AI melekat di setiap kolom catatan — notulen, deskripsi, laporan, draf surat.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49440" y="4187952"/>
            <a:ext cx="237744" cy="23774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5"/>
          <p:cNvSpPr/>
          <p:nvPr/>
        </p:nvSpPr>
        <p:spPr>
          <a:xfrm>
            <a:off x="7333488" y="40873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Analisis &amp; Rekomendasi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33488" y="4398264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data lintas modul lalu menyusun masalah, analisis akar, dan rencana tindak lanjut (CQI).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49440" y="4974336"/>
            <a:ext cx="237744" cy="237744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21" name="Text 18"/>
          <p:cNvSpPr/>
          <p:nvPr/>
        </p:nvSpPr>
        <p:spPr>
          <a:xfrm>
            <a:off x="7333488" y="48737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tetap di kampus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33488" y="518464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berjalan on-premise; opsi cloud tersedia dan dapat dialihkan lewat konfigurasi.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49440" y="5760720"/>
            <a:ext cx="237744" cy="237744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24" name="Text 21"/>
          <p:cNvSpPr/>
          <p:nvPr/>
        </p:nvSpPr>
        <p:spPr>
          <a:xfrm>
            <a:off x="7333488" y="56601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Selalu berstatus usulan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33488" y="597103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keluaran AI wajib ditinjau dan disetujui dosen atau pejabat berwenang sebelum tersimpan.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 PENGGUNA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Inilah wujud sistemnya — modern &amp; responsif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9293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modern &amp; konsisten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70432" y="23500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 identitas visual TBU.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3035808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9535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Responsif penuh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70432" y="33741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Ponsel hingga desktop; sidebar off-canvas.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059936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Dasbor kaya data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70432" y="43982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Grafik, statistik &amp; aktivitas real-time.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5084064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5001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Multi-portal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70432" y="5422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Pimpinan, dosen, mahasiswa &amp; tendik.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92624" y="1700784"/>
            <a:ext cx="6656832" cy="3979069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8" name="Image 0" descr="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783080"/>
            <a:ext cx="6492240" cy="381447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74920" y="5806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 Pimpinan — tangkapan layar aktual mockup sistem TBU.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SISTEM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antarmuka modul &amp; cakupan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7784" y="1517904"/>
            <a:ext cx="5696712" cy="4244327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p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532120" cy="40797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9436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 PMB / RPL — gelombang, funnel seleksi &amp; kanal pembayaran.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55664" y="1517904"/>
            <a:ext cx="5193792" cy="3936492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8" name="Image 1" descr="shots/modul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00200"/>
            <a:ext cx="5029200" cy="377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960" y="5532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53 modul terintegrasi dalam satu sistem.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669280" cy="56692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MULTI-PERANGKAT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Mobile — Android, iOS &amp; web responsif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0664" y="1655064"/>
            <a:ext cx="3867912" cy="4992910"/>
          </a:xfrm>
          <a:prstGeom prst="roundRect">
            <a:avLst>
              <a:gd name="adj" fmla="val 1655"/>
            </a:avLst>
          </a:prstGeom>
          <a:solidFill>
            <a:srgbClr val="0B1020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6" name="Image 0" descr="shot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703320" cy="48283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201168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5788152" y="19293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Android &amp; iOS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788152" y="23134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native dari Google Play &amp; App Store.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49240" y="288036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8"/>
          <p:cNvSpPr/>
          <p:nvPr/>
        </p:nvSpPr>
        <p:spPr>
          <a:xfrm>
            <a:off x="5788152" y="27980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responsif otomatis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788152" y="31821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Dibuka via browser ponsel, tampilan menyesuaikan khusus mobile.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49240" y="374904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1"/>
          <p:cNvSpPr/>
          <p:nvPr/>
        </p:nvSpPr>
        <p:spPr>
          <a:xfrm>
            <a:off x="5788152" y="366674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Akses cepat &amp; notifikasi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788152" y="40507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 ringkas, akses cepat modul, dan notifikasi push.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349240" y="461772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7" name="Text 14"/>
          <p:cNvSpPr/>
          <p:nvPr/>
        </p:nvSpPr>
        <p:spPr>
          <a:xfrm>
            <a:off x="5788152" y="453542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lapangan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788152" y="49194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Absensi QR/GPS, pembayaran, persuratan, dan pengajuan dari genggaman.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349240" y="548640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7"/>
          <p:cNvSpPr/>
          <p:nvPr/>
        </p:nvSpPr>
        <p:spPr>
          <a:xfrm>
            <a:off x="5788152" y="540410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akun, satu data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788152" y="57881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sama persis dengan versi desktop, real-time.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TAMPILAN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Akademik, Pembelajaran &amp; Kehadiran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6344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akadem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606040" cy="19550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Akademik &amp; KRS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82696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8" name="Image 1" descr="shots/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45920"/>
            <a:ext cx="2606040" cy="19550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Kurikulum OBE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48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1" name="Image 2" descr="shots/l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45920"/>
            <a:ext cx="2606040" cy="19550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5624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/ LMS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15400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4" name="Image 3" descr="shots/jadw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645920"/>
            <a:ext cx="2606040" cy="19550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51976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Penjadwalan (drag &amp; drop)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66344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7" name="Image 4" descr="shots/kehadir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2606040" cy="19550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Kehadiran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282696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0" name="Image 5" descr="shots/bimbing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4206240"/>
            <a:ext cx="2606040" cy="195501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19272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&amp; Sidang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6099048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3" name="Image 6" descr="shots/wisud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4206240"/>
            <a:ext cx="2606040" cy="195501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35624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Kelulusan &amp; Wisuda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8915400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6" name="Image 7" descr="shots/alumn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7696" y="4206240"/>
            <a:ext cx="2606040" cy="195501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951976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&amp; Tracer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TAMPILAN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Keuangan, SDM, Mutu &amp; Layanan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6344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keuan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606040" cy="19550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&amp; Tagihan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82696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8" name="Image 1" descr="shots/e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45920"/>
            <a:ext cx="2606040" cy="19550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e-Wallet, POS &amp; Koperasi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48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1" name="Image 2" descr="shots/sd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45920"/>
            <a:ext cx="2606040" cy="19550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5624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 &amp; Kepegawaian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15400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4" name="Image 3" descr="shots/perpustaka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645920"/>
            <a:ext cx="2606040" cy="19550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51976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Perpustakaan &amp; eLibrary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66344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7" name="Image 4" descr="shots/persurat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2606040" cy="19550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Persuratan &amp; SOP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282696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0" name="Image 5" descr="shots/spm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4206240"/>
            <a:ext cx="2606040" cy="195501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19272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SPMI &amp; Audit Mutu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TAMPILAN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Setup, Data Master &amp; Integrasi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6344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606040" cy="19550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Utility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82696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8" name="Image 1" descr="shots/master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45920"/>
            <a:ext cx="2606040" cy="19550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Pendataan / Master Data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48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1" name="Image 2" descr="shots/neofee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45920"/>
            <a:ext cx="2606040" cy="19550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5624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Neo Feeder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15400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4" name="Image 3" descr="shots/si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645920"/>
            <a:ext cx="2606040" cy="19550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51976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SISTER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66344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7" name="Image 4" descr="shots/akuntans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2606040" cy="19550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Akuntansi Yayasan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282696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0" name="Image 5" descr="shots/anggar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4206240"/>
            <a:ext cx="2606040" cy="195501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19272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Anggaran &amp; Realisasi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6099048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3" name="Image 6" descr="shots/pengada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4206240"/>
            <a:ext cx="2606040" cy="195501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35624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&amp; Logistik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8915400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6" name="Image 7" descr="shots/dp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7696" y="4206240"/>
            <a:ext cx="2606040" cy="195501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951976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Vendor (DPC)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TAMPILAN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SDM, Riset, Mutu &amp; Layanan Lanjutan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6344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pay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606040" cy="19550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82696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8" name="Image 1" descr="shots/kinerj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45920"/>
            <a:ext cx="2606040" cy="19550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 (SKP &amp; KPI)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48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1" name="Image 2" descr="shots/e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45920"/>
            <a:ext cx="2606040" cy="19550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5624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Angket &amp; EDOM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15400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4" name="Image 3" descr="shots/pp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645920"/>
            <a:ext cx="2606040" cy="19550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51976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 &amp; PPM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66344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7" name="Image 4" descr="shots/reposit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2606040" cy="19550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Institusi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282696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0" name="Image 5" descr="shots/akreditas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4206240"/>
            <a:ext cx="2606040" cy="195501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19272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Akreditasi (Multi-LAM)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6099048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3" name="Image 6" descr="shots/pengadu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4206240"/>
            <a:ext cx="2606040" cy="195501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35624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Terpadu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8915400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6" name="Image 7" descr="shots/anjung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7696" y="4206240"/>
            <a:ext cx="2606040" cy="195501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951976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Anjungan &amp; Layanan Mandiri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TAMPILAN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Pengujian, Penilaian &amp; Pengembangan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6344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sid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606040" cy="19550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&amp; Sidang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82696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8" name="Image 1" descr="shots/penila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45920"/>
            <a:ext cx="2606040" cy="19550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 Terintegrasi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48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1" name="Image 2" descr="shots/sertifik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45920"/>
            <a:ext cx="2606040" cy="19550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5624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&amp; Pelatihan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15400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4" name="Image 3" descr="shots/kurs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645920"/>
            <a:ext cx="2606040" cy="19550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51976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Kursus Internal (Udemy-like)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66344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7" name="Image 4" descr="shots/prestas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2606040" cy="19550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Prestasi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TAMPILAN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Kelola &amp; Fasilitas Kesehatan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6344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kedisipli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606040" cy="19550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Kedisiplinan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82696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8" name="Image 1" descr="shots/d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45920"/>
            <a:ext cx="2606040" cy="19550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Dokumen (DMS)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48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1" name="Image 2" descr="shots/s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45920"/>
            <a:ext cx="2606040" cy="19550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5624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 Pengawasan Internal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15400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4" name="Image 3" descr="shots/klini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645920"/>
            <a:ext cx="2606040" cy="19550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51976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Klinik / Rumah Sakit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TAMPILAN MODUL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Notifikasi, Kemahasiswaan, Usaha &amp; Kesehatan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6344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5" name="Image 0" descr="shots/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606040" cy="19550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 AI Terintegrasi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82696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8" name="Image 1" descr="shots/notifikas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45920"/>
            <a:ext cx="2606040" cy="19550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WhatsApp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48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1" name="Image 2" descr="shots/pk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45920"/>
            <a:ext cx="2606040" cy="19550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5624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PKL, KKN &amp; Magang MBKM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15400" y="156362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4" name="Image 3" descr="shots/beasisw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645920"/>
            <a:ext cx="2606040" cy="19550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51976" y="371066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Beasiswa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66344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17" name="Image 4" descr="shots/por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2606040" cy="19550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Multi-Portal &amp; Kurikulum Ganda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282696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0" name="Image 5" descr="shots/po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4206240"/>
            <a:ext cx="2606040" cy="195501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19272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&amp; Perangkat Kasir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6099048" y="4123944"/>
            <a:ext cx="2770632" cy="211961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165100" dist="50800" dir="5400000">
              <a:srgbClr val="334155">
                <a:alpha val="35000"/>
              </a:srgbClr>
            </a:outerShdw>
          </a:effectLst>
        </p:spPr>
      </p:sp>
      <p:pic>
        <p:nvPicPr>
          <p:cNvPr id="23" name="Image 6" descr="shots/si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4206240"/>
            <a:ext cx="2606040" cy="195501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35624" y="6270987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eMedic &amp; SIRS (BPJS)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IMPLEMENTASI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bertahap 2 tahun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4297680"/>
          </a:xfrm>
          <a:prstGeom prst="roundRect">
            <a:avLst>
              <a:gd name="adj" fmla="val 321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TAHUN 1 · SEM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Fondasi, Pendapatan &amp; Kepatuhan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Master Data, SDM, PMB/RPL, Keuangan, Akademik inti, Neo Feeder &amp; SISTER.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394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Urgen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560320" cy="4297680"/>
          </a:xfrm>
          <a:prstGeom prst="roundRect">
            <a:avLst>
              <a:gd name="adj" fmla="val 321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5544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TAHUN 1 · SEM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Operasional Pembelajaran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3200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Kehadiran, LMS &amp; Penilaian, Persuratan/Pengajuan, Dasbor Pimpinan, Perpustakaan, e-Wallet/POS.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1880" y="53949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5394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560320" cy="4297680"/>
          </a:xfrm>
          <a:prstGeom prst="roundRect">
            <a:avLst>
              <a:gd name="adj" fmla="val 321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5544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TAHUN 2 · SEM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Mutu, Kinerja &amp; Riset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3200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&amp; Sidang, Wisuda &amp; Alumni, Kinerja/EDOM/BKD, Penelitian &amp; PPM.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53949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5394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06840" y="1554480"/>
            <a:ext cx="2560320" cy="4297680"/>
          </a:xfrm>
          <a:prstGeom prst="roundRect">
            <a:avLst>
              <a:gd name="adj" fmla="val 321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06840" y="15544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B8860B"/>
          </a:solidFill>
          <a:ln/>
        </p:spPr>
      </p:sp>
      <p:sp>
        <p:nvSpPr>
          <p:cNvPr id="27" name="Text 25"/>
          <p:cNvSpPr/>
          <p:nvPr/>
        </p:nvSpPr>
        <p:spPr>
          <a:xfrm>
            <a:off x="918972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TAHUN 2 · SEM 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89720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Integrasi Pusat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89720" y="3200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SPMI/AMI, Akreditasi, Payroll &amp; Akuntansi Yayasan, Pengadaan/DPC, Fasilitas.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89720" y="53949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31" name="Text 29"/>
          <p:cNvSpPr/>
          <p:nvPr/>
        </p:nvSpPr>
        <p:spPr>
          <a:xfrm>
            <a:off x="9189720" y="5394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Lanjutan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PERTAMA — SEMESTER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 paling urgen (fondasi → pendapatan → kepatuhan)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3677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5819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Utility + Master Data + Hak Akses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86600" y="1581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 seluruh modul — tanpa ini tidak ada yang bisa berjalan.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195560" y="16916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1019556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Urgen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6771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3957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34086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SDM &amp; Kepegawaian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2340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dosen/tendik untuk akademik &amp; payroll.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195560" y="2450592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10195560" y="24505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Urgen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02666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154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09981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PMB / RPL + Integrasi Payment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0998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Terikat siklus penerimaan &amp; sumber pendapatan utama.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95560" y="320954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10195560" y="32095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Urgen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8561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39136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38587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Keuangan Mahasiswa (Tagihan/Bayar)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86600" y="3858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kas kampus, multi-channel payment.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195560" y="3968496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5560" y="39684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544568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46725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672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1600" y="4617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Akademik Inti: Kurikulum (OBE/non-OBE), Penjadwalan, KRS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8660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perkuliahan semester berjalan.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195560" y="47274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10195560" y="47274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30352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77240" y="54315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5431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371600" y="53766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Neo Feeder + SISTER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86600" y="5376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 pelaporan nasional (deadline-driven).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195560" y="54864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1019556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PERTAMA — SEMESTER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Mengoperasikan pembelajaran &amp; layanan harian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73936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773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7556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Kehadiran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28800" y="2267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Dosen, mahasiswa &amp; tendik; terhubung jadwal &amp; nilai.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7376" y="1773936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6437376" y="1773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06640" y="17556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 + Penilaian Terintegrasi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06640" y="2267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Tugas, ujian CBT, materi, absensi online — nilai otomatis.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3236976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2369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32186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Persuratan + Pengajuan (SOP/Workflow) + Anjungan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28800" y="3730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surat &amp; persetujuan alur fleksibel.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7376" y="3236976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32369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06640" y="32186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Dasbor Pimpinan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0" y="3730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Konsolidasi seluruh aktivitas kampus real-time.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4700016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" y="47000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828800" y="4681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Perpustakaan + Repository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828800" y="51937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Sirkulasi, eLibrary, repository institusi.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4805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37376" y="4700016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437376" y="47000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406640" y="4681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e-Wallet / POS / Koperasi / Kantin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406640" y="51937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usaha kampus &amp; pembayaran terpadu.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KEDUA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Mutu, kinerja, riset &amp; integrasi penuh Yayasan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80360" y="1920240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&amp; Sidang · Wisuda &amp; Alumni/Tracer · Kinerja (SKP/KPI) · EDOM &amp; Angket · BKD · Penelitian &amp; PPM + Jurnal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40233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80360" y="4069080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SPMI &amp; AMI · Akreditasi Multi-LAM · DMS · Payroll + Akuntansi Yayasan · Pengadaan &amp; DPC (integrasi pusat) · Prestasi, Kedisiplinan, Pengaduan · Sertifikat &amp; Kursus · Fasilitas (Antar Jemput, Tamu, Klinik/RS)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tahun kedua umumnya bersifat lanjutan/derivatif dan memerlukan koordinasi lintas unit serta pusat Yayasan.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PRIORITAS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penentuan urutan implementasi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739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44752" y="1792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 (Prasyarat)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Master Data, SDM, Hak Akses — wajib pertama.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303580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0358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Tinggi · Wajib Awal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17136" y="17739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02352" y="1792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Pendapatan &amp; Terikat Waktu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35424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PMB/RPL, Keuangan, Payment — sumber kas &amp; siklus.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35424" y="303580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535424" y="30358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Tinggi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15544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74736" y="17739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8174736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59952" y="1792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Kepatuhan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93024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Feeder, SISTER, (Akreditasi) — deadline eksternal.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93024" y="303580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8193024" y="30358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Regulasi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3922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44752" y="39410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Operasional Akademik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77824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Kurikulum, Jadwal, KRS, Kehadiran, LMS.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7824" y="518464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877824" y="5184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Harian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37033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17136" y="3922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34" name="Text 32"/>
          <p:cNvSpPr/>
          <p:nvPr/>
        </p:nvSpPr>
        <p:spPr>
          <a:xfrm>
            <a:off x="4517136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02352" y="39410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Mutu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35424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SPMI/AMI, Kinerja, SPI, Audit.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35424" y="518464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38" name="Text 36"/>
          <p:cNvSpPr/>
          <p:nvPr/>
        </p:nvSpPr>
        <p:spPr>
          <a:xfrm>
            <a:off x="4535424" y="5184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55280" y="37033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74736" y="3922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/>
        </p:spPr>
      </p:sp>
      <p:sp>
        <p:nvSpPr>
          <p:cNvPr id="41" name="Text 39"/>
          <p:cNvSpPr/>
          <p:nvPr/>
        </p:nvSpPr>
        <p:spPr>
          <a:xfrm>
            <a:off x="8174736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59952" y="39410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Lanjutan &amp; Integrasi Pusat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193024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Payroll/Akuntansi Yayasan, Fasilitas, dsb.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93024" y="518464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45" name="Text 43"/>
          <p:cNvSpPr/>
          <p:nvPr/>
        </p:nvSpPr>
        <p:spPr>
          <a:xfrm>
            <a:off x="8193024" y="5184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Bertahap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 yang dirasakan TBU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1051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52" dirty="0"/>
          </a:p>
        </p:txBody>
      </p:sp>
      <p:sp>
        <p:nvSpPr>
          <p:cNvPr id="7" name="Text 5"/>
          <p:cNvSpPr/>
          <p:nvPr/>
        </p:nvSpPr>
        <p:spPr>
          <a:xfrm>
            <a:off x="1600200" y="18653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Efisiensi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manual berkurang drastis; layanan lebih cepat &amp; akurat.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181051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52" dirty="0"/>
          </a:p>
        </p:txBody>
      </p:sp>
      <p:sp>
        <p:nvSpPr>
          <p:cNvPr id="12" name="Text 10"/>
          <p:cNvSpPr/>
          <p:nvPr/>
        </p:nvSpPr>
        <p:spPr>
          <a:xfrm>
            <a:off x="5257800" y="18653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35424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real-time satu layar untuk pimpinan &amp; Yayasan.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181051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52" dirty="0"/>
          </a:p>
        </p:txBody>
      </p:sp>
      <p:sp>
        <p:nvSpPr>
          <p:cNvPr id="17" name="Text 15"/>
          <p:cNvSpPr/>
          <p:nvPr/>
        </p:nvSpPr>
        <p:spPr>
          <a:xfrm>
            <a:off x="8915400" y="18653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Kepatuhan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93024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Neo Feeder/SISTER &amp; akreditasi lebih ringan.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377647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7764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52" dirty="0"/>
          </a:p>
        </p:txBody>
      </p:sp>
      <p:sp>
        <p:nvSpPr>
          <p:cNvPr id="22" name="Text 20"/>
          <p:cNvSpPr/>
          <p:nvPr/>
        </p:nvSpPr>
        <p:spPr>
          <a:xfrm>
            <a:off x="1600200" y="38313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Pendapatan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Penerimaan &amp; pembayaran termonitor, tunggakan menurun.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52044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17136" y="377647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37764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452" dirty="0"/>
          </a:p>
        </p:txBody>
      </p:sp>
      <p:sp>
        <p:nvSpPr>
          <p:cNvPr id="27" name="Text 25"/>
          <p:cNvSpPr/>
          <p:nvPr/>
        </p:nvSpPr>
        <p:spPr>
          <a:xfrm>
            <a:off x="5257800" y="38313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Pengalaman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35424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modern &amp; responsif untuk semua sivitas.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52044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9B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377647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7764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52" dirty="0"/>
          </a:p>
        </p:txBody>
      </p:sp>
      <p:sp>
        <p:nvSpPr>
          <p:cNvPr id="32" name="Text 30"/>
          <p:cNvSpPr/>
          <p:nvPr/>
        </p:nvSpPr>
        <p:spPr>
          <a:xfrm>
            <a:off x="8915400" y="38313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Skalabilitas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93024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tumbuh: fakultas baru hingga SIM Klinik/RS.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22307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777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 wujudkan transformasi digital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Taruna Bakti University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platform terintegrasi · 53 modul · implementasi bertahap 2 tahun yang terukur dan berprioritas.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512064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1206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512064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51206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berdiskusi lebih lanjut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Sistem Informasi Terpadu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Tim Solusi eCampus</dc:creator>
  <cp:lastModifiedBy>Tim Solusi eCampus</cp:lastModifiedBy>
  <cp:revision>1</cp:revision>
  <dcterms:created xsi:type="dcterms:W3CDTF">2026-07-20T20:33:08Z</dcterms:created>
  <dcterms:modified xsi:type="dcterms:W3CDTF">2026-07-20T20:33:08Z</dcterms:modified>
</cp:coreProperties>
</file>